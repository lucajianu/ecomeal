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We are presenting EcoMeal, our university software project: a web application that fights food waste. Every evening, restaurants, bakeries and grocery stores are left with food that is still perfectly safe to eat but can no longer be sold tomorrow. EcoMeal lets these businesses publish discounted surplus packages with a pickup window, and lets customers discover them. Today we will briefly cover the technologies, then walk through the application itself with live screenshots — including how an administrator's experience differs from a regular user's.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food businesses cannot predict demand exactly, so safe, edible food is discarded every evening — the business loses the money it invested, and good food becomes waste. EcoMeal's answer is a marketplace connecting the two sides: businesses publish discounted packages from their surplus with a pickup interval before closing, and customers nearby discover and collect them. Everyone wins: less waste, cheaper food, recovered revenue.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look at the stack before the demo. The frontend is Blazor with Interactive Server rendering — the interface logic runs in C# on the server, built from reusable Razor components with built-in form validation. The backend is a separate ASP.NET Core Web API exposing REST endpoints and exchanging DTOs as JSON. Persistence is Entity Framework Core over SQL Server, code-first with migrations. And authentication is ASP.NET Core Identity: registration, token-based login, and two roles — Admin and User — enforced on the API. Everything is C#, which kept the team fast in a single ecosystem.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is two independent applications. The browser talks to the Blazor client; Razor components delegate all HTTP communication to service classes — BusinessService, PackageService and AuthService — which call the Web API with JSON and a Bearer access token attached automatically. On the server, controllers validate input, Identity handles who you are and what you may do, DTOs keep the contract stable, and EF Core maps entities to SQL Server. Each layer has exactly one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home page as any visitor sees it — no account required to browse. The dark-green top bar carries the brand, the search box and the account icon. Businesses arrive from the API as JSON and render as colour-coded cards, one Razor component per card. The chips underneath filter by business type with a single click, and everything reacts instantly because the filtering happens in C# on the already-loaded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Search lives in the navigation bar itself. The input writes into a small shared state service; the business list subscribes to its change event and re-filters on every keystroke. Typing the letter K instantly narrows ten places down to the two whose names match — case-insensitively — and the search combines freely with the type chips. Typing from any other page automatically brings you back to the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Creating an account takes one card: email, password with confirmation, name and contact. Data annotations validate the fields before anything leaves the browser; on submit, the form posts JSON to our register endpoint, where ASP.NET Core Identity enforces the password policy, stores only a hash — never the password itself — creates the user, and assigns the default User role. Any server-side errors, like a duplicate email, come back and are shown above the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Login goes through Identity's built-in endpoint, which returns an access token. We keep that token in ProtectedLocalStorage — encrypted browser storage — and a delegating handler attaches it as a Bearer header to every subsequent API request, so no other code ever thinks about authentication. A custom AuthenticationStateProvider notifies the interface, so the navbar switches to the logged-in state immediately, without a reload.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Clicking the user icon in the navbar brings you here — or to the login page if you are signed out. The page calls a protected endpoint, /api/auth/me, which only answers when a valid token is attached, and returns the profile plus roles. On the left, a regular registered user with the User badge; on the right, the administrator account with the Admin badge. The Logout button deletes the token from browser storage and returns the interface to its anonymous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same home page seen by two different accounts. On top, the administrator: the account icon becomes a user-with-a-tie, and an extra button appears for adding a business. Below, a regular logged-in user: plain icon, no management buttons anywhere. This is done with AuthorizeView components that render content only for a given role — but the interface is just the polite layer. The real enforcement is on the API, where create, edit and delete endpoints require the Admin role and answer 401 or 403 otherwise.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admin, adding a business is one validated form: name, address, contact, description, and a type selected from a dropdown that is itself loaded from the API. The same Razor component doubles as the edit form. On submit, the JSON goes to POST /api/business — an admin-only endpoint that additionally verifies the business type ID exists before saving through EF Core, returning 400 for an unknown type. Right after saving, the new business — here our “Cantina” — shows up in the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Management stays out of the way until you need it: hovering a card as admin reveals two round buttons — a pencil to edit and a bin to delete, with tooltips naming the exact business. Edit opens the same form pre-filled with current data and saves through a PUT returning 204 No Content; delete calls the DELETE endpoint. Regular users never see these buttons, and even a crafted request without an admin token is rejected by the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Clicking a card opens the business page. A single API call returns the business together with its packages — entity relations projected into one DTO. The dark-green hero shows the profile; below it, the package table lists each offer with its type, price and, highlighted in orange, the pickup window in which the customer must collect it. Because we are logged in as admin here, the add, edit and delete controls are visible; a regular user sees a clean read-only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Publishing a surplus package: name, description, the discounted price, and — the heart of EcoMeal — the pickup window with a start and end time, plus a package type loaded from the API. Validation guards the required fields; submit posts to the admin-only packages endpoint, EF Core saves the entity with 201 Created, and the interface navigates back to the business page, where GoodFood now appears in the table with its orange pickup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 the hood: a BusinessType classifies many Businesses, a Business publishes many Packages, a PackageType classifies many Packages. The User entity extends IdentityUser, carrying the hashed password and account data alongside our Name and Contact fields — accounts are fully live. The Order entity, outlined dark, is the one part that is modelled but has no UI yet: it links a user to a package with a placement time and a five-state status lifecycle, ready for the future reservation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be clear about scope: everything on this slide is planned, not implemented. With registration, login and roles in place, the next milestone is the ordering workflow — the Order table and its status lifecycle already exist in the model, and quantity tracking can build on the package quantity field. Beyond that: payments, maps and geolocation, notifications, ratings, image upload, plus the engineering work — stronger validation, error handling, automated tests, deployment — and finally impact analytics: meals saved, waste prevented.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EcoMeal takes a problem every food business knows — good food left over at closing time — and turns it into an opportunity. What you saw today is a working full-stack application: browsing, searching and filtering for everyone; registration and token-based login; a personal account page; and complete business and package management reserved for administrators, enforced both in the interface and on the API. The architecture and data model are ready for what comes next: reservations and the full order lifecycle. EcoMeal transforms end-of-day surplus into an opportunity rather than waste. Thank you —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slideLayout" Target="../slideLayouts/slideLayout1.xml"/><Relationship Id="rId10"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slideLayout" Target="../slideLayouts/slideLayout1.xml"/><Relationship Id="rId1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1.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1.xml"/><Relationship Id="rId7"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A2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16000"/>
          </a:blip>
          <a:stretch>
            <a:fillRect/>
          </a:stretch>
        </p:blipFill>
        <p:spPr>
          <a:xfrm>
            <a:off x="6126480" y="822960"/>
            <a:ext cx="3108960" cy="3108960"/>
          </a:xfrm>
          <a:prstGeom prst="rect">
            <a:avLst/>
          </a:prstGeom>
        </p:spPr>
      </p:pic>
      <p:pic>
        <p:nvPicPr>
          <p:cNvPr id="3" name="Image 1" descr="preencoded.png">    </p:cNvPr>
          <p:cNvPicPr>
            <a:picLocks noChangeAspect="1"/>
          </p:cNvPicPr>
          <p:nvPr/>
        </p:nvPicPr>
        <p:blipFill>
          <a:blip r:embed="rId2">
            <a:alphaModFix amt="22000"/>
          </a:blip>
          <a:stretch>
            <a:fillRect/>
          </a:stretch>
        </p:blipFill>
        <p:spPr>
          <a:xfrm>
            <a:off x="7955280" y="3749040"/>
            <a:ext cx="914400" cy="914400"/>
          </a:xfrm>
          <a:prstGeom prst="rect">
            <a:avLst/>
          </a:prstGeom>
        </p:spPr>
      </p:pic>
      <p:sp>
        <p:nvSpPr>
          <p:cNvPr id="4" name="Shape 0"/>
          <p:cNvSpPr/>
          <p:nvPr/>
        </p:nvSpPr>
        <p:spPr>
          <a:xfrm>
            <a:off x="640080" y="640080"/>
            <a:ext cx="2697480" cy="384048"/>
          </a:xfrm>
          <a:prstGeom prst="roundRect">
            <a:avLst>
              <a:gd name="adj" fmla="val 50000"/>
            </a:avLst>
          </a:prstGeom>
          <a:solidFill>
            <a:srgbClr val="224D3B"/>
          </a:solidFill>
          <a:ln/>
        </p:spPr>
      </p:sp>
      <p:pic>
        <p:nvPicPr>
          <p:cNvPr id="5" name="Image 2" descr="preencoded.png">    </p:cNvPr>
          <p:cNvPicPr>
            <a:picLocks noChangeAspect="1"/>
          </p:cNvPicPr>
          <p:nvPr/>
        </p:nvPicPr>
        <p:blipFill>
          <a:blip r:embed="rId3"/>
          <a:stretch>
            <a:fillRect/>
          </a:stretch>
        </p:blipFill>
        <p:spPr>
          <a:xfrm>
            <a:off x="804672" y="740664"/>
            <a:ext cx="182880" cy="182880"/>
          </a:xfrm>
          <a:prstGeom prst="rect">
            <a:avLst/>
          </a:prstGeom>
        </p:spPr>
      </p:pic>
      <p:sp>
        <p:nvSpPr>
          <p:cNvPr id="6" name="Text 1"/>
          <p:cNvSpPr/>
          <p:nvPr/>
        </p:nvSpPr>
        <p:spPr>
          <a:xfrm>
            <a:off x="1042416" y="640080"/>
            <a:ext cx="2286000" cy="384048"/>
          </a:xfrm>
          <a:prstGeom prst="rect">
            <a:avLst/>
          </a:prstGeom>
          <a:noFill/>
          <a:ln/>
        </p:spPr>
        <p:txBody>
          <a:bodyPr wrap="square" lIns="0" tIns="0" rIns="0" bIns="0" rtlCol="0" anchor="ctr"/>
          <a:lstStyle/>
          <a:p>
            <a:pPr indent="0" marL="0">
              <a:buNone/>
            </a:pPr>
            <a:r>
              <a:rPr lang="en-US" sz="950" b="1" spc="150" kern="0" dirty="0">
                <a:solidFill>
                  <a:srgbClr val="BFE3CF"/>
                </a:solidFill>
                <a:latin typeface="Calibri" pitchFamily="34" charset="0"/>
                <a:ea typeface="Calibri" pitchFamily="34" charset="-122"/>
                <a:cs typeface="Calibri" pitchFamily="34" charset="-120"/>
              </a:rPr>
              <a:t>UNIVERSITY SOFTWARE PROJECT</a:t>
            </a:r>
            <a:endParaRPr lang="en-US" sz="950" dirty="0"/>
          </a:p>
        </p:txBody>
      </p:sp>
      <p:sp>
        <p:nvSpPr>
          <p:cNvPr id="7" name="Text 2"/>
          <p:cNvSpPr/>
          <p:nvPr/>
        </p:nvSpPr>
        <p:spPr>
          <a:xfrm>
            <a:off x="640080" y="1417320"/>
            <a:ext cx="6858000" cy="960120"/>
          </a:xfrm>
          <a:prstGeom prst="rect">
            <a:avLst/>
          </a:prstGeom>
          <a:noFill/>
          <a:ln/>
        </p:spPr>
        <p:txBody>
          <a:bodyPr wrap="square" lIns="0" tIns="0" rIns="0" bIns="0" rtlCol="0" anchor="ctr"/>
          <a:lstStyle/>
          <a:p>
            <a:pPr indent="0" marL="0">
              <a:buNone/>
            </a:pPr>
            <a:r>
              <a:rPr lang="en-US" sz="6000" b="1" dirty="0">
                <a:solidFill>
                  <a:srgbClr val="FFFFFF"/>
                </a:solidFill>
                <a:latin typeface="Calibri" pitchFamily="34" charset="0"/>
                <a:ea typeface="Calibri" pitchFamily="34" charset="-122"/>
                <a:cs typeface="Calibri" pitchFamily="34" charset="-120"/>
              </a:rPr>
              <a:t>EcoMeal</a:t>
            </a:r>
            <a:endParaRPr lang="en-US" sz="6000" dirty="0"/>
          </a:p>
        </p:txBody>
      </p:sp>
      <p:sp>
        <p:nvSpPr>
          <p:cNvPr id="8" name="Text 3"/>
          <p:cNvSpPr/>
          <p:nvPr/>
        </p:nvSpPr>
        <p:spPr>
          <a:xfrm>
            <a:off x="658368" y="2395728"/>
            <a:ext cx="5852160" cy="777240"/>
          </a:xfrm>
          <a:prstGeom prst="rect">
            <a:avLst/>
          </a:prstGeom>
          <a:noFill/>
          <a:ln/>
        </p:spPr>
        <p:txBody>
          <a:bodyPr wrap="square" lIns="0" tIns="0" rIns="0" bIns="0" rtlCol="0" anchor="ctr"/>
          <a:lstStyle/>
          <a:p>
            <a:pPr indent="0" marL="0">
              <a:buNone/>
            </a:pPr>
            <a:r>
              <a:rPr lang="en-US" sz="1900" dirty="0">
                <a:solidFill>
                  <a:srgbClr val="52B788"/>
                </a:solidFill>
                <a:latin typeface="Calibri" pitchFamily="34" charset="0"/>
                <a:ea typeface="Calibri" pitchFamily="34" charset="-122"/>
                <a:cs typeface="Calibri" pitchFamily="34" charset="-120"/>
              </a:rPr>
              <a:t>Reducing Food Waste Through a Digital Surplus-Food Marketplace</a:t>
            </a:r>
            <a:endParaRPr lang="en-US" sz="1900" dirty="0"/>
          </a:p>
        </p:txBody>
      </p:sp>
      <p:sp>
        <p:nvSpPr>
          <p:cNvPr id="9" name="Shape 4"/>
          <p:cNvSpPr/>
          <p:nvPr/>
        </p:nvSpPr>
        <p:spPr>
          <a:xfrm>
            <a:off x="658368" y="3310128"/>
            <a:ext cx="402336" cy="402336"/>
          </a:xfrm>
          <a:prstGeom prst="ellipse">
            <a:avLst/>
          </a:prstGeom>
          <a:solidFill>
            <a:srgbClr val="224D3B"/>
          </a:solidFill>
          <a:ln/>
        </p:spPr>
      </p:sp>
      <p:pic>
        <p:nvPicPr>
          <p:cNvPr id="10" name="Image 3" descr="preencoded.png">    </p:cNvPr>
          <p:cNvPicPr>
            <a:picLocks noChangeAspect="1"/>
          </p:cNvPicPr>
          <p:nvPr/>
        </p:nvPicPr>
        <p:blipFill>
          <a:blip r:embed="rId4"/>
          <a:stretch>
            <a:fillRect/>
          </a:stretch>
        </p:blipFill>
        <p:spPr>
          <a:xfrm>
            <a:off x="754929" y="3406689"/>
            <a:ext cx="209215" cy="209215"/>
          </a:xfrm>
          <a:prstGeom prst="rect">
            <a:avLst/>
          </a:prstGeom>
        </p:spPr>
      </p:pic>
      <p:sp>
        <p:nvSpPr>
          <p:cNvPr id="11" name="Shape 5"/>
          <p:cNvSpPr/>
          <p:nvPr/>
        </p:nvSpPr>
        <p:spPr>
          <a:xfrm>
            <a:off x="1225296" y="3310128"/>
            <a:ext cx="402336" cy="402336"/>
          </a:xfrm>
          <a:prstGeom prst="ellipse">
            <a:avLst/>
          </a:prstGeom>
          <a:solidFill>
            <a:srgbClr val="224D3B"/>
          </a:solidFill>
          <a:ln/>
        </p:spPr>
      </p:sp>
      <p:pic>
        <p:nvPicPr>
          <p:cNvPr id="12" name="Image 4" descr="preencoded.png">    </p:cNvPr>
          <p:cNvPicPr>
            <a:picLocks noChangeAspect="1"/>
          </p:cNvPicPr>
          <p:nvPr/>
        </p:nvPicPr>
        <p:blipFill>
          <a:blip r:embed="rId5"/>
          <a:stretch>
            <a:fillRect/>
          </a:stretch>
        </p:blipFill>
        <p:spPr>
          <a:xfrm>
            <a:off x="1321857" y="3406689"/>
            <a:ext cx="209215" cy="209215"/>
          </a:xfrm>
          <a:prstGeom prst="rect">
            <a:avLst/>
          </a:prstGeom>
        </p:spPr>
      </p:pic>
      <p:sp>
        <p:nvSpPr>
          <p:cNvPr id="13" name="Shape 6"/>
          <p:cNvSpPr/>
          <p:nvPr/>
        </p:nvSpPr>
        <p:spPr>
          <a:xfrm>
            <a:off x="1792224" y="3310128"/>
            <a:ext cx="402336" cy="402336"/>
          </a:xfrm>
          <a:prstGeom prst="ellipse">
            <a:avLst/>
          </a:prstGeom>
          <a:solidFill>
            <a:srgbClr val="224D3B"/>
          </a:solidFill>
          <a:ln/>
        </p:spPr>
      </p:sp>
      <p:pic>
        <p:nvPicPr>
          <p:cNvPr id="14" name="Image 5" descr="preencoded.png">    </p:cNvPr>
          <p:cNvPicPr>
            <a:picLocks noChangeAspect="1"/>
          </p:cNvPicPr>
          <p:nvPr/>
        </p:nvPicPr>
        <p:blipFill>
          <a:blip r:embed="rId6"/>
          <a:stretch>
            <a:fillRect/>
          </a:stretch>
        </p:blipFill>
        <p:spPr>
          <a:xfrm>
            <a:off x="1888785" y="3406689"/>
            <a:ext cx="209215" cy="209215"/>
          </a:xfrm>
          <a:prstGeom prst="rect">
            <a:avLst/>
          </a:prstGeom>
        </p:spPr>
      </p:pic>
      <p:sp>
        <p:nvSpPr>
          <p:cNvPr id="15" name="Shape 7"/>
          <p:cNvSpPr/>
          <p:nvPr/>
        </p:nvSpPr>
        <p:spPr>
          <a:xfrm>
            <a:off x="2359152" y="3310128"/>
            <a:ext cx="402336" cy="402336"/>
          </a:xfrm>
          <a:prstGeom prst="ellipse">
            <a:avLst/>
          </a:prstGeom>
          <a:solidFill>
            <a:srgbClr val="224D3B"/>
          </a:solidFill>
          <a:ln/>
        </p:spPr>
      </p:sp>
      <p:pic>
        <p:nvPicPr>
          <p:cNvPr id="16" name="Image 6" descr="preencoded.png">    </p:cNvPr>
          <p:cNvPicPr>
            <a:picLocks noChangeAspect="1"/>
          </p:cNvPicPr>
          <p:nvPr/>
        </p:nvPicPr>
        <p:blipFill>
          <a:blip r:embed="rId7"/>
          <a:stretch>
            <a:fillRect/>
          </a:stretch>
        </p:blipFill>
        <p:spPr>
          <a:xfrm>
            <a:off x="2455713" y="3406689"/>
            <a:ext cx="209215" cy="209215"/>
          </a:xfrm>
          <a:prstGeom prst="rect">
            <a:avLst/>
          </a:prstGeom>
        </p:spPr>
      </p:pic>
      <p:sp>
        <p:nvSpPr>
          <p:cNvPr id="17" name="Text 8"/>
          <p:cNvSpPr/>
          <p:nvPr/>
        </p:nvSpPr>
        <p:spPr>
          <a:xfrm>
            <a:off x="658368" y="4160520"/>
            <a:ext cx="4206240" cy="658368"/>
          </a:xfrm>
          <a:prstGeom prst="rect">
            <a:avLst/>
          </a:prstGeom>
          <a:noFill/>
          <a:ln/>
        </p:spPr>
        <p:txBody>
          <a:bodyPr wrap="square" lIns="0" tIns="0" rIns="0" bIns="0" rtlCol="0" anchor="ctr"/>
          <a:lstStyle/>
          <a:p>
            <a:pPr indent="0" marL="0">
              <a:lnSpc>
                <a:spcPct val="125000"/>
              </a:lnSpc>
              <a:buNone/>
            </a:pPr>
            <a:r>
              <a:rPr lang="en-US" sz="1200" b="1" dirty="0">
                <a:solidFill>
                  <a:srgbClr val="BFE3CF"/>
                </a:solidFill>
                <a:latin typeface="Calibri" pitchFamily="34" charset="0"/>
                <a:ea typeface="Calibri" pitchFamily="34" charset="-122"/>
                <a:cs typeface="Calibri" pitchFamily="34" charset="-120"/>
              </a:rPr>
              <a:t>Team: </a:t>
            </a:r>
            <a:pPr indent="0" marL="0">
              <a:lnSpc>
                <a:spcPct val="125000"/>
              </a:lnSpc>
              <a:buNone/>
            </a:pPr>
            <a:r>
              <a:rPr lang="en-US" sz="1200" dirty="0">
                <a:solidFill>
                  <a:srgbClr val="FFFFFF"/>
                </a:solidFill>
                <a:latin typeface="Calibri" pitchFamily="34" charset="0"/>
                <a:ea typeface="Calibri" pitchFamily="34" charset="-122"/>
                <a:cs typeface="Calibri" pitchFamily="34" charset="-120"/>
              </a:rPr>
              <a:t>[Team member names]</a:t>
            </a:r>
            <a:endParaRPr lang="en-US" sz="1200" dirty="0"/>
          </a:p>
          <a:p>
            <a:pPr indent="0" marL="0">
              <a:lnSpc>
                <a:spcPct val="125000"/>
              </a:lnSpc>
              <a:buNone/>
            </a:pPr>
            <a:r>
              <a:rPr lang="en-US" sz="1200" b="1" dirty="0">
                <a:solidFill>
                  <a:srgbClr val="BFE3CF"/>
                </a:solidFill>
                <a:latin typeface="Calibri" pitchFamily="34" charset="0"/>
                <a:ea typeface="Calibri" pitchFamily="34" charset="-122"/>
                <a:cs typeface="Calibri" pitchFamily="34" charset="-120"/>
              </a:rPr>
              <a:t>Course: </a:t>
            </a:r>
            <a:pPr indent="0" marL="0">
              <a:lnSpc>
                <a:spcPct val="125000"/>
              </a:lnSpc>
              <a:buNone/>
            </a:pPr>
            <a:r>
              <a:rPr lang="en-US" sz="1200" dirty="0">
                <a:solidFill>
                  <a:srgbClr val="FFFFFF"/>
                </a:solidFill>
                <a:latin typeface="Calibri" pitchFamily="34" charset="0"/>
                <a:ea typeface="Calibri" pitchFamily="34" charset="-122"/>
                <a:cs typeface="Calibri" pitchFamily="34" charset="-120"/>
              </a:rPr>
              <a:t>[University · Course · Year]</a:t>
            </a:r>
            <a:endParaRPr lang="en-US" sz="1200" dirty="0"/>
          </a:p>
        </p:txBody>
      </p:sp>
      <p:pic>
        <p:nvPicPr>
          <p:cNvPr id="18" name="Image 7" descr="preencoded.png">    </p:cNvPr>
          <p:cNvPicPr>
            <a:picLocks noChangeAspect="1"/>
          </p:cNvPicPr>
          <p:nvPr/>
        </p:nvPicPr>
        <p:blipFill>
          <a:blip r:embed="rId8"/>
          <a:stretch>
            <a:fillRect/>
          </a:stretch>
        </p:blipFill>
        <p:spPr>
          <a:xfrm>
            <a:off x="5120640" y="4453128"/>
            <a:ext cx="237744" cy="237744"/>
          </a:xfrm>
          <a:prstGeom prst="rect">
            <a:avLst/>
          </a:prstGeom>
        </p:spPr>
      </p:pic>
      <p:sp>
        <p:nvSpPr>
          <p:cNvPr id="19" name="Text 9"/>
          <p:cNvSpPr/>
          <p:nvPr/>
        </p:nvSpPr>
        <p:spPr>
          <a:xfrm>
            <a:off x="5431536" y="4389120"/>
            <a:ext cx="3108960" cy="36576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github.com/lucajianu/EcoMeal</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8046720" cy="274320"/>
          </a:xfrm>
          <a:prstGeom prst="rect">
            <a:avLst/>
          </a:prstGeom>
          <a:noFill/>
          <a:ln/>
        </p:spPr>
        <p:txBody>
          <a:bodyPr wrap="square" lIns="0" tIns="0" rIns="0" bIns="0" rtlCol="0" anchor="ctr"/>
          <a:lstStyle/>
          <a:p>
            <a:pPr indent="0" marL="0">
              <a:buNone/>
            </a:pPr>
            <a:r>
              <a:rPr lang="en-US" sz="1100" b="1" spc="200" kern="0" dirty="0">
                <a:solidFill>
                  <a:srgbClr val="E76F51"/>
                </a:solidFill>
                <a:latin typeface="Calibri" pitchFamily="34" charset="0"/>
                <a:ea typeface="Calibri" pitchFamily="34" charset="-122"/>
                <a:cs typeface="Calibri" pitchFamily="34" charset="-120"/>
              </a:rPr>
              <a:t>WHY ECOMEAL EXISTS</a:t>
            </a:r>
            <a:endParaRPr lang="en-US" sz="1100" dirty="0"/>
          </a:p>
        </p:txBody>
      </p:sp>
      <p:sp>
        <p:nvSpPr>
          <p:cNvPr id="3" name="Text 1"/>
          <p:cNvSpPr/>
          <p:nvPr/>
        </p:nvSpPr>
        <p:spPr>
          <a:xfrm>
            <a:off x="548640" y="493776"/>
            <a:ext cx="8046720" cy="566928"/>
          </a:xfrm>
          <a:prstGeom prst="rect">
            <a:avLst/>
          </a:prstGeom>
          <a:noFill/>
          <a:ln/>
        </p:spPr>
        <p:txBody>
          <a:bodyPr wrap="square" lIns="0" tIns="0" rIns="0" bIns="0" rtlCol="0" anchor="ctr"/>
          <a:lstStyle/>
          <a:p>
            <a:pPr indent="0" marL="0">
              <a:buNone/>
            </a:pPr>
            <a:r>
              <a:rPr lang="en-US" sz="3000" b="1" dirty="0">
                <a:solidFill>
                  <a:srgbClr val="163A2C"/>
                </a:solidFill>
                <a:latin typeface="Calibri" pitchFamily="34" charset="0"/>
                <a:ea typeface="Calibri" pitchFamily="34" charset="-122"/>
                <a:cs typeface="Calibri" pitchFamily="34" charset="-120"/>
              </a:rPr>
              <a:t>The Problem &amp; Our Solution</a:t>
            </a:r>
            <a:endParaRPr lang="en-US" sz="3000" dirty="0"/>
          </a:p>
        </p:txBody>
      </p:sp>
      <p:sp>
        <p:nvSpPr>
          <p:cNvPr id="4" name="Shape 2"/>
          <p:cNvSpPr/>
          <p:nvPr/>
        </p:nvSpPr>
        <p:spPr>
          <a:xfrm>
            <a:off x="548640" y="1371600"/>
            <a:ext cx="3200400" cy="786384"/>
          </a:xfrm>
          <a:prstGeom prst="roundRect">
            <a:avLst>
              <a:gd name="adj" fmla="val 10465"/>
            </a:avLst>
          </a:prstGeom>
          <a:solidFill>
            <a:srgbClr val="FBEAE3"/>
          </a:solidFill>
          <a:ln/>
          <a:effectLst>
            <a:outerShdw sx="100000" sy="100000" kx="0" ky="0" algn="bl" rotWithShape="0" blurRad="88900" dist="25400" dir="2700000">
              <a:srgbClr val="1B2A23">
                <a:alpha val="14000"/>
              </a:srgbClr>
            </a:outerShdw>
          </a:effectLst>
        </p:spPr>
      </p:sp>
      <p:sp>
        <p:nvSpPr>
          <p:cNvPr id="5" name="Shape 3"/>
          <p:cNvSpPr/>
          <p:nvPr/>
        </p:nvSpPr>
        <p:spPr>
          <a:xfrm>
            <a:off x="713232" y="1563624"/>
            <a:ext cx="402336" cy="402336"/>
          </a:xfrm>
          <a:prstGeom prst="ellipse">
            <a:avLst/>
          </a:prstGeom>
          <a:solidFill>
            <a:srgbClr val="FFFFFF"/>
          </a:solidFill>
          <a:ln/>
        </p:spPr>
      </p:sp>
      <p:pic>
        <p:nvPicPr>
          <p:cNvPr id="6" name="Image 0" descr="preencoded.png">    </p:cNvPr>
          <p:cNvPicPr>
            <a:picLocks noChangeAspect="1"/>
          </p:cNvPicPr>
          <p:nvPr/>
        </p:nvPicPr>
        <p:blipFill>
          <a:blip r:embed="rId1"/>
          <a:stretch>
            <a:fillRect/>
          </a:stretch>
        </p:blipFill>
        <p:spPr>
          <a:xfrm>
            <a:off x="809793" y="1660185"/>
            <a:ext cx="209215" cy="209215"/>
          </a:xfrm>
          <a:prstGeom prst="rect">
            <a:avLst/>
          </a:prstGeom>
        </p:spPr>
      </p:pic>
      <p:sp>
        <p:nvSpPr>
          <p:cNvPr id="7" name="Text 4"/>
          <p:cNvSpPr/>
          <p:nvPr/>
        </p:nvSpPr>
        <p:spPr>
          <a:xfrm>
            <a:off x="1280160" y="1490472"/>
            <a:ext cx="2377440" cy="274320"/>
          </a:xfrm>
          <a:prstGeom prst="rect">
            <a:avLst/>
          </a:prstGeom>
          <a:noFill/>
          <a:ln/>
        </p:spPr>
        <p:txBody>
          <a:bodyPr wrap="square" lIns="0" tIns="0" rIns="0" bIns="0" rtlCol="0" anchor="t"/>
          <a:lstStyle/>
          <a:p>
            <a:pPr indent="0" marL="0">
              <a:buNone/>
            </a:pPr>
            <a:r>
              <a:rPr lang="en-US" sz="1250" b="1" dirty="0">
                <a:solidFill>
                  <a:srgbClr val="22332B"/>
                </a:solidFill>
                <a:latin typeface="Calibri" pitchFamily="34" charset="0"/>
                <a:ea typeface="Calibri" pitchFamily="34" charset="-122"/>
                <a:cs typeface="Calibri" pitchFamily="34" charset="-120"/>
              </a:rPr>
              <a:t>Unsold food</a:t>
            </a:r>
            <a:endParaRPr lang="en-US" sz="1250" dirty="0"/>
          </a:p>
        </p:txBody>
      </p:sp>
      <p:sp>
        <p:nvSpPr>
          <p:cNvPr id="8" name="Text 5"/>
          <p:cNvSpPr/>
          <p:nvPr/>
        </p:nvSpPr>
        <p:spPr>
          <a:xfrm>
            <a:off x="1280160" y="1773936"/>
            <a:ext cx="2377440" cy="274320"/>
          </a:xfrm>
          <a:prstGeom prst="rect">
            <a:avLst/>
          </a:prstGeom>
          <a:noFill/>
          <a:ln/>
        </p:spPr>
        <p:txBody>
          <a:bodyPr wrap="square" lIns="0" tIns="0" rIns="0" bIns="0" rtlCol="0" anchor="t"/>
          <a:lstStyle/>
          <a:p>
            <a:pPr indent="0" marL="0">
              <a:buNone/>
            </a:pPr>
            <a:r>
              <a:rPr lang="en-US" sz="1000" dirty="0">
                <a:solidFill>
                  <a:srgbClr val="6B7F74"/>
                </a:solidFill>
                <a:latin typeface="Calibri" pitchFamily="34" charset="0"/>
                <a:ea typeface="Calibri" pitchFamily="34" charset="-122"/>
                <a:cs typeface="Calibri" pitchFamily="34" charset="-120"/>
              </a:rPr>
              <a:t>end-of-day surplus, still safe to eat</a:t>
            </a:r>
            <a:endParaRPr lang="en-US" sz="1000" dirty="0"/>
          </a:p>
        </p:txBody>
      </p:sp>
      <p:pic>
        <p:nvPicPr>
          <p:cNvPr id="9" name="Image 1" descr="preencoded.png">    </p:cNvPr>
          <p:cNvPicPr>
            <a:picLocks noChangeAspect="1"/>
          </p:cNvPicPr>
          <p:nvPr/>
        </p:nvPicPr>
        <p:blipFill>
          <a:blip r:embed="rId2"/>
          <a:stretch>
            <a:fillRect/>
          </a:stretch>
        </p:blipFill>
        <p:spPr>
          <a:xfrm>
            <a:off x="2048256" y="2212848"/>
            <a:ext cx="182880" cy="182880"/>
          </a:xfrm>
          <a:prstGeom prst="rect">
            <a:avLst/>
          </a:prstGeom>
        </p:spPr>
      </p:pic>
      <p:sp>
        <p:nvSpPr>
          <p:cNvPr id="10" name="Shape 6"/>
          <p:cNvSpPr/>
          <p:nvPr/>
        </p:nvSpPr>
        <p:spPr>
          <a:xfrm>
            <a:off x="548640" y="2505456"/>
            <a:ext cx="3200400" cy="786384"/>
          </a:xfrm>
          <a:prstGeom prst="roundRect">
            <a:avLst>
              <a:gd name="adj" fmla="val 10465"/>
            </a:avLst>
          </a:prstGeom>
          <a:solidFill>
            <a:srgbClr val="FBEAE3"/>
          </a:solidFill>
          <a:ln/>
          <a:effectLst>
            <a:outerShdw sx="100000" sy="100000" kx="0" ky="0" algn="bl" rotWithShape="0" blurRad="88900" dist="25400" dir="2700000">
              <a:srgbClr val="1B2A23">
                <a:alpha val="14000"/>
              </a:srgbClr>
            </a:outerShdw>
          </a:effectLst>
        </p:spPr>
      </p:sp>
      <p:sp>
        <p:nvSpPr>
          <p:cNvPr id="11" name="Shape 7"/>
          <p:cNvSpPr/>
          <p:nvPr/>
        </p:nvSpPr>
        <p:spPr>
          <a:xfrm>
            <a:off x="713232" y="2697480"/>
            <a:ext cx="402336" cy="402336"/>
          </a:xfrm>
          <a:prstGeom prst="ellipse">
            <a:avLst/>
          </a:prstGeom>
          <a:solidFill>
            <a:srgbClr val="FFFFFF"/>
          </a:solidFill>
          <a:ln/>
        </p:spPr>
      </p:sp>
      <p:pic>
        <p:nvPicPr>
          <p:cNvPr id="12" name="Image 2" descr="preencoded.png">    </p:cNvPr>
          <p:cNvPicPr>
            <a:picLocks noChangeAspect="1"/>
          </p:cNvPicPr>
          <p:nvPr/>
        </p:nvPicPr>
        <p:blipFill>
          <a:blip r:embed="rId3"/>
          <a:stretch>
            <a:fillRect/>
          </a:stretch>
        </p:blipFill>
        <p:spPr>
          <a:xfrm>
            <a:off x="809793" y="2794041"/>
            <a:ext cx="209215" cy="209215"/>
          </a:xfrm>
          <a:prstGeom prst="rect">
            <a:avLst/>
          </a:prstGeom>
        </p:spPr>
      </p:pic>
      <p:sp>
        <p:nvSpPr>
          <p:cNvPr id="13" name="Text 8"/>
          <p:cNvSpPr/>
          <p:nvPr/>
        </p:nvSpPr>
        <p:spPr>
          <a:xfrm>
            <a:off x="1280160" y="2624328"/>
            <a:ext cx="2377440" cy="274320"/>
          </a:xfrm>
          <a:prstGeom prst="rect">
            <a:avLst/>
          </a:prstGeom>
          <a:noFill/>
          <a:ln/>
        </p:spPr>
        <p:txBody>
          <a:bodyPr wrap="square" lIns="0" tIns="0" rIns="0" bIns="0" rtlCol="0" anchor="t"/>
          <a:lstStyle/>
          <a:p>
            <a:pPr indent="0" marL="0">
              <a:buNone/>
            </a:pPr>
            <a:r>
              <a:rPr lang="en-US" sz="1250" b="1" dirty="0">
                <a:solidFill>
                  <a:srgbClr val="22332B"/>
                </a:solidFill>
                <a:latin typeface="Calibri" pitchFamily="34" charset="0"/>
                <a:ea typeface="Calibri" pitchFamily="34" charset="-122"/>
                <a:cs typeface="Calibri" pitchFamily="34" charset="-120"/>
              </a:rPr>
              <a:t>Disposal</a:t>
            </a:r>
            <a:endParaRPr lang="en-US" sz="1250" dirty="0"/>
          </a:p>
        </p:txBody>
      </p:sp>
      <p:sp>
        <p:nvSpPr>
          <p:cNvPr id="14" name="Text 9"/>
          <p:cNvSpPr/>
          <p:nvPr/>
        </p:nvSpPr>
        <p:spPr>
          <a:xfrm>
            <a:off x="1280160" y="2907792"/>
            <a:ext cx="2377440" cy="274320"/>
          </a:xfrm>
          <a:prstGeom prst="rect">
            <a:avLst/>
          </a:prstGeom>
          <a:noFill/>
          <a:ln/>
        </p:spPr>
        <p:txBody>
          <a:bodyPr wrap="square" lIns="0" tIns="0" rIns="0" bIns="0" rtlCol="0" anchor="t"/>
          <a:lstStyle/>
          <a:p>
            <a:pPr indent="0" marL="0">
              <a:buNone/>
            </a:pPr>
            <a:r>
              <a:rPr lang="en-US" sz="1000" dirty="0">
                <a:solidFill>
                  <a:srgbClr val="6B7F74"/>
                </a:solidFill>
                <a:latin typeface="Calibri" pitchFamily="34" charset="0"/>
                <a:ea typeface="Calibri" pitchFamily="34" charset="-122"/>
                <a:cs typeface="Calibri" pitchFamily="34" charset="-120"/>
              </a:rPr>
              <a:t>edible food becomes waste</a:t>
            </a:r>
            <a:endParaRPr lang="en-US" sz="1000" dirty="0"/>
          </a:p>
        </p:txBody>
      </p:sp>
      <p:pic>
        <p:nvPicPr>
          <p:cNvPr id="15" name="Image 3" descr="preencoded.png">    </p:cNvPr>
          <p:cNvPicPr>
            <a:picLocks noChangeAspect="1"/>
          </p:cNvPicPr>
          <p:nvPr/>
        </p:nvPicPr>
        <p:blipFill>
          <a:blip r:embed="rId4"/>
          <a:stretch>
            <a:fillRect/>
          </a:stretch>
        </p:blipFill>
        <p:spPr>
          <a:xfrm>
            <a:off x="2048256" y="3346704"/>
            <a:ext cx="182880" cy="182880"/>
          </a:xfrm>
          <a:prstGeom prst="rect">
            <a:avLst/>
          </a:prstGeom>
        </p:spPr>
      </p:pic>
      <p:sp>
        <p:nvSpPr>
          <p:cNvPr id="16" name="Shape 10"/>
          <p:cNvSpPr/>
          <p:nvPr/>
        </p:nvSpPr>
        <p:spPr>
          <a:xfrm>
            <a:off x="548640" y="3639312"/>
            <a:ext cx="3200400" cy="786384"/>
          </a:xfrm>
          <a:prstGeom prst="roundRect">
            <a:avLst>
              <a:gd name="adj" fmla="val 10465"/>
            </a:avLst>
          </a:prstGeom>
          <a:solidFill>
            <a:srgbClr val="FBEAE3"/>
          </a:solidFill>
          <a:ln/>
          <a:effectLst>
            <a:outerShdw sx="100000" sy="100000" kx="0" ky="0" algn="bl" rotWithShape="0" blurRad="88900" dist="25400" dir="2700000">
              <a:srgbClr val="1B2A23">
                <a:alpha val="14000"/>
              </a:srgbClr>
            </a:outerShdw>
          </a:effectLst>
        </p:spPr>
      </p:sp>
      <p:sp>
        <p:nvSpPr>
          <p:cNvPr id="17" name="Shape 11"/>
          <p:cNvSpPr/>
          <p:nvPr/>
        </p:nvSpPr>
        <p:spPr>
          <a:xfrm>
            <a:off x="713232" y="3831336"/>
            <a:ext cx="402336" cy="402336"/>
          </a:xfrm>
          <a:prstGeom prst="ellipse">
            <a:avLst/>
          </a:prstGeom>
          <a:solidFill>
            <a:srgbClr val="FFFFFF"/>
          </a:solidFill>
          <a:ln/>
        </p:spPr>
      </p:sp>
      <p:pic>
        <p:nvPicPr>
          <p:cNvPr id="18" name="Image 4" descr="preencoded.png">    </p:cNvPr>
          <p:cNvPicPr>
            <a:picLocks noChangeAspect="1"/>
          </p:cNvPicPr>
          <p:nvPr/>
        </p:nvPicPr>
        <p:blipFill>
          <a:blip r:embed="rId5"/>
          <a:stretch>
            <a:fillRect/>
          </a:stretch>
        </p:blipFill>
        <p:spPr>
          <a:xfrm>
            <a:off x="809793" y="3927897"/>
            <a:ext cx="209215" cy="209215"/>
          </a:xfrm>
          <a:prstGeom prst="rect">
            <a:avLst/>
          </a:prstGeom>
        </p:spPr>
      </p:pic>
      <p:sp>
        <p:nvSpPr>
          <p:cNvPr id="19" name="Text 12"/>
          <p:cNvSpPr/>
          <p:nvPr/>
        </p:nvSpPr>
        <p:spPr>
          <a:xfrm>
            <a:off x="1280160" y="3758184"/>
            <a:ext cx="2377440" cy="274320"/>
          </a:xfrm>
          <a:prstGeom prst="rect">
            <a:avLst/>
          </a:prstGeom>
          <a:noFill/>
          <a:ln/>
        </p:spPr>
        <p:txBody>
          <a:bodyPr wrap="square" lIns="0" tIns="0" rIns="0" bIns="0" rtlCol="0" anchor="t"/>
          <a:lstStyle/>
          <a:p>
            <a:pPr indent="0" marL="0">
              <a:buNone/>
            </a:pPr>
            <a:r>
              <a:rPr lang="en-US" sz="1250" b="1" dirty="0">
                <a:solidFill>
                  <a:srgbClr val="22332B"/>
                </a:solidFill>
                <a:latin typeface="Calibri" pitchFamily="34" charset="0"/>
                <a:ea typeface="Calibri" pitchFamily="34" charset="-122"/>
                <a:cs typeface="Calibri" pitchFamily="34" charset="-120"/>
              </a:rPr>
              <a:t>Loss</a:t>
            </a:r>
            <a:endParaRPr lang="en-US" sz="1250" dirty="0"/>
          </a:p>
        </p:txBody>
      </p:sp>
      <p:sp>
        <p:nvSpPr>
          <p:cNvPr id="20" name="Text 13"/>
          <p:cNvSpPr/>
          <p:nvPr/>
        </p:nvSpPr>
        <p:spPr>
          <a:xfrm>
            <a:off x="1280160" y="4041648"/>
            <a:ext cx="2377440" cy="274320"/>
          </a:xfrm>
          <a:prstGeom prst="rect">
            <a:avLst/>
          </a:prstGeom>
          <a:noFill/>
          <a:ln/>
        </p:spPr>
        <p:txBody>
          <a:bodyPr wrap="square" lIns="0" tIns="0" rIns="0" bIns="0" rtlCol="0" anchor="t"/>
          <a:lstStyle/>
          <a:p>
            <a:pPr indent="0" marL="0">
              <a:buNone/>
            </a:pPr>
            <a:r>
              <a:rPr lang="en-US" sz="1000" dirty="0">
                <a:solidFill>
                  <a:srgbClr val="6B7F74"/>
                </a:solidFill>
                <a:latin typeface="Calibri" pitchFamily="34" charset="0"/>
                <a:ea typeface="Calibri" pitchFamily="34" charset="-122"/>
                <a:cs typeface="Calibri" pitchFamily="34" charset="-120"/>
              </a:rPr>
              <a:t>for the business and the planet</a:t>
            </a:r>
            <a:endParaRPr lang="en-US" sz="1000" dirty="0"/>
          </a:p>
        </p:txBody>
      </p:sp>
      <p:sp>
        <p:nvSpPr>
          <p:cNvPr id="21" name="Shape 14"/>
          <p:cNvSpPr/>
          <p:nvPr/>
        </p:nvSpPr>
        <p:spPr>
          <a:xfrm>
            <a:off x="4297680" y="1371600"/>
            <a:ext cx="1920240" cy="1234440"/>
          </a:xfrm>
          <a:prstGeom prst="roundRect">
            <a:avLst>
              <a:gd name="adj" fmla="val 7407"/>
            </a:avLst>
          </a:prstGeom>
          <a:solidFill>
            <a:srgbClr val="EAF4EF"/>
          </a:solidFill>
          <a:ln/>
          <a:effectLst>
            <a:outerShdw sx="100000" sy="100000" kx="0" ky="0" algn="bl" rotWithShape="0" blurRad="88900" dist="25400" dir="2700000">
              <a:srgbClr val="1B2A23">
                <a:alpha val="14000"/>
              </a:srgbClr>
            </a:outerShdw>
          </a:effectLst>
        </p:spPr>
      </p:sp>
      <p:sp>
        <p:nvSpPr>
          <p:cNvPr id="22" name="Shape 15"/>
          <p:cNvSpPr/>
          <p:nvPr/>
        </p:nvSpPr>
        <p:spPr>
          <a:xfrm>
            <a:off x="5020056" y="1517904"/>
            <a:ext cx="475488" cy="475488"/>
          </a:xfrm>
          <a:prstGeom prst="ellipse">
            <a:avLst/>
          </a:prstGeom>
          <a:solidFill>
            <a:srgbClr val="FFFFFF"/>
          </a:solidFill>
          <a:ln/>
        </p:spPr>
      </p:sp>
      <p:pic>
        <p:nvPicPr>
          <p:cNvPr id="23" name="Image 5" descr="preencoded.png">    </p:cNvPr>
          <p:cNvPicPr>
            <a:picLocks noChangeAspect="1"/>
          </p:cNvPicPr>
          <p:nvPr/>
        </p:nvPicPr>
        <p:blipFill>
          <a:blip r:embed="rId6"/>
          <a:stretch>
            <a:fillRect/>
          </a:stretch>
        </p:blipFill>
        <p:spPr>
          <a:xfrm>
            <a:off x="5134173" y="1632021"/>
            <a:ext cx="247254" cy="247254"/>
          </a:xfrm>
          <a:prstGeom prst="rect">
            <a:avLst/>
          </a:prstGeom>
        </p:spPr>
      </p:pic>
      <p:sp>
        <p:nvSpPr>
          <p:cNvPr id="24" name="Text 16"/>
          <p:cNvSpPr/>
          <p:nvPr/>
        </p:nvSpPr>
        <p:spPr>
          <a:xfrm>
            <a:off x="4407408" y="2084832"/>
            <a:ext cx="1700784" cy="475488"/>
          </a:xfrm>
          <a:prstGeom prst="rect">
            <a:avLst/>
          </a:prstGeom>
          <a:noFill/>
          <a:ln/>
        </p:spPr>
        <p:txBody>
          <a:bodyPr wrap="square" lIns="0" tIns="0" rIns="0" bIns="0" rtlCol="0" anchor="t"/>
          <a:lstStyle/>
          <a:p>
            <a:pPr algn="ctr" indent="0" marL="0">
              <a:buNone/>
            </a:pPr>
            <a:r>
              <a:rPr lang="en-US" sz="950" dirty="0">
                <a:solidFill>
                  <a:srgbClr val="22332B"/>
                </a:solidFill>
                <a:latin typeface="Calibri" pitchFamily="34" charset="0"/>
                <a:ea typeface="Calibri" pitchFamily="34" charset="-122"/>
                <a:cs typeface="Calibri" pitchFamily="34" charset="-120"/>
              </a:rPr>
              <a:t>Businesses publish discounted surplus packages</a:t>
            </a:r>
            <a:endParaRPr lang="en-US" sz="950" dirty="0"/>
          </a:p>
        </p:txBody>
      </p:sp>
      <p:sp>
        <p:nvSpPr>
          <p:cNvPr id="25" name="Shape 17"/>
          <p:cNvSpPr/>
          <p:nvPr/>
        </p:nvSpPr>
        <p:spPr>
          <a:xfrm>
            <a:off x="6675120" y="1371600"/>
            <a:ext cx="1920240" cy="1234440"/>
          </a:xfrm>
          <a:prstGeom prst="roundRect">
            <a:avLst>
              <a:gd name="adj" fmla="val 7407"/>
            </a:avLst>
          </a:prstGeom>
          <a:solidFill>
            <a:srgbClr val="EAF4EF"/>
          </a:solidFill>
          <a:ln/>
          <a:effectLst>
            <a:outerShdw sx="100000" sy="100000" kx="0" ky="0" algn="bl" rotWithShape="0" blurRad="88900" dist="25400" dir="2700000">
              <a:srgbClr val="1B2A23">
                <a:alpha val="14000"/>
              </a:srgbClr>
            </a:outerShdw>
          </a:effectLst>
        </p:spPr>
      </p:sp>
      <p:sp>
        <p:nvSpPr>
          <p:cNvPr id="26" name="Shape 18"/>
          <p:cNvSpPr/>
          <p:nvPr/>
        </p:nvSpPr>
        <p:spPr>
          <a:xfrm>
            <a:off x="7397496" y="1517904"/>
            <a:ext cx="475488" cy="475488"/>
          </a:xfrm>
          <a:prstGeom prst="ellipse">
            <a:avLst/>
          </a:prstGeom>
          <a:solidFill>
            <a:srgbClr val="FFFFFF"/>
          </a:solidFill>
          <a:ln/>
        </p:spPr>
      </p:sp>
      <p:pic>
        <p:nvPicPr>
          <p:cNvPr id="27" name="Image 6" descr="preencoded.png">    </p:cNvPr>
          <p:cNvPicPr>
            <a:picLocks noChangeAspect="1"/>
          </p:cNvPicPr>
          <p:nvPr/>
        </p:nvPicPr>
        <p:blipFill>
          <a:blip r:embed="rId7"/>
          <a:stretch>
            <a:fillRect/>
          </a:stretch>
        </p:blipFill>
        <p:spPr>
          <a:xfrm>
            <a:off x="7511613" y="1632021"/>
            <a:ext cx="247254" cy="247254"/>
          </a:xfrm>
          <a:prstGeom prst="rect">
            <a:avLst/>
          </a:prstGeom>
        </p:spPr>
      </p:pic>
      <p:sp>
        <p:nvSpPr>
          <p:cNvPr id="28" name="Text 19"/>
          <p:cNvSpPr/>
          <p:nvPr/>
        </p:nvSpPr>
        <p:spPr>
          <a:xfrm>
            <a:off x="6784848" y="2084832"/>
            <a:ext cx="1700784" cy="475488"/>
          </a:xfrm>
          <a:prstGeom prst="rect">
            <a:avLst/>
          </a:prstGeom>
          <a:noFill/>
          <a:ln/>
        </p:spPr>
        <p:txBody>
          <a:bodyPr wrap="square" lIns="0" tIns="0" rIns="0" bIns="0" rtlCol="0" anchor="t"/>
          <a:lstStyle/>
          <a:p>
            <a:pPr algn="ctr" indent="0" marL="0">
              <a:buNone/>
            </a:pPr>
            <a:r>
              <a:rPr lang="en-US" sz="950" dirty="0">
                <a:solidFill>
                  <a:srgbClr val="22332B"/>
                </a:solidFill>
                <a:latin typeface="Calibri" pitchFamily="34" charset="0"/>
                <a:ea typeface="Calibri" pitchFamily="34" charset="-122"/>
                <a:cs typeface="Calibri" pitchFamily="34" charset="-120"/>
              </a:rPr>
              <a:t>Customers discover offers and pick them up in time</a:t>
            </a:r>
            <a:endParaRPr lang="en-US" sz="950" dirty="0"/>
          </a:p>
        </p:txBody>
      </p:sp>
      <p:sp>
        <p:nvSpPr>
          <p:cNvPr id="29" name="Shape 20"/>
          <p:cNvSpPr/>
          <p:nvPr/>
        </p:nvSpPr>
        <p:spPr>
          <a:xfrm>
            <a:off x="6217920" y="1965960"/>
            <a:ext cx="457200" cy="0"/>
          </a:xfrm>
          <a:prstGeom prst="line">
            <a:avLst/>
          </a:prstGeom>
          <a:noFill/>
          <a:ln w="31750">
            <a:solidFill>
              <a:srgbClr val="2D6A4F"/>
            </a:solidFill>
            <a:prstDash val="solid"/>
            <a:headEnd type="triangle"/>
            <a:tailEnd type="triangle"/>
          </a:ln>
        </p:spPr>
      </p:sp>
      <p:sp>
        <p:nvSpPr>
          <p:cNvPr id="30" name="Shape 21"/>
          <p:cNvSpPr/>
          <p:nvPr/>
        </p:nvSpPr>
        <p:spPr>
          <a:xfrm>
            <a:off x="4297680" y="2971800"/>
            <a:ext cx="1344168" cy="914400"/>
          </a:xfrm>
          <a:prstGeom prst="roundRect">
            <a:avLst>
              <a:gd name="adj" fmla="val 10000"/>
            </a:avLst>
          </a:prstGeom>
          <a:solidFill>
            <a:srgbClr val="FFFFFF"/>
          </a:solidFill>
          <a:ln w="12700">
            <a:solidFill>
              <a:srgbClr val="D8E6DE"/>
            </a:solidFill>
            <a:prstDash val="solid"/>
          </a:ln>
          <a:effectLst>
            <a:outerShdw sx="100000" sy="100000" kx="0" ky="0" algn="bl" rotWithShape="0" blurRad="88900" dist="25400" dir="2700000">
              <a:srgbClr val="1B2A23">
                <a:alpha val="14000"/>
              </a:srgbClr>
            </a:outerShdw>
          </a:effectLst>
        </p:spPr>
      </p:sp>
      <p:pic>
        <p:nvPicPr>
          <p:cNvPr id="31" name="Image 7" descr="preencoded.png">    </p:cNvPr>
          <p:cNvPicPr>
            <a:picLocks noChangeAspect="1"/>
          </p:cNvPicPr>
          <p:nvPr/>
        </p:nvPicPr>
        <p:blipFill>
          <a:blip r:embed="rId8"/>
          <a:stretch>
            <a:fillRect/>
          </a:stretch>
        </p:blipFill>
        <p:spPr>
          <a:xfrm>
            <a:off x="4846320" y="3108960"/>
            <a:ext cx="256032" cy="256032"/>
          </a:xfrm>
          <a:prstGeom prst="rect">
            <a:avLst/>
          </a:prstGeom>
        </p:spPr>
      </p:pic>
      <p:sp>
        <p:nvSpPr>
          <p:cNvPr id="32" name="Text 22"/>
          <p:cNvSpPr/>
          <p:nvPr/>
        </p:nvSpPr>
        <p:spPr>
          <a:xfrm>
            <a:off x="4352544" y="3419856"/>
            <a:ext cx="1234440" cy="420624"/>
          </a:xfrm>
          <a:prstGeom prst="rect">
            <a:avLst/>
          </a:prstGeom>
          <a:noFill/>
          <a:ln/>
        </p:spPr>
        <p:txBody>
          <a:bodyPr wrap="square" lIns="0" tIns="0" rIns="0" bIns="0" rtlCol="0" anchor="t"/>
          <a:lstStyle/>
          <a:p>
            <a:pPr algn="ctr" indent="0" marL="0">
              <a:buNone/>
            </a:pPr>
            <a:r>
              <a:rPr lang="en-US" sz="950" b="1" dirty="0">
                <a:solidFill>
                  <a:srgbClr val="163A2C"/>
                </a:solidFill>
                <a:latin typeface="Calibri" pitchFamily="34" charset="0"/>
                <a:ea typeface="Calibri" pitchFamily="34" charset="-122"/>
                <a:cs typeface="Calibri" pitchFamily="34" charset="-120"/>
              </a:rPr>
              <a:t>Save food</a:t>
            </a:r>
            <a:endParaRPr lang="en-US" sz="950" dirty="0"/>
          </a:p>
        </p:txBody>
      </p:sp>
      <p:sp>
        <p:nvSpPr>
          <p:cNvPr id="33" name="Shape 23"/>
          <p:cNvSpPr/>
          <p:nvPr/>
        </p:nvSpPr>
        <p:spPr>
          <a:xfrm>
            <a:off x="5779008" y="2971800"/>
            <a:ext cx="1344168" cy="914400"/>
          </a:xfrm>
          <a:prstGeom prst="roundRect">
            <a:avLst>
              <a:gd name="adj" fmla="val 10000"/>
            </a:avLst>
          </a:prstGeom>
          <a:solidFill>
            <a:srgbClr val="FFFFFF"/>
          </a:solidFill>
          <a:ln w="12700">
            <a:solidFill>
              <a:srgbClr val="D8E6DE"/>
            </a:solidFill>
            <a:prstDash val="solid"/>
          </a:ln>
          <a:effectLst>
            <a:outerShdw sx="100000" sy="100000" kx="0" ky="0" algn="bl" rotWithShape="0" blurRad="88900" dist="25400" dir="2700000">
              <a:srgbClr val="1B2A23">
                <a:alpha val="14000"/>
              </a:srgbClr>
            </a:outerShdw>
          </a:effectLst>
        </p:spPr>
      </p:sp>
      <p:pic>
        <p:nvPicPr>
          <p:cNvPr id="34" name="Image 8" descr="preencoded.png">    </p:cNvPr>
          <p:cNvPicPr>
            <a:picLocks noChangeAspect="1"/>
          </p:cNvPicPr>
          <p:nvPr/>
        </p:nvPicPr>
        <p:blipFill>
          <a:blip r:embed="rId9"/>
          <a:stretch>
            <a:fillRect/>
          </a:stretch>
        </p:blipFill>
        <p:spPr>
          <a:xfrm>
            <a:off x="6327648" y="3108960"/>
            <a:ext cx="256032" cy="256032"/>
          </a:xfrm>
          <a:prstGeom prst="rect">
            <a:avLst/>
          </a:prstGeom>
        </p:spPr>
      </p:pic>
      <p:sp>
        <p:nvSpPr>
          <p:cNvPr id="35" name="Text 24"/>
          <p:cNvSpPr/>
          <p:nvPr/>
        </p:nvSpPr>
        <p:spPr>
          <a:xfrm>
            <a:off x="5833872" y="3419856"/>
            <a:ext cx="1234440" cy="420624"/>
          </a:xfrm>
          <a:prstGeom prst="rect">
            <a:avLst/>
          </a:prstGeom>
          <a:noFill/>
          <a:ln/>
        </p:spPr>
        <p:txBody>
          <a:bodyPr wrap="square" lIns="0" tIns="0" rIns="0" bIns="0" rtlCol="0" anchor="t"/>
          <a:lstStyle/>
          <a:p>
            <a:pPr algn="ctr" indent="0" marL="0">
              <a:buNone/>
            </a:pPr>
            <a:r>
              <a:rPr lang="en-US" sz="950" b="1" dirty="0">
                <a:solidFill>
                  <a:srgbClr val="163A2C"/>
                </a:solidFill>
                <a:latin typeface="Calibri" pitchFamily="34" charset="0"/>
                <a:ea typeface="Calibri" pitchFamily="34" charset="-122"/>
                <a:cs typeface="Calibri" pitchFamily="34" charset="-120"/>
              </a:rPr>
              <a:t>Save money</a:t>
            </a:r>
            <a:endParaRPr lang="en-US" sz="950" dirty="0"/>
          </a:p>
        </p:txBody>
      </p:sp>
      <p:sp>
        <p:nvSpPr>
          <p:cNvPr id="36" name="Shape 25"/>
          <p:cNvSpPr/>
          <p:nvPr/>
        </p:nvSpPr>
        <p:spPr>
          <a:xfrm>
            <a:off x="7260336" y="2971800"/>
            <a:ext cx="1344168" cy="914400"/>
          </a:xfrm>
          <a:prstGeom prst="roundRect">
            <a:avLst>
              <a:gd name="adj" fmla="val 10000"/>
            </a:avLst>
          </a:prstGeom>
          <a:solidFill>
            <a:srgbClr val="FFFFFF"/>
          </a:solidFill>
          <a:ln w="12700">
            <a:solidFill>
              <a:srgbClr val="D8E6DE"/>
            </a:solidFill>
            <a:prstDash val="solid"/>
          </a:ln>
          <a:effectLst>
            <a:outerShdw sx="100000" sy="100000" kx="0" ky="0" algn="bl" rotWithShape="0" blurRad="88900" dist="25400" dir="2700000">
              <a:srgbClr val="1B2A23">
                <a:alpha val="14000"/>
              </a:srgbClr>
            </a:outerShdw>
          </a:effectLst>
        </p:spPr>
      </p:sp>
      <p:pic>
        <p:nvPicPr>
          <p:cNvPr id="37" name="Image 9" descr="preencoded.png">    </p:cNvPr>
          <p:cNvPicPr>
            <a:picLocks noChangeAspect="1"/>
          </p:cNvPicPr>
          <p:nvPr/>
        </p:nvPicPr>
        <p:blipFill>
          <a:blip r:embed="rId10"/>
          <a:stretch>
            <a:fillRect/>
          </a:stretch>
        </p:blipFill>
        <p:spPr>
          <a:xfrm>
            <a:off x="7808976" y="3108960"/>
            <a:ext cx="256032" cy="256032"/>
          </a:xfrm>
          <a:prstGeom prst="rect">
            <a:avLst/>
          </a:prstGeom>
        </p:spPr>
      </p:pic>
      <p:sp>
        <p:nvSpPr>
          <p:cNvPr id="38" name="Text 26"/>
          <p:cNvSpPr/>
          <p:nvPr/>
        </p:nvSpPr>
        <p:spPr>
          <a:xfrm>
            <a:off x="7315200" y="3419856"/>
            <a:ext cx="1234440" cy="420624"/>
          </a:xfrm>
          <a:prstGeom prst="rect">
            <a:avLst/>
          </a:prstGeom>
          <a:noFill/>
          <a:ln/>
        </p:spPr>
        <p:txBody>
          <a:bodyPr wrap="square" lIns="0" tIns="0" rIns="0" bIns="0" rtlCol="0" anchor="t"/>
          <a:lstStyle/>
          <a:p>
            <a:pPr algn="ctr" indent="0" marL="0">
              <a:buNone/>
            </a:pPr>
            <a:r>
              <a:rPr lang="en-US" sz="950" b="1" dirty="0">
                <a:solidFill>
                  <a:srgbClr val="163A2C"/>
                </a:solidFill>
                <a:latin typeface="Calibri" pitchFamily="34" charset="0"/>
                <a:ea typeface="Calibri" pitchFamily="34" charset="-122"/>
                <a:cs typeface="Calibri" pitchFamily="34" charset="-120"/>
              </a:rPr>
              <a:t>Support local businesses</a:t>
            </a:r>
            <a:endParaRPr lang="en-US" sz="950" dirty="0"/>
          </a:p>
        </p:txBody>
      </p:sp>
      <p:sp>
        <p:nvSpPr>
          <p:cNvPr id="39" name="Text 27"/>
          <p:cNvSpPr/>
          <p:nvPr/>
        </p:nvSpPr>
        <p:spPr>
          <a:xfrm>
            <a:off x="548640" y="4434840"/>
            <a:ext cx="8046720" cy="457200"/>
          </a:xfrm>
          <a:prstGeom prst="rect">
            <a:avLst/>
          </a:prstGeom>
          <a:noFill/>
          <a:ln/>
        </p:spPr>
        <p:txBody>
          <a:bodyPr wrap="square" lIns="0" tIns="0" rIns="0" bIns="0" rtlCol="0" anchor="ctr"/>
          <a:lstStyle/>
          <a:p>
            <a:pPr indent="0" marL="0">
              <a:buNone/>
            </a:pPr>
            <a:r>
              <a:rPr lang="en-US" sz="1250" i="1" dirty="0">
                <a:solidFill>
                  <a:srgbClr val="2D6A4F"/>
                </a:solidFill>
                <a:latin typeface="Calibri" pitchFamily="34" charset="0"/>
                <a:ea typeface="Calibri" pitchFamily="34" charset="-122"/>
                <a:cs typeface="Calibri" pitchFamily="34" charset="-120"/>
              </a:rPr>
              <a:t>A marketplace where end-of-day surplus becomes an opportunity — for businesses, customers and the environment.</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8046720" cy="274320"/>
          </a:xfrm>
          <a:prstGeom prst="rect">
            <a:avLst/>
          </a:prstGeom>
          <a:noFill/>
          <a:ln/>
        </p:spPr>
        <p:txBody>
          <a:bodyPr wrap="square" lIns="0" tIns="0" rIns="0" bIns="0" rtlCol="0" anchor="ctr"/>
          <a:lstStyle/>
          <a:p>
            <a:pPr indent="0" marL="0">
              <a:buNone/>
            </a:pPr>
            <a:r>
              <a:rPr lang="en-US" sz="1100" b="1" spc="200" kern="0" dirty="0">
                <a:solidFill>
                  <a:srgbClr val="E76F51"/>
                </a:solidFill>
                <a:latin typeface="Calibri" pitchFamily="34" charset="0"/>
                <a:ea typeface="Calibri" pitchFamily="34" charset="-122"/>
                <a:cs typeface="Calibri" pitchFamily="34" charset="-120"/>
              </a:rPr>
              <a:t>SHORT TECH OVERVIEW</a:t>
            </a:r>
            <a:endParaRPr lang="en-US" sz="1100" dirty="0"/>
          </a:p>
        </p:txBody>
      </p:sp>
      <p:sp>
        <p:nvSpPr>
          <p:cNvPr id="3" name="Text 1"/>
          <p:cNvSpPr/>
          <p:nvPr/>
        </p:nvSpPr>
        <p:spPr>
          <a:xfrm>
            <a:off x="548640" y="493776"/>
            <a:ext cx="8046720" cy="566928"/>
          </a:xfrm>
          <a:prstGeom prst="rect">
            <a:avLst/>
          </a:prstGeom>
          <a:noFill/>
          <a:ln/>
        </p:spPr>
        <p:txBody>
          <a:bodyPr wrap="square" lIns="0" tIns="0" rIns="0" bIns="0" rtlCol="0" anchor="ctr"/>
          <a:lstStyle/>
          <a:p>
            <a:pPr indent="0" marL="0">
              <a:buNone/>
            </a:pPr>
            <a:r>
              <a:rPr lang="en-US" sz="3000" b="1" dirty="0">
                <a:solidFill>
                  <a:srgbClr val="163A2C"/>
                </a:solidFill>
                <a:latin typeface="Calibri" pitchFamily="34" charset="0"/>
                <a:ea typeface="Calibri" pitchFamily="34" charset="-122"/>
                <a:cs typeface="Calibri" pitchFamily="34" charset="-120"/>
              </a:rPr>
              <a:t>Technologies</a:t>
            </a:r>
            <a:endParaRPr lang="en-US" sz="3000" dirty="0"/>
          </a:p>
        </p:txBody>
      </p:sp>
      <p:sp>
        <p:nvSpPr>
          <p:cNvPr id="4" name="Shape 2"/>
          <p:cNvSpPr/>
          <p:nvPr/>
        </p:nvSpPr>
        <p:spPr>
          <a:xfrm>
            <a:off x="548640" y="1280160"/>
            <a:ext cx="3977640" cy="1298448"/>
          </a:xfrm>
          <a:prstGeom prst="roundRect">
            <a:avLst>
              <a:gd name="adj" fmla="val 7042"/>
            </a:avLst>
          </a:prstGeom>
          <a:solidFill>
            <a:srgbClr val="FFFFFF"/>
          </a:solidFill>
          <a:ln w="12700">
            <a:solidFill>
              <a:srgbClr val="D8E6DE"/>
            </a:solidFill>
            <a:prstDash val="solid"/>
          </a:ln>
          <a:effectLst>
            <a:outerShdw sx="100000" sy="100000" kx="0" ky="0" algn="bl" rotWithShape="0" blurRad="88900" dist="25400" dir="2700000">
              <a:srgbClr val="1B2A23">
                <a:alpha val="14000"/>
              </a:srgbClr>
            </a:outerShdw>
          </a:effectLst>
        </p:spPr>
      </p:sp>
      <p:sp>
        <p:nvSpPr>
          <p:cNvPr id="5" name="Shape 3"/>
          <p:cNvSpPr/>
          <p:nvPr/>
        </p:nvSpPr>
        <p:spPr>
          <a:xfrm>
            <a:off x="713232" y="1426464"/>
            <a:ext cx="420624" cy="420624"/>
          </a:xfrm>
          <a:prstGeom prst="ellipse">
            <a:avLst/>
          </a:prstGeom>
          <a:solidFill>
            <a:srgbClr val="EAF4EF"/>
          </a:solidFill>
          <a:ln/>
        </p:spPr>
      </p:sp>
      <p:pic>
        <p:nvPicPr>
          <p:cNvPr id="6" name="Image 0" descr="preencoded.png">    </p:cNvPr>
          <p:cNvPicPr>
            <a:picLocks noChangeAspect="1"/>
          </p:cNvPicPr>
          <p:nvPr/>
        </p:nvPicPr>
        <p:blipFill>
          <a:blip r:embed="rId1"/>
          <a:stretch>
            <a:fillRect/>
          </a:stretch>
        </p:blipFill>
        <p:spPr>
          <a:xfrm>
            <a:off x="814182" y="1527414"/>
            <a:ext cx="218724" cy="218724"/>
          </a:xfrm>
          <a:prstGeom prst="rect">
            <a:avLst/>
          </a:prstGeom>
        </p:spPr>
      </p:pic>
      <p:sp>
        <p:nvSpPr>
          <p:cNvPr id="7" name="Text 4"/>
          <p:cNvSpPr/>
          <p:nvPr/>
        </p:nvSpPr>
        <p:spPr>
          <a:xfrm>
            <a:off x="1261872" y="1444752"/>
            <a:ext cx="3108960" cy="274320"/>
          </a:xfrm>
          <a:prstGeom prst="rect">
            <a:avLst/>
          </a:prstGeom>
          <a:noFill/>
          <a:ln/>
        </p:spPr>
        <p:txBody>
          <a:bodyPr wrap="square" lIns="0" tIns="0" rIns="0" bIns="0" rtlCol="0" anchor="t"/>
          <a:lstStyle/>
          <a:p>
            <a:pPr indent="0" marL="0">
              <a:buNone/>
            </a:pPr>
            <a:r>
              <a:rPr lang="en-US" sz="1300" b="1" dirty="0">
                <a:solidFill>
                  <a:srgbClr val="163A2C"/>
                </a:solidFill>
                <a:latin typeface="Calibri" pitchFamily="34" charset="0"/>
                <a:ea typeface="Calibri" pitchFamily="34" charset="-122"/>
                <a:cs typeface="Calibri" pitchFamily="34" charset="-120"/>
              </a:rPr>
              <a:t>Blazor — Interactive Server</a:t>
            </a:r>
            <a:endParaRPr lang="en-US" sz="1300" dirty="0"/>
          </a:p>
        </p:txBody>
      </p:sp>
      <p:sp>
        <p:nvSpPr>
          <p:cNvPr id="8" name="Text 5"/>
          <p:cNvSpPr/>
          <p:nvPr/>
        </p:nvSpPr>
        <p:spPr>
          <a:xfrm>
            <a:off x="1261872" y="1737360"/>
            <a:ext cx="3108960" cy="777240"/>
          </a:xfrm>
          <a:prstGeom prst="rect">
            <a:avLst/>
          </a:prstGeom>
          <a:noFill/>
          <a:ln/>
        </p:spPr>
        <p:txBody>
          <a:bodyPr wrap="square" lIns="0" tIns="0" rIns="0" bIns="0" rtlCol="0" anchor="t"/>
          <a:lstStyle/>
          <a:p>
            <a:pPr indent="0" marL="0">
              <a:buNone/>
            </a:pPr>
            <a:r>
              <a:rPr lang="en-US" sz="950" dirty="0">
                <a:solidFill>
                  <a:srgbClr val="6B7F74"/>
                </a:solidFill>
                <a:latin typeface="Calibri" pitchFamily="34" charset="0"/>
                <a:ea typeface="Calibri" pitchFamily="34" charset="-122"/>
                <a:cs typeface="Calibri" pitchFamily="34" charset="-120"/>
              </a:rPr>
              <a:t>UI written in C# with reusable Razor components; two-way data binding, EditForm validation, dependency injection. No JavaScript SPA.</a:t>
            </a:r>
            <a:endParaRPr lang="en-US" sz="950" dirty="0"/>
          </a:p>
        </p:txBody>
      </p:sp>
      <p:sp>
        <p:nvSpPr>
          <p:cNvPr id="9" name="Shape 6"/>
          <p:cNvSpPr/>
          <p:nvPr/>
        </p:nvSpPr>
        <p:spPr>
          <a:xfrm>
            <a:off x="4709160" y="1280160"/>
            <a:ext cx="3977640" cy="1298448"/>
          </a:xfrm>
          <a:prstGeom prst="roundRect">
            <a:avLst>
              <a:gd name="adj" fmla="val 7042"/>
            </a:avLst>
          </a:prstGeom>
          <a:solidFill>
            <a:srgbClr val="FFFFFF"/>
          </a:solidFill>
          <a:ln w="12700">
            <a:solidFill>
              <a:srgbClr val="D8E6DE"/>
            </a:solidFill>
            <a:prstDash val="solid"/>
          </a:ln>
          <a:effectLst>
            <a:outerShdw sx="100000" sy="100000" kx="0" ky="0" algn="bl" rotWithShape="0" blurRad="88900" dist="25400" dir="2700000">
              <a:srgbClr val="1B2A23">
                <a:alpha val="14000"/>
              </a:srgbClr>
            </a:outerShdw>
          </a:effectLst>
        </p:spPr>
      </p:sp>
      <p:sp>
        <p:nvSpPr>
          <p:cNvPr id="10" name="Shape 7"/>
          <p:cNvSpPr/>
          <p:nvPr/>
        </p:nvSpPr>
        <p:spPr>
          <a:xfrm>
            <a:off x="4873752" y="1426464"/>
            <a:ext cx="420624" cy="420624"/>
          </a:xfrm>
          <a:prstGeom prst="ellipse">
            <a:avLst/>
          </a:prstGeom>
          <a:solidFill>
            <a:srgbClr val="EAF4EF"/>
          </a:solidFill>
          <a:ln/>
        </p:spPr>
      </p:sp>
      <p:pic>
        <p:nvPicPr>
          <p:cNvPr id="11" name="Image 1" descr="preencoded.png">    </p:cNvPr>
          <p:cNvPicPr>
            <a:picLocks noChangeAspect="1"/>
          </p:cNvPicPr>
          <p:nvPr/>
        </p:nvPicPr>
        <p:blipFill>
          <a:blip r:embed="rId2"/>
          <a:stretch>
            <a:fillRect/>
          </a:stretch>
        </p:blipFill>
        <p:spPr>
          <a:xfrm>
            <a:off x="4974702" y="1527414"/>
            <a:ext cx="218724" cy="218724"/>
          </a:xfrm>
          <a:prstGeom prst="rect">
            <a:avLst/>
          </a:prstGeom>
        </p:spPr>
      </p:pic>
      <p:sp>
        <p:nvSpPr>
          <p:cNvPr id="12" name="Text 8"/>
          <p:cNvSpPr/>
          <p:nvPr/>
        </p:nvSpPr>
        <p:spPr>
          <a:xfrm>
            <a:off x="5422392" y="1444752"/>
            <a:ext cx="3108960" cy="274320"/>
          </a:xfrm>
          <a:prstGeom prst="rect">
            <a:avLst/>
          </a:prstGeom>
          <a:noFill/>
          <a:ln/>
        </p:spPr>
        <p:txBody>
          <a:bodyPr wrap="square" lIns="0" tIns="0" rIns="0" bIns="0" rtlCol="0" anchor="t"/>
          <a:lstStyle/>
          <a:p>
            <a:pPr indent="0" marL="0">
              <a:buNone/>
            </a:pPr>
            <a:r>
              <a:rPr lang="en-US" sz="1300" b="1" dirty="0">
                <a:solidFill>
                  <a:srgbClr val="163A2C"/>
                </a:solidFill>
                <a:latin typeface="Calibri" pitchFamily="34" charset="0"/>
                <a:ea typeface="Calibri" pitchFamily="34" charset="-122"/>
                <a:cs typeface="Calibri" pitchFamily="34" charset="-120"/>
              </a:rPr>
              <a:t>ASP.NET Core Web API</a:t>
            </a:r>
            <a:endParaRPr lang="en-US" sz="1300" dirty="0"/>
          </a:p>
        </p:txBody>
      </p:sp>
      <p:sp>
        <p:nvSpPr>
          <p:cNvPr id="13" name="Text 9"/>
          <p:cNvSpPr/>
          <p:nvPr/>
        </p:nvSpPr>
        <p:spPr>
          <a:xfrm>
            <a:off x="5422392" y="1737360"/>
            <a:ext cx="3108960" cy="777240"/>
          </a:xfrm>
          <a:prstGeom prst="rect">
            <a:avLst/>
          </a:prstGeom>
          <a:noFill/>
          <a:ln/>
        </p:spPr>
        <p:txBody>
          <a:bodyPr wrap="square" lIns="0" tIns="0" rIns="0" bIns="0" rtlCol="0" anchor="t"/>
          <a:lstStyle/>
          <a:p>
            <a:pPr indent="0" marL="0">
              <a:buNone/>
            </a:pPr>
            <a:r>
              <a:rPr lang="en-US" sz="950" dirty="0">
                <a:solidFill>
                  <a:srgbClr val="6B7F74"/>
                </a:solidFill>
                <a:latin typeface="Calibri" pitchFamily="34" charset="0"/>
                <a:ea typeface="Calibri" pitchFamily="34" charset="-122"/>
                <a:cs typeface="Calibri" pitchFamily="34" charset="-120"/>
              </a:rPr>
              <a:t>independent backend with controller-based REST endpoints, async actions, DTOs as the API contract, Swagger/OpenAPI for testing.</a:t>
            </a:r>
            <a:endParaRPr lang="en-US" sz="950" dirty="0"/>
          </a:p>
        </p:txBody>
      </p:sp>
      <p:sp>
        <p:nvSpPr>
          <p:cNvPr id="14" name="Shape 10"/>
          <p:cNvSpPr/>
          <p:nvPr/>
        </p:nvSpPr>
        <p:spPr>
          <a:xfrm>
            <a:off x="548640" y="2761488"/>
            <a:ext cx="3977640" cy="1298448"/>
          </a:xfrm>
          <a:prstGeom prst="roundRect">
            <a:avLst>
              <a:gd name="adj" fmla="val 7042"/>
            </a:avLst>
          </a:prstGeom>
          <a:solidFill>
            <a:srgbClr val="FFFFFF"/>
          </a:solidFill>
          <a:ln w="12700">
            <a:solidFill>
              <a:srgbClr val="D8E6DE"/>
            </a:solidFill>
            <a:prstDash val="solid"/>
          </a:ln>
          <a:effectLst>
            <a:outerShdw sx="100000" sy="100000" kx="0" ky="0" algn="bl" rotWithShape="0" blurRad="88900" dist="25400" dir="2700000">
              <a:srgbClr val="1B2A23">
                <a:alpha val="14000"/>
              </a:srgbClr>
            </a:outerShdw>
          </a:effectLst>
        </p:spPr>
      </p:sp>
      <p:sp>
        <p:nvSpPr>
          <p:cNvPr id="15" name="Shape 11"/>
          <p:cNvSpPr/>
          <p:nvPr/>
        </p:nvSpPr>
        <p:spPr>
          <a:xfrm>
            <a:off x="713232" y="2907792"/>
            <a:ext cx="420624" cy="420624"/>
          </a:xfrm>
          <a:prstGeom prst="ellipse">
            <a:avLst/>
          </a:prstGeom>
          <a:solidFill>
            <a:srgbClr val="EAF4EF"/>
          </a:solidFill>
          <a:ln/>
        </p:spPr>
      </p:sp>
      <p:pic>
        <p:nvPicPr>
          <p:cNvPr id="16" name="Image 2" descr="preencoded.png">    </p:cNvPr>
          <p:cNvPicPr>
            <a:picLocks noChangeAspect="1"/>
          </p:cNvPicPr>
          <p:nvPr/>
        </p:nvPicPr>
        <p:blipFill>
          <a:blip r:embed="rId3"/>
          <a:stretch>
            <a:fillRect/>
          </a:stretch>
        </p:blipFill>
        <p:spPr>
          <a:xfrm>
            <a:off x="814182" y="3008742"/>
            <a:ext cx="218724" cy="218724"/>
          </a:xfrm>
          <a:prstGeom prst="rect">
            <a:avLst/>
          </a:prstGeom>
        </p:spPr>
      </p:pic>
      <p:sp>
        <p:nvSpPr>
          <p:cNvPr id="17" name="Text 12"/>
          <p:cNvSpPr/>
          <p:nvPr/>
        </p:nvSpPr>
        <p:spPr>
          <a:xfrm>
            <a:off x="1261872" y="2926080"/>
            <a:ext cx="3108960" cy="274320"/>
          </a:xfrm>
          <a:prstGeom prst="rect">
            <a:avLst/>
          </a:prstGeom>
          <a:noFill/>
          <a:ln/>
        </p:spPr>
        <p:txBody>
          <a:bodyPr wrap="square" lIns="0" tIns="0" rIns="0" bIns="0" rtlCol="0" anchor="t"/>
          <a:lstStyle/>
          <a:p>
            <a:pPr indent="0" marL="0">
              <a:buNone/>
            </a:pPr>
            <a:r>
              <a:rPr lang="en-US" sz="1300" b="1" dirty="0">
                <a:solidFill>
                  <a:srgbClr val="163A2C"/>
                </a:solidFill>
                <a:latin typeface="Calibri" pitchFamily="34" charset="0"/>
                <a:ea typeface="Calibri" pitchFamily="34" charset="-122"/>
                <a:cs typeface="Calibri" pitchFamily="34" charset="-120"/>
              </a:rPr>
              <a:t>EF Core + SQL Server</a:t>
            </a:r>
            <a:endParaRPr lang="en-US" sz="1300" dirty="0"/>
          </a:p>
        </p:txBody>
      </p:sp>
      <p:sp>
        <p:nvSpPr>
          <p:cNvPr id="18" name="Text 13"/>
          <p:cNvSpPr/>
          <p:nvPr/>
        </p:nvSpPr>
        <p:spPr>
          <a:xfrm>
            <a:off x="1261872" y="3218688"/>
            <a:ext cx="3108960" cy="777240"/>
          </a:xfrm>
          <a:prstGeom prst="rect">
            <a:avLst/>
          </a:prstGeom>
          <a:noFill/>
          <a:ln/>
        </p:spPr>
        <p:txBody>
          <a:bodyPr wrap="square" lIns="0" tIns="0" rIns="0" bIns="0" rtlCol="0" anchor="t"/>
          <a:lstStyle/>
          <a:p>
            <a:pPr indent="0" marL="0">
              <a:buNone/>
            </a:pPr>
            <a:r>
              <a:rPr lang="en-US" sz="950" dirty="0">
                <a:solidFill>
                  <a:srgbClr val="6B7F74"/>
                </a:solidFill>
                <a:latin typeface="Calibri" pitchFamily="34" charset="0"/>
                <a:ea typeface="Calibri" pitchFamily="34" charset="-122"/>
                <a:cs typeface="Calibri" pitchFamily="34" charset="-120"/>
              </a:rPr>
              <a:t>code-first entities and migrations; relationships configured in the DbContext; fully asynchronous queries and updates.</a:t>
            </a:r>
            <a:endParaRPr lang="en-US" sz="950" dirty="0"/>
          </a:p>
        </p:txBody>
      </p:sp>
      <p:sp>
        <p:nvSpPr>
          <p:cNvPr id="19" name="Shape 14"/>
          <p:cNvSpPr/>
          <p:nvPr/>
        </p:nvSpPr>
        <p:spPr>
          <a:xfrm>
            <a:off x="4709160" y="2761488"/>
            <a:ext cx="3977640" cy="1298448"/>
          </a:xfrm>
          <a:prstGeom prst="roundRect">
            <a:avLst>
              <a:gd name="adj" fmla="val 7042"/>
            </a:avLst>
          </a:prstGeom>
          <a:solidFill>
            <a:srgbClr val="FFFFFF"/>
          </a:solidFill>
          <a:ln w="12700">
            <a:solidFill>
              <a:srgbClr val="D8E6DE"/>
            </a:solidFill>
            <a:prstDash val="solid"/>
          </a:ln>
          <a:effectLst>
            <a:outerShdw sx="100000" sy="100000" kx="0" ky="0" algn="bl" rotWithShape="0" blurRad="88900" dist="25400" dir="2700000">
              <a:srgbClr val="1B2A23">
                <a:alpha val="14000"/>
              </a:srgbClr>
            </a:outerShdw>
          </a:effectLst>
        </p:spPr>
      </p:sp>
      <p:sp>
        <p:nvSpPr>
          <p:cNvPr id="20" name="Shape 15"/>
          <p:cNvSpPr/>
          <p:nvPr/>
        </p:nvSpPr>
        <p:spPr>
          <a:xfrm>
            <a:off x="4873752" y="2907792"/>
            <a:ext cx="420624" cy="420624"/>
          </a:xfrm>
          <a:prstGeom prst="ellipse">
            <a:avLst/>
          </a:prstGeom>
          <a:solidFill>
            <a:srgbClr val="EAF4EF"/>
          </a:solidFill>
          <a:ln/>
        </p:spPr>
      </p:sp>
      <p:pic>
        <p:nvPicPr>
          <p:cNvPr id="21" name="Image 3" descr="preencoded.png">    </p:cNvPr>
          <p:cNvPicPr>
            <a:picLocks noChangeAspect="1"/>
          </p:cNvPicPr>
          <p:nvPr/>
        </p:nvPicPr>
        <p:blipFill>
          <a:blip r:embed="rId4"/>
          <a:stretch>
            <a:fillRect/>
          </a:stretch>
        </p:blipFill>
        <p:spPr>
          <a:xfrm>
            <a:off x="4974702" y="3008742"/>
            <a:ext cx="218724" cy="218724"/>
          </a:xfrm>
          <a:prstGeom prst="rect">
            <a:avLst/>
          </a:prstGeom>
        </p:spPr>
      </p:pic>
      <p:sp>
        <p:nvSpPr>
          <p:cNvPr id="22" name="Text 16"/>
          <p:cNvSpPr/>
          <p:nvPr/>
        </p:nvSpPr>
        <p:spPr>
          <a:xfrm>
            <a:off x="5422392" y="2926080"/>
            <a:ext cx="3108960" cy="274320"/>
          </a:xfrm>
          <a:prstGeom prst="rect">
            <a:avLst/>
          </a:prstGeom>
          <a:noFill/>
          <a:ln/>
        </p:spPr>
        <p:txBody>
          <a:bodyPr wrap="square" lIns="0" tIns="0" rIns="0" bIns="0" rtlCol="0" anchor="t"/>
          <a:lstStyle/>
          <a:p>
            <a:pPr indent="0" marL="0">
              <a:buNone/>
            </a:pPr>
            <a:r>
              <a:rPr lang="en-US" sz="1300" b="1" dirty="0">
                <a:solidFill>
                  <a:srgbClr val="163A2C"/>
                </a:solidFill>
                <a:latin typeface="Calibri" pitchFamily="34" charset="0"/>
                <a:ea typeface="Calibri" pitchFamily="34" charset="-122"/>
                <a:cs typeface="Calibri" pitchFamily="34" charset="-120"/>
              </a:rPr>
              <a:t>ASP.NET Core Identity</a:t>
            </a:r>
            <a:endParaRPr lang="en-US" sz="1300" dirty="0"/>
          </a:p>
        </p:txBody>
      </p:sp>
      <p:sp>
        <p:nvSpPr>
          <p:cNvPr id="23" name="Text 17"/>
          <p:cNvSpPr/>
          <p:nvPr/>
        </p:nvSpPr>
        <p:spPr>
          <a:xfrm>
            <a:off x="5422392" y="3218688"/>
            <a:ext cx="3108960" cy="777240"/>
          </a:xfrm>
          <a:prstGeom prst="rect">
            <a:avLst/>
          </a:prstGeom>
          <a:noFill/>
          <a:ln/>
        </p:spPr>
        <p:txBody>
          <a:bodyPr wrap="square" lIns="0" tIns="0" rIns="0" bIns="0" rtlCol="0" anchor="t"/>
          <a:lstStyle/>
          <a:p>
            <a:pPr indent="0" marL="0">
              <a:buNone/>
            </a:pPr>
            <a:r>
              <a:rPr lang="en-US" sz="950" dirty="0">
                <a:solidFill>
                  <a:srgbClr val="6B7F74"/>
                </a:solidFill>
                <a:latin typeface="Calibri" pitchFamily="34" charset="0"/>
                <a:ea typeface="Calibri" pitchFamily="34" charset="-122"/>
                <a:cs typeface="Calibri" pitchFamily="34" charset="-120"/>
              </a:rPr>
              <a:t>registration and login with access tokens; Admin and User roles seeded at startup; role-based authorization on the API.</a:t>
            </a:r>
            <a:endParaRPr lang="en-US" sz="950" dirty="0"/>
          </a:p>
        </p:txBody>
      </p:sp>
      <p:sp>
        <p:nvSpPr>
          <p:cNvPr id="24" name="Shape 18"/>
          <p:cNvSpPr/>
          <p:nvPr/>
        </p:nvSpPr>
        <p:spPr>
          <a:xfrm>
            <a:off x="548640" y="4343400"/>
            <a:ext cx="8046720" cy="475488"/>
          </a:xfrm>
          <a:prstGeom prst="roundRect">
            <a:avLst>
              <a:gd name="adj" fmla="val 17308"/>
            </a:avLst>
          </a:prstGeom>
          <a:solidFill>
            <a:srgbClr val="EAF4EF"/>
          </a:solidFill>
          <a:ln/>
        </p:spPr>
      </p:sp>
      <p:sp>
        <p:nvSpPr>
          <p:cNvPr id="25" name="Text 19"/>
          <p:cNvSpPr/>
          <p:nvPr/>
        </p:nvSpPr>
        <p:spPr>
          <a:xfrm>
            <a:off x="777240" y="4343400"/>
            <a:ext cx="7680960" cy="475488"/>
          </a:xfrm>
          <a:prstGeom prst="rect">
            <a:avLst/>
          </a:prstGeom>
          <a:noFill/>
          <a:ln/>
        </p:spPr>
        <p:txBody>
          <a:bodyPr wrap="square" lIns="0" tIns="0" rIns="0" bIns="0" rtlCol="0" anchor="ctr"/>
          <a:lstStyle/>
          <a:p>
            <a:pPr indent="0" marL="0">
              <a:buNone/>
            </a:pPr>
            <a:r>
              <a:rPr lang="en-US" sz="1100" b="1" dirty="0">
                <a:solidFill>
                  <a:srgbClr val="163A2C"/>
                </a:solidFill>
                <a:latin typeface="Calibri" pitchFamily="34" charset="0"/>
                <a:ea typeface="Calibri" pitchFamily="34" charset="-122"/>
                <a:cs typeface="Calibri" pitchFamily="34" charset="-120"/>
              </a:rPr>
              <a:t>One language, one stack:  </a:t>
            </a:r>
            <a:pPr indent="0" marL="0">
              <a:buNone/>
            </a:pPr>
            <a:r>
              <a:rPr lang="en-US" sz="1100" dirty="0">
                <a:solidFill>
                  <a:srgbClr val="22332B"/>
                </a:solidFill>
                <a:latin typeface="Calibri" pitchFamily="34" charset="0"/>
                <a:ea typeface="Calibri" pitchFamily="34" charset="-122"/>
                <a:cs typeface="Calibri" pitchFamily="34" charset="-120"/>
              </a:rPr>
              <a:t>C# end to end — the Blazor client talks to the Web API over HTTP + JSON with a Bearer access token.</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8046720" cy="274320"/>
          </a:xfrm>
          <a:prstGeom prst="rect">
            <a:avLst/>
          </a:prstGeom>
          <a:noFill/>
          <a:ln/>
        </p:spPr>
        <p:txBody>
          <a:bodyPr wrap="square" lIns="0" tIns="0" rIns="0" bIns="0" rtlCol="0" anchor="ctr"/>
          <a:lstStyle/>
          <a:p>
            <a:pPr indent="0" marL="0">
              <a:buNone/>
            </a:pPr>
            <a:r>
              <a:rPr lang="en-US" sz="1100" b="1" spc="200" kern="0" dirty="0">
                <a:solidFill>
                  <a:srgbClr val="E76F51"/>
                </a:solidFill>
                <a:latin typeface="Calibri" pitchFamily="34" charset="0"/>
                <a:ea typeface="Calibri" pitchFamily="34" charset="-122"/>
                <a:cs typeface="Calibri" pitchFamily="34" charset="-120"/>
              </a:rPr>
              <a:t>SEPARATION OF CONCERNS</a:t>
            </a:r>
            <a:endParaRPr lang="en-US" sz="1100" dirty="0"/>
          </a:p>
        </p:txBody>
      </p:sp>
      <p:sp>
        <p:nvSpPr>
          <p:cNvPr id="3" name="Text 1"/>
          <p:cNvSpPr/>
          <p:nvPr/>
        </p:nvSpPr>
        <p:spPr>
          <a:xfrm>
            <a:off x="548640" y="493776"/>
            <a:ext cx="8046720" cy="566928"/>
          </a:xfrm>
          <a:prstGeom prst="rect">
            <a:avLst/>
          </a:prstGeom>
          <a:noFill/>
          <a:ln/>
        </p:spPr>
        <p:txBody>
          <a:bodyPr wrap="square" lIns="0" tIns="0" rIns="0" bIns="0" rtlCol="0" anchor="ctr"/>
          <a:lstStyle/>
          <a:p>
            <a:pPr indent="0" marL="0">
              <a:buNone/>
            </a:pPr>
            <a:r>
              <a:rPr lang="en-US" sz="3000" b="1" dirty="0">
                <a:solidFill>
                  <a:srgbClr val="163A2C"/>
                </a:solidFill>
                <a:latin typeface="Calibri" pitchFamily="34" charset="0"/>
                <a:ea typeface="Calibri" pitchFamily="34" charset="-122"/>
                <a:cs typeface="Calibri" pitchFamily="34" charset="-120"/>
              </a:rPr>
              <a:t>System Architecture</a:t>
            </a:r>
            <a:endParaRPr lang="en-US" sz="3000" dirty="0"/>
          </a:p>
        </p:txBody>
      </p:sp>
      <p:sp>
        <p:nvSpPr>
          <p:cNvPr id="4" name="Shape 2"/>
          <p:cNvSpPr/>
          <p:nvPr/>
        </p:nvSpPr>
        <p:spPr>
          <a:xfrm>
            <a:off x="548640" y="1225296"/>
            <a:ext cx="4663440" cy="402336"/>
          </a:xfrm>
          <a:prstGeom prst="roundRect">
            <a:avLst>
              <a:gd name="adj" fmla="val 15909"/>
            </a:avLst>
          </a:prstGeom>
          <a:solidFill>
            <a:srgbClr val="FFFFFF"/>
          </a:solidFill>
          <a:ln w="12700">
            <a:solidFill>
              <a:srgbClr val="D8E6DE"/>
            </a:solidFill>
            <a:prstDash val="solid"/>
          </a:ln>
        </p:spPr>
      </p:sp>
      <p:pic>
        <p:nvPicPr>
          <p:cNvPr id="5" name="Image 0" descr="preencoded.png">    </p:cNvPr>
          <p:cNvPicPr>
            <a:picLocks noChangeAspect="1"/>
          </p:cNvPicPr>
          <p:nvPr/>
        </p:nvPicPr>
        <p:blipFill>
          <a:blip r:embed="rId1"/>
          <a:stretch>
            <a:fillRect/>
          </a:stretch>
        </p:blipFill>
        <p:spPr>
          <a:xfrm>
            <a:off x="713232" y="1325880"/>
            <a:ext cx="201168" cy="201168"/>
          </a:xfrm>
          <a:prstGeom prst="rect">
            <a:avLst/>
          </a:prstGeom>
        </p:spPr>
      </p:pic>
      <p:sp>
        <p:nvSpPr>
          <p:cNvPr id="6" name="Text 3"/>
          <p:cNvSpPr/>
          <p:nvPr/>
        </p:nvSpPr>
        <p:spPr>
          <a:xfrm>
            <a:off x="1024128" y="1225296"/>
            <a:ext cx="4114800" cy="402336"/>
          </a:xfrm>
          <a:prstGeom prst="rect">
            <a:avLst/>
          </a:prstGeom>
          <a:noFill/>
          <a:ln/>
        </p:spPr>
        <p:txBody>
          <a:bodyPr wrap="square" lIns="0" tIns="0" rIns="0" bIns="0" rtlCol="0" anchor="ctr"/>
          <a:lstStyle/>
          <a:p>
            <a:pPr indent="0" marL="0">
              <a:buNone/>
            </a:pPr>
            <a:r>
              <a:rPr lang="en-US" sz="1050" b="1" dirty="0">
                <a:solidFill>
                  <a:srgbClr val="22332B"/>
                </a:solidFill>
                <a:latin typeface="Calibri" pitchFamily="34" charset="0"/>
                <a:ea typeface="Calibri" pitchFamily="34" charset="-122"/>
                <a:cs typeface="Calibri" pitchFamily="34" charset="-120"/>
              </a:rPr>
              <a:t>User Browser</a:t>
            </a:r>
            <a:endParaRPr lang="en-US" sz="1050" dirty="0"/>
          </a:p>
        </p:txBody>
      </p:sp>
      <p:sp>
        <p:nvSpPr>
          <p:cNvPr id="7" name="Shape 4"/>
          <p:cNvSpPr/>
          <p:nvPr/>
        </p:nvSpPr>
        <p:spPr>
          <a:xfrm>
            <a:off x="2880360" y="1627632"/>
            <a:ext cx="0" cy="123444"/>
          </a:xfrm>
          <a:prstGeom prst="line">
            <a:avLst/>
          </a:prstGeom>
          <a:noFill/>
          <a:ln w="22225">
            <a:solidFill>
              <a:srgbClr val="2D6A4F"/>
            </a:solidFill>
            <a:prstDash val="solid"/>
            <a:tailEnd type="triangle"/>
          </a:ln>
        </p:spPr>
      </p:sp>
      <p:sp>
        <p:nvSpPr>
          <p:cNvPr id="8" name="Shape 5"/>
          <p:cNvSpPr/>
          <p:nvPr/>
        </p:nvSpPr>
        <p:spPr>
          <a:xfrm>
            <a:off x="548640" y="1751076"/>
            <a:ext cx="4663440" cy="402336"/>
          </a:xfrm>
          <a:prstGeom prst="roundRect">
            <a:avLst>
              <a:gd name="adj" fmla="val 15909"/>
            </a:avLst>
          </a:prstGeom>
          <a:solidFill>
            <a:srgbClr val="EAF4EF"/>
          </a:solidFill>
          <a:ln/>
        </p:spPr>
      </p:sp>
      <p:pic>
        <p:nvPicPr>
          <p:cNvPr id="9" name="Image 1" descr="preencoded.png">    </p:cNvPr>
          <p:cNvPicPr>
            <a:picLocks noChangeAspect="1"/>
          </p:cNvPicPr>
          <p:nvPr/>
        </p:nvPicPr>
        <p:blipFill>
          <a:blip r:embed="rId2"/>
          <a:stretch>
            <a:fillRect/>
          </a:stretch>
        </p:blipFill>
        <p:spPr>
          <a:xfrm>
            <a:off x="713232" y="1851660"/>
            <a:ext cx="201168" cy="201168"/>
          </a:xfrm>
          <a:prstGeom prst="rect">
            <a:avLst/>
          </a:prstGeom>
        </p:spPr>
      </p:pic>
      <p:sp>
        <p:nvSpPr>
          <p:cNvPr id="10" name="Text 6"/>
          <p:cNvSpPr/>
          <p:nvPr/>
        </p:nvSpPr>
        <p:spPr>
          <a:xfrm>
            <a:off x="1024128" y="1751076"/>
            <a:ext cx="4114800" cy="402336"/>
          </a:xfrm>
          <a:prstGeom prst="rect">
            <a:avLst/>
          </a:prstGeom>
          <a:noFill/>
          <a:ln/>
        </p:spPr>
        <p:txBody>
          <a:bodyPr wrap="square" lIns="0" tIns="0" rIns="0" bIns="0" rtlCol="0" anchor="ctr"/>
          <a:lstStyle/>
          <a:p>
            <a:pPr indent="0" marL="0">
              <a:buNone/>
            </a:pPr>
            <a:r>
              <a:rPr lang="en-US" sz="1050" b="1" dirty="0">
                <a:solidFill>
                  <a:srgbClr val="163A2C"/>
                </a:solidFill>
                <a:latin typeface="Calibri" pitchFamily="34" charset="0"/>
                <a:ea typeface="Calibri" pitchFamily="34" charset="-122"/>
                <a:cs typeface="Calibri" pitchFamily="34" charset="-120"/>
              </a:rPr>
              <a:t>Blazor Interactive Server UI — Razor components</a:t>
            </a:r>
            <a:endParaRPr lang="en-US" sz="1050" dirty="0"/>
          </a:p>
        </p:txBody>
      </p:sp>
      <p:sp>
        <p:nvSpPr>
          <p:cNvPr id="11" name="Shape 7"/>
          <p:cNvSpPr/>
          <p:nvPr/>
        </p:nvSpPr>
        <p:spPr>
          <a:xfrm>
            <a:off x="2880360" y="2153412"/>
            <a:ext cx="0" cy="123444"/>
          </a:xfrm>
          <a:prstGeom prst="line">
            <a:avLst/>
          </a:prstGeom>
          <a:noFill/>
          <a:ln w="22225">
            <a:solidFill>
              <a:srgbClr val="2D6A4F"/>
            </a:solidFill>
            <a:prstDash val="solid"/>
            <a:tailEnd type="triangle"/>
          </a:ln>
        </p:spPr>
      </p:sp>
      <p:sp>
        <p:nvSpPr>
          <p:cNvPr id="12" name="Shape 8"/>
          <p:cNvSpPr/>
          <p:nvPr/>
        </p:nvSpPr>
        <p:spPr>
          <a:xfrm>
            <a:off x="548640" y="2276856"/>
            <a:ext cx="4663440" cy="402336"/>
          </a:xfrm>
          <a:prstGeom prst="roundRect">
            <a:avLst>
              <a:gd name="adj" fmla="val 15909"/>
            </a:avLst>
          </a:prstGeom>
          <a:solidFill>
            <a:srgbClr val="EAF4EF"/>
          </a:solidFill>
          <a:ln/>
        </p:spPr>
      </p:sp>
      <p:pic>
        <p:nvPicPr>
          <p:cNvPr id="13" name="Image 2" descr="preencoded.png">    </p:cNvPr>
          <p:cNvPicPr>
            <a:picLocks noChangeAspect="1"/>
          </p:cNvPicPr>
          <p:nvPr/>
        </p:nvPicPr>
        <p:blipFill>
          <a:blip r:embed="rId3"/>
          <a:stretch>
            <a:fillRect/>
          </a:stretch>
        </p:blipFill>
        <p:spPr>
          <a:xfrm>
            <a:off x="713232" y="2377440"/>
            <a:ext cx="201168" cy="201168"/>
          </a:xfrm>
          <a:prstGeom prst="rect">
            <a:avLst/>
          </a:prstGeom>
        </p:spPr>
      </p:pic>
      <p:sp>
        <p:nvSpPr>
          <p:cNvPr id="14" name="Text 9"/>
          <p:cNvSpPr/>
          <p:nvPr/>
        </p:nvSpPr>
        <p:spPr>
          <a:xfrm>
            <a:off x="1024128" y="2276856"/>
            <a:ext cx="4114800" cy="402336"/>
          </a:xfrm>
          <a:prstGeom prst="rect">
            <a:avLst/>
          </a:prstGeom>
          <a:noFill/>
          <a:ln/>
        </p:spPr>
        <p:txBody>
          <a:bodyPr wrap="square" lIns="0" tIns="0" rIns="0" bIns="0" rtlCol="0" anchor="ctr"/>
          <a:lstStyle/>
          <a:p>
            <a:pPr indent="0" marL="0">
              <a:buNone/>
            </a:pPr>
            <a:r>
              <a:rPr lang="en-US" sz="1050" b="1" dirty="0">
                <a:solidFill>
                  <a:srgbClr val="163A2C"/>
                </a:solidFill>
                <a:latin typeface="Calibri" pitchFamily="34" charset="0"/>
                <a:ea typeface="Calibri" pitchFamily="34" charset="-122"/>
                <a:cs typeface="Calibri" pitchFamily="34" charset="-120"/>
              </a:rPr>
              <a:t>Frontend services — BusinessService · PackageService · AuthService</a:t>
            </a:r>
            <a:endParaRPr lang="en-US" sz="1050" dirty="0"/>
          </a:p>
        </p:txBody>
      </p:sp>
      <p:sp>
        <p:nvSpPr>
          <p:cNvPr id="15" name="Shape 10"/>
          <p:cNvSpPr/>
          <p:nvPr/>
        </p:nvSpPr>
        <p:spPr>
          <a:xfrm>
            <a:off x="2880360" y="2679192"/>
            <a:ext cx="0" cy="123444"/>
          </a:xfrm>
          <a:prstGeom prst="line">
            <a:avLst/>
          </a:prstGeom>
          <a:noFill/>
          <a:ln w="22225">
            <a:solidFill>
              <a:srgbClr val="2D6A4F"/>
            </a:solidFill>
            <a:prstDash val="solid"/>
            <a:tailEnd type="triangle"/>
          </a:ln>
        </p:spPr>
      </p:sp>
      <p:sp>
        <p:nvSpPr>
          <p:cNvPr id="16" name="Shape 11"/>
          <p:cNvSpPr/>
          <p:nvPr/>
        </p:nvSpPr>
        <p:spPr>
          <a:xfrm>
            <a:off x="548640" y="2802636"/>
            <a:ext cx="4663440" cy="402336"/>
          </a:xfrm>
          <a:prstGeom prst="roundRect">
            <a:avLst>
              <a:gd name="adj" fmla="val 15909"/>
            </a:avLst>
          </a:prstGeom>
          <a:solidFill>
            <a:srgbClr val="DDEFE4"/>
          </a:solidFill>
          <a:ln/>
        </p:spPr>
      </p:sp>
      <p:pic>
        <p:nvPicPr>
          <p:cNvPr id="17" name="Image 3" descr="preencoded.png">    </p:cNvPr>
          <p:cNvPicPr>
            <a:picLocks noChangeAspect="1"/>
          </p:cNvPicPr>
          <p:nvPr/>
        </p:nvPicPr>
        <p:blipFill>
          <a:blip r:embed="rId4"/>
          <a:stretch>
            <a:fillRect/>
          </a:stretch>
        </p:blipFill>
        <p:spPr>
          <a:xfrm>
            <a:off x="713232" y="2903220"/>
            <a:ext cx="201168" cy="201168"/>
          </a:xfrm>
          <a:prstGeom prst="rect">
            <a:avLst/>
          </a:prstGeom>
        </p:spPr>
      </p:pic>
      <p:sp>
        <p:nvSpPr>
          <p:cNvPr id="18" name="Text 12"/>
          <p:cNvSpPr/>
          <p:nvPr/>
        </p:nvSpPr>
        <p:spPr>
          <a:xfrm>
            <a:off x="1024128" y="2802636"/>
            <a:ext cx="4114800" cy="402336"/>
          </a:xfrm>
          <a:prstGeom prst="rect">
            <a:avLst/>
          </a:prstGeom>
          <a:noFill/>
          <a:ln/>
        </p:spPr>
        <p:txBody>
          <a:bodyPr wrap="square" lIns="0" tIns="0" rIns="0" bIns="0" rtlCol="0" anchor="ctr"/>
          <a:lstStyle/>
          <a:p>
            <a:pPr indent="0" marL="0">
              <a:buNone/>
            </a:pPr>
            <a:r>
              <a:rPr lang="en-US" sz="1050" b="1" dirty="0">
                <a:solidFill>
                  <a:srgbClr val="163A2C"/>
                </a:solidFill>
                <a:latin typeface="Calibri" pitchFamily="34" charset="0"/>
                <a:ea typeface="Calibri" pitchFamily="34" charset="-122"/>
                <a:cs typeface="Calibri" pitchFamily="34" charset="-120"/>
              </a:rPr>
              <a:t>ASP.NET Core Web API — REST controllers + Identity</a:t>
            </a:r>
            <a:endParaRPr lang="en-US" sz="1050" dirty="0"/>
          </a:p>
        </p:txBody>
      </p:sp>
      <p:sp>
        <p:nvSpPr>
          <p:cNvPr id="19" name="Shape 13"/>
          <p:cNvSpPr/>
          <p:nvPr/>
        </p:nvSpPr>
        <p:spPr>
          <a:xfrm>
            <a:off x="2880360" y="3204972"/>
            <a:ext cx="0" cy="123444"/>
          </a:xfrm>
          <a:prstGeom prst="line">
            <a:avLst/>
          </a:prstGeom>
          <a:noFill/>
          <a:ln w="22225">
            <a:solidFill>
              <a:srgbClr val="2D6A4F"/>
            </a:solidFill>
            <a:prstDash val="solid"/>
            <a:tailEnd type="triangle"/>
          </a:ln>
        </p:spPr>
      </p:sp>
      <p:sp>
        <p:nvSpPr>
          <p:cNvPr id="20" name="Shape 14"/>
          <p:cNvSpPr/>
          <p:nvPr/>
        </p:nvSpPr>
        <p:spPr>
          <a:xfrm>
            <a:off x="548640" y="3328416"/>
            <a:ext cx="4663440" cy="402336"/>
          </a:xfrm>
          <a:prstGeom prst="roundRect">
            <a:avLst>
              <a:gd name="adj" fmla="val 15909"/>
            </a:avLst>
          </a:prstGeom>
          <a:solidFill>
            <a:srgbClr val="DDEFE4"/>
          </a:solidFill>
          <a:ln/>
        </p:spPr>
      </p:sp>
      <p:pic>
        <p:nvPicPr>
          <p:cNvPr id="21" name="Image 4" descr="preencoded.png">    </p:cNvPr>
          <p:cNvPicPr>
            <a:picLocks noChangeAspect="1"/>
          </p:cNvPicPr>
          <p:nvPr/>
        </p:nvPicPr>
        <p:blipFill>
          <a:blip r:embed="rId5"/>
          <a:stretch>
            <a:fillRect/>
          </a:stretch>
        </p:blipFill>
        <p:spPr>
          <a:xfrm>
            <a:off x="713232" y="3429000"/>
            <a:ext cx="201168" cy="201168"/>
          </a:xfrm>
          <a:prstGeom prst="rect">
            <a:avLst/>
          </a:prstGeom>
        </p:spPr>
      </p:pic>
      <p:sp>
        <p:nvSpPr>
          <p:cNvPr id="22" name="Text 15"/>
          <p:cNvSpPr/>
          <p:nvPr/>
        </p:nvSpPr>
        <p:spPr>
          <a:xfrm>
            <a:off x="1024128" y="3328416"/>
            <a:ext cx="4114800" cy="402336"/>
          </a:xfrm>
          <a:prstGeom prst="rect">
            <a:avLst/>
          </a:prstGeom>
          <a:noFill/>
          <a:ln/>
        </p:spPr>
        <p:txBody>
          <a:bodyPr wrap="square" lIns="0" tIns="0" rIns="0" bIns="0" rtlCol="0" anchor="ctr"/>
          <a:lstStyle/>
          <a:p>
            <a:pPr indent="0" marL="0">
              <a:buNone/>
            </a:pPr>
            <a:r>
              <a:rPr lang="en-US" sz="1050" b="1" dirty="0">
                <a:solidFill>
                  <a:srgbClr val="163A2C"/>
                </a:solidFill>
                <a:latin typeface="Calibri" pitchFamily="34" charset="0"/>
                <a:ea typeface="Calibri" pitchFamily="34" charset="-122"/>
                <a:cs typeface="Calibri" pitchFamily="34" charset="-120"/>
              </a:rPr>
              <a:t>DTOs — the API contract between client and server</a:t>
            </a:r>
            <a:endParaRPr lang="en-US" sz="1050" dirty="0"/>
          </a:p>
        </p:txBody>
      </p:sp>
      <p:sp>
        <p:nvSpPr>
          <p:cNvPr id="23" name="Shape 16"/>
          <p:cNvSpPr/>
          <p:nvPr/>
        </p:nvSpPr>
        <p:spPr>
          <a:xfrm>
            <a:off x="2880360" y="3730752"/>
            <a:ext cx="0" cy="123444"/>
          </a:xfrm>
          <a:prstGeom prst="line">
            <a:avLst/>
          </a:prstGeom>
          <a:noFill/>
          <a:ln w="22225">
            <a:solidFill>
              <a:srgbClr val="2D6A4F"/>
            </a:solidFill>
            <a:prstDash val="solid"/>
            <a:tailEnd type="triangle"/>
          </a:ln>
        </p:spPr>
      </p:sp>
      <p:sp>
        <p:nvSpPr>
          <p:cNvPr id="24" name="Shape 17"/>
          <p:cNvSpPr/>
          <p:nvPr/>
        </p:nvSpPr>
        <p:spPr>
          <a:xfrm>
            <a:off x="548640" y="3854196"/>
            <a:ext cx="4663440" cy="402336"/>
          </a:xfrm>
          <a:prstGeom prst="roundRect">
            <a:avLst>
              <a:gd name="adj" fmla="val 15909"/>
            </a:avLst>
          </a:prstGeom>
          <a:solidFill>
            <a:srgbClr val="CDE7D8"/>
          </a:solidFill>
          <a:ln/>
        </p:spPr>
      </p:sp>
      <p:pic>
        <p:nvPicPr>
          <p:cNvPr id="25" name="Image 5" descr="preencoded.png">    </p:cNvPr>
          <p:cNvPicPr>
            <a:picLocks noChangeAspect="1"/>
          </p:cNvPicPr>
          <p:nvPr/>
        </p:nvPicPr>
        <p:blipFill>
          <a:blip r:embed="rId6"/>
          <a:stretch>
            <a:fillRect/>
          </a:stretch>
        </p:blipFill>
        <p:spPr>
          <a:xfrm>
            <a:off x="713232" y="3954780"/>
            <a:ext cx="201168" cy="201168"/>
          </a:xfrm>
          <a:prstGeom prst="rect">
            <a:avLst/>
          </a:prstGeom>
        </p:spPr>
      </p:pic>
      <p:sp>
        <p:nvSpPr>
          <p:cNvPr id="26" name="Text 18"/>
          <p:cNvSpPr/>
          <p:nvPr/>
        </p:nvSpPr>
        <p:spPr>
          <a:xfrm>
            <a:off x="1024128" y="3854196"/>
            <a:ext cx="4114800" cy="402336"/>
          </a:xfrm>
          <a:prstGeom prst="rect">
            <a:avLst/>
          </a:prstGeom>
          <a:noFill/>
          <a:ln/>
        </p:spPr>
        <p:txBody>
          <a:bodyPr wrap="square" lIns="0" tIns="0" rIns="0" bIns="0" rtlCol="0" anchor="ctr"/>
          <a:lstStyle/>
          <a:p>
            <a:pPr indent="0" marL="0">
              <a:buNone/>
            </a:pPr>
            <a:r>
              <a:rPr lang="en-US" sz="1050" b="1" dirty="0">
                <a:solidFill>
                  <a:srgbClr val="163A2C"/>
                </a:solidFill>
                <a:latin typeface="Calibri" pitchFamily="34" charset="0"/>
                <a:ea typeface="Calibri" pitchFamily="34" charset="-122"/>
                <a:cs typeface="Calibri" pitchFamily="34" charset="-120"/>
              </a:rPr>
              <a:t>Entity Framework Core — EcoMealDbContext</a:t>
            </a:r>
            <a:endParaRPr lang="en-US" sz="1050" dirty="0"/>
          </a:p>
        </p:txBody>
      </p:sp>
      <p:sp>
        <p:nvSpPr>
          <p:cNvPr id="27" name="Shape 19"/>
          <p:cNvSpPr/>
          <p:nvPr/>
        </p:nvSpPr>
        <p:spPr>
          <a:xfrm>
            <a:off x="2880360" y="4256532"/>
            <a:ext cx="0" cy="123444"/>
          </a:xfrm>
          <a:prstGeom prst="line">
            <a:avLst/>
          </a:prstGeom>
          <a:noFill/>
          <a:ln w="22225">
            <a:solidFill>
              <a:srgbClr val="2D6A4F"/>
            </a:solidFill>
            <a:prstDash val="solid"/>
            <a:tailEnd type="triangle"/>
          </a:ln>
        </p:spPr>
      </p:sp>
      <p:sp>
        <p:nvSpPr>
          <p:cNvPr id="28" name="Shape 20"/>
          <p:cNvSpPr/>
          <p:nvPr/>
        </p:nvSpPr>
        <p:spPr>
          <a:xfrm>
            <a:off x="548640" y="4379976"/>
            <a:ext cx="4663440" cy="402336"/>
          </a:xfrm>
          <a:prstGeom prst="roundRect">
            <a:avLst>
              <a:gd name="adj" fmla="val 15909"/>
            </a:avLst>
          </a:prstGeom>
          <a:solidFill>
            <a:srgbClr val="163A2C"/>
          </a:solidFill>
          <a:ln/>
        </p:spPr>
      </p:sp>
      <p:pic>
        <p:nvPicPr>
          <p:cNvPr id="29" name="Image 6" descr="preencoded.png">    </p:cNvPr>
          <p:cNvPicPr>
            <a:picLocks noChangeAspect="1"/>
          </p:cNvPicPr>
          <p:nvPr/>
        </p:nvPicPr>
        <p:blipFill>
          <a:blip r:embed="rId7"/>
          <a:stretch>
            <a:fillRect/>
          </a:stretch>
        </p:blipFill>
        <p:spPr>
          <a:xfrm>
            <a:off x="713232" y="4480560"/>
            <a:ext cx="201168" cy="201168"/>
          </a:xfrm>
          <a:prstGeom prst="rect">
            <a:avLst/>
          </a:prstGeom>
        </p:spPr>
      </p:pic>
      <p:sp>
        <p:nvSpPr>
          <p:cNvPr id="30" name="Text 21"/>
          <p:cNvSpPr/>
          <p:nvPr/>
        </p:nvSpPr>
        <p:spPr>
          <a:xfrm>
            <a:off x="1024128" y="4379976"/>
            <a:ext cx="4114800" cy="402336"/>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SQL Server database</a:t>
            </a:r>
            <a:endParaRPr lang="en-US" sz="1050" dirty="0"/>
          </a:p>
        </p:txBody>
      </p:sp>
      <p:sp>
        <p:nvSpPr>
          <p:cNvPr id="31" name="Text 22"/>
          <p:cNvSpPr/>
          <p:nvPr/>
        </p:nvSpPr>
        <p:spPr>
          <a:xfrm>
            <a:off x="3108960" y="2697480"/>
            <a:ext cx="2011680" cy="219456"/>
          </a:xfrm>
          <a:prstGeom prst="rect">
            <a:avLst/>
          </a:prstGeom>
          <a:noFill/>
          <a:ln/>
        </p:spPr>
        <p:txBody>
          <a:bodyPr wrap="square" lIns="0" tIns="0" rIns="0" bIns="0" rtlCol="0" anchor="ctr"/>
          <a:lstStyle/>
          <a:p>
            <a:pPr indent="0" marL="0">
              <a:buNone/>
            </a:pPr>
            <a:r>
              <a:rPr lang="en-US" sz="850" b="1" dirty="0">
                <a:solidFill>
                  <a:srgbClr val="E76F51"/>
                </a:solidFill>
                <a:latin typeface="Calibri" pitchFamily="34" charset="0"/>
                <a:ea typeface="Calibri" pitchFamily="34" charset="-122"/>
                <a:cs typeface="Calibri" pitchFamily="34" charset="-120"/>
              </a:rPr>
              <a:t>HTTP + JSON · Bearer token</a:t>
            </a:r>
            <a:endParaRPr lang="en-US" sz="850" dirty="0"/>
          </a:p>
        </p:txBody>
      </p:sp>
      <p:sp>
        <p:nvSpPr>
          <p:cNvPr id="32" name="Shape 23"/>
          <p:cNvSpPr/>
          <p:nvPr/>
        </p:nvSpPr>
        <p:spPr>
          <a:xfrm>
            <a:off x="5532120" y="1225296"/>
            <a:ext cx="3063240" cy="3566160"/>
          </a:xfrm>
          <a:prstGeom prst="roundRect">
            <a:avLst>
              <a:gd name="adj" fmla="val 2985"/>
            </a:avLst>
          </a:prstGeom>
          <a:solidFill>
            <a:srgbClr val="F6F9F7"/>
          </a:solidFill>
          <a:ln/>
        </p:spPr>
      </p:sp>
      <p:sp>
        <p:nvSpPr>
          <p:cNvPr id="33" name="Text 24"/>
          <p:cNvSpPr/>
          <p:nvPr/>
        </p:nvSpPr>
        <p:spPr>
          <a:xfrm>
            <a:off x="5760720" y="1371600"/>
            <a:ext cx="2651760" cy="274320"/>
          </a:xfrm>
          <a:prstGeom prst="rect">
            <a:avLst/>
          </a:prstGeom>
          <a:noFill/>
          <a:ln/>
        </p:spPr>
        <p:txBody>
          <a:bodyPr wrap="square" lIns="0" tIns="0" rIns="0" bIns="0" rtlCol="0" anchor="ctr"/>
          <a:lstStyle/>
          <a:p>
            <a:pPr indent="0" marL="0">
              <a:buNone/>
            </a:pPr>
            <a:r>
              <a:rPr lang="en-US" sz="1250" b="1" dirty="0">
                <a:solidFill>
                  <a:srgbClr val="163A2C"/>
                </a:solidFill>
                <a:latin typeface="Calibri" pitchFamily="34" charset="0"/>
                <a:ea typeface="Calibri" pitchFamily="34" charset="-122"/>
                <a:cs typeface="Calibri" pitchFamily="34" charset="-120"/>
              </a:rPr>
              <a:t>Role of each layer</a:t>
            </a:r>
            <a:endParaRPr lang="en-US" sz="1250" dirty="0"/>
          </a:p>
        </p:txBody>
      </p:sp>
      <p:sp>
        <p:nvSpPr>
          <p:cNvPr id="34" name="Text 25"/>
          <p:cNvSpPr/>
          <p:nvPr/>
        </p:nvSpPr>
        <p:spPr>
          <a:xfrm>
            <a:off x="5760720" y="1737360"/>
            <a:ext cx="2651760" cy="2971800"/>
          </a:xfrm>
          <a:prstGeom prst="rect">
            <a:avLst/>
          </a:prstGeom>
          <a:noFill/>
          <a:ln/>
        </p:spPr>
        <p:txBody>
          <a:bodyPr wrap="square" lIns="0" tIns="0" rIns="0" bIns="0" rtlCol="0" anchor="t"/>
          <a:lstStyle/>
          <a:p>
            <a:pPr indent="0" marL="0">
              <a:lnSpc>
                <a:spcPct val="122000"/>
              </a:lnSpc>
              <a:buNone/>
            </a:pPr>
            <a:r>
              <a:rPr lang="en-US" sz="1050" b="1" dirty="0">
                <a:solidFill>
                  <a:srgbClr val="2D6A4F"/>
                </a:solidFill>
                <a:latin typeface="Calibri" pitchFamily="34" charset="0"/>
                <a:ea typeface="Calibri" pitchFamily="34" charset="-122"/>
                <a:cs typeface="Calibri" pitchFamily="34" charset="-120"/>
              </a:rPr>
              <a:t>Razor components</a:t>
            </a:r>
            <a:pPr indent="0" marL="0">
              <a:lnSpc>
                <a:spcPct val="122000"/>
              </a:lnSpc>
              <a:buNone/>
            </a:pPr>
            <a:r>
              <a:rPr lang="en-US" sz="1050" dirty="0">
                <a:solidFill>
                  <a:srgbClr val="22332B"/>
                </a:solidFill>
                <a:latin typeface="Calibri" pitchFamily="34" charset="0"/>
                <a:ea typeface="Calibri" pitchFamily="34" charset="-122"/>
                <a:cs typeface="Calibri" pitchFamily="34" charset="-120"/>
              </a:rPr>
              <a:t> display data and collect input</a:t>
            </a:r>
            <a:endParaRPr lang="en-US" sz="1050" dirty="0"/>
          </a:p>
          <a:p>
            <a:pPr indent="0" marL="0">
              <a:lnSpc>
                <a:spcPct val="122000"/>
              </a:lnSpc>
              <a:buNone/>
            </a:pPr>
            <a:r>
              <a:rPr lang="en-US" sz="1050" b="1" dirty="0">
                <a:solidFill>
                  <a:srgbClr val="2D6A4F"/>
                </a:solidFill>
                <a:latin typeface="Calibri" pitchFamily="34" charset="0"/>
                <a:ea typeface="Calibri" pitchFamily="34" charset="-122"/>
                <a:cs typeface="Calibri" pitchFamily="34" charset="-120"/>
              </a:rPr>
              <a:t>Frontend services</a:t>
            </a:r>
            <a:pPr indent="0" marL="0">
              <a:lnSpc>
                <a:spcPct val="122000"/>
              </a:lnSpc>
              <a:buNone/>
            </a:pPr>
            <a:r>
              <a:rPr lang="en-US" sz="1050" dirty="0">
                <a:solidFill>
                  <a:srgbClr val="22332B"/>
                </a:solidFill>
                <a:latin typeface="Calibri" pitchFamily="34" charset="0"/>
                <a:ea typeface="Calibri" pitchFamily="34" charset="-122"/>
                <a:cs typeface="Calibri" pitchFamily="34" charset="-120"/>
              </a:rPr>
              <a:t> isolate all HTTP communication</a:t>
            </a:r>
            <a:endParaRPr lang="en-US" sz="1050" dirty="0"/>
          </a:p>
          <a:p>
            <a:pPr indent="0" marL="0">
              <a:lnSpc>
                <a:spcPct val="122000"/>
              </a:lnSpc>
              <a:buNone/>
            </a:pPr>
            <a:r>
              <a:rPr lang="en-US" sz="1050" b="1" dirty="0">
                <a:solidFill>
                  <a:srgbClr val="2D6A4F"/>
                </a:solidFill>
                <a:latin typeface="Calibri" pitchFamily="34" charset="0"/>
                <a:ea typeface="Calibri" pitchFamily="34" charset="-122"/>
                <a:cs typeface="Calibri" pitchFamily="34" charset="-120"/>
              </a:rPr>
              <a:t>Controllers</a:t>
            </a:r>
            <a:pPr indent="0" marL="0">
              <a:lnSpc>
                <a:spcPct val="122000"/>
              </a:lnSpc>
              <a:buNone/>
            </a:pPr>
            <a:r>
              <a:rPr lang="en-US" sz="1050" dirty="0">
                <a:solidFill>
                  <a:srgbClr val="22332B"/>
                </a:solidFill>
                <a:latin typeface="Calibri" pitchFamily="34" charset="0"/>
                <a:ea typeface="Calibri" pitchFamily="34" charset="-122"/>
                <a:cs typeface="Calibri" pitchFamily="34" charset="-120"/>
              </a:rPr>
              <a:t> expose the REST endpoints</a:t>
            </a:r>
            <a:endParaRPr lang="en-US" sz="1050" dirty="0"/>
          </a:p>
          <a:p>
            <a:pPr indent="0" marL="0">
              <a:lnSpc>
                <a:spcPct val="122000"/>
              </a:lnSpc>
              <a:buNone/>
            </a:pPr>
            <a:r>
              <a:rPr lang="en-US" sz="1050" b="1" dirty="0">
                <a:solidFill>
                  <a:srgbClr val="2D6A4F"/>
                </a:solidFill>
                <a:latin typeface="Calibri" pitchFamily="34" charset="0"/>
                <a:ea typeface="Calibri" pitchFamily="34" charset="-122"/>
                <a:cs typeface="Calibri" pitchFamily="34" charset="-120"/>
              </a:rPr>
              <a:t>Identity</a:t>
            </a:r>
            <a:pPr indent="0" marL="0">
              <a:lnSpc>
                <a:spcPct val="122000"/>
              </a:lnSpc>
              <a:buNone/>
            </a:pPr>
            <a:r>
              <a:rPr lang="en-US" sz="1050" dirty="0">
                <a:solidFill>
                  <a:srgbClr val="22332B"/>
                </a:solidFill>
                <a:latin typeface="Calibri" pitchFamily="34" charset="0"/>
                <a:ea typeface="Calibri" pitchFamily="34" charset="-122"/>
                <a:cs typeface="Calibri" pitchFamily="34" charset="-120"/>
              </a:rPr>
              <a:t> authenticates and authorizes</a:t>
            </a:r>
            <a:endParaRPr lang="en-US" sz="1050" dirty="0"/>
          </a:p>
          <a:p>
            <a:pPr indent="0" marL="0">
              <a:lnSpc>
                <a:spcPct val="122000"/>
              </a:lnSpc>
              <a:buNone/>
            </a:pPr>
            <a:r>
              <a:rPr lang="en-US" sz="1050" b="1" dirty="0">
                <a:solidFill>
                  <a:srgbClr val="2D6A4F"/>
                </a:solidFill>
                <a:latin typeface="Calibri" pitchFamily="34" charset="0"/>
                <a:ea typeface="Calibri" pitchFamily="34" charset="-122"/>
                <a:cs typeface="Calibri" pitchFamily="34" charset="-120"/>
              </a:rPr>
              <a:t>DTOs</a:t>
            </a:r>
            <a:pPr indent="0" marL="0">
              <a:lnSpc>
                <a:spcPct val="122000"/>
              </a:lnSpc>
              <a:buNone/>
            </a:pPr>
            <a:r>
              <a:rPr lang="en-US" sz="1050" dirty="0">
                <a:solidFill>
                  <a:srgbClr val="22332B"/>
                </a:solidFill>
                <a:latin typeface="Calibri" pitchFamily="34" charset="0"/>
                <a:ea typeface="Calibri" pitchFamily="34" charset="-122"/>
                <a:cs typeface="Calibri" pitchFamily="34" charset="-120"/>
              </a:rPr>
              <a:t> define the API contract</a:t>
            </a:r>
            <a:endParaRPr lang="en-US" sz="1050" dirty="0"/>
          </a:p>
          <a:p>
            <a:pPr indent="0" marL="0">
              <a:lnSpc>
                <a:spcPct val="122000"/>
              </a:lnSpc>
              <a:buNone/>
            </a:pPr>
            <a:r>
              <a:rPr lang="en-US" sz="1050" b="1" dirty="0">
                <a:solidFill>
                  <a:srgbClr val="2D6A4F"/>
                </a:solidFill>
                <a:latin typeface="Calibri" pitchFamily="34" charset="0"/>
                <a:ea typeface="Calibri" pitchFamily="34" charset="-122"/>
                <a:cs typeface="Calibri" pitchFamily="34" charset="-120"/>
              </a:rPr>
              <a:t>EF Core</a:t>
            </a:r>
            <a:pPr indent="0" marL="0">
              <a:lnSpc>
                <a:spcPct val="122000"/>
              </a:lnSpc>
              <a:buNone/>
            </a:pPr>
            <a:r>
              <a:rPr lang="en-US" sz="1050" dirty="0">
                <a:solidFill>
                  <a:srgbClr val="22332B"/>
                </a:solidFill>
                <a:latin typeface="Calibri" pitchFamily="34" charset="0"/>
                <a:ea typeface="Calibri" pitchFamily="34" charset="-122"/>
                <a:cs typeface="Calibri" pitchFamily="34" charset="-120"/>
              </a:rPr>
              <a:t> runs queries and updates</a:t>
            </a:r>
            <a:endParaRPr lang="en-US" sz="1050" dirty="0"/>
          </a:p>
          <a:p>
            <a:pPr indent="0" marL="0">
              <a:lnSpc>
                <a:spcPct val="122000"/>
              </a:lnSpc>
              <a:buNone/>
            </a:pPr>
            <a:r>
              <a:rPr lang="en-US" sz="1050" b="1" dirty="0">
                <a:solidFill>
                  <a:srgbClr val="2D6A4F"/>
                </a:solidFill>
                <a:latin typeface="Calibri" pitchFamily="34" charset="0"/>
                <a:ea typeface="Calibri" pitchFamily="34" charset="-122"/>
                <a:cs typeface="Calibri" pitchFamily="34" charset="-120"/>
              </a:rPr>
              <a:t>SQL Server</a:t>
            </a:r>
            <a:pPr indent="0" marL="0">
              <a:lnSpc>
                <a:spcPct val="122000"/>
              </a:lnSpc>
              <a:buNone/>
            </a:pPr>
            <a:r>
              <a:rPr lang="en-US" sz="1050" dirty="0">
                <a:solidFill>
                  <a:srgbClr val="22332B"/>
                </a:solidFill>
                <a:latin typeface="Calibri" pitchFamily="34" charset="0"/>
                <a:ea typeface="Calibri" pitchFamily="34" charset="-122"/>
                <a:cs typeface="Calibri" pitchFamily="34" charset="-120"/>
              </a:rPr>
              <a:t> stores the application data</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8046720" cy="274320"/>
          </a:xfrm>
          <a:prstGeom prst="rect">
            <a:avLst/>
          </a:prstGeom>
          <a:noFill/>
          <a:ln/>
        </p:spPr>
        <p:txBody>
          <a:bodyPr wrap="square" lIns="0" tIns="0" rIns="0" bIns="0" rtlCol="0" anchor="ctr"/>
          <a:lstStyle/>
          <a:p>
            <a:pPr indent="0" marL="0">
              <a:buNone/>
            </a:pPr>
            <a:r>
              <a:rPr lang="en-US" sz="1100" b="1" spc="200" kern="0" dirty="0">
                <a:solidFill>
                  <a:srgbClr val="E76F51"/>
                </a:solidFill>
                <a:latin typeface="Calibri" pitchFamily="34" charset="0"/>
                <a:ea typeface="Calibri" pitchFamily="34" charset="-122"/>
                <a:cs typeface="Calibri" pitchFamily="34" charset="-120"/>
              </a:rPr>
              <a:t>FEATURE TOUR · EVERYONE</a:t>
            </a:r>
            <a:endParaRPr lang="en-US" sz="1100" dirty="0"/>
          </a:p>
        </p:txBody>
      </p:sp>
      <p:sp>
        <p:nvSpPr>
          <p:cNvPr id="3" name="Text 1"/>
          <p:cNvSpPr/>
          <p:nvPr/>
        </p:nvSpPr>
        <p:spPr>
          <a:xfrm>
            <a:off x="548640" y="493776"/>
            <a:ext cx="8046720" cy="566928"/>
          </a:xfrm>
          <a:prstGeom prst="rect">
            <a:avLst/>
          </a:prstGeom>
          <a:noFill/>
          <a:ln/>
        </p:spPr>
        <p:txBody>
          <a:bodyPr wrap="square" lIns="0" tIns="0" rIns="0" bIns="0" rtlCol="0" anchor="ctr"/>
          <a:lstStyle/>
          <a:p>
            <a:pPr indent="0" marL="0">
              <a:buNone/>
            </a:pPr>
            <a:r>
              <a:rPr lang="en-US" sz="3000" b="1" dirty="0">
                <a:solidFill>
                  <a:srgbClr val="163A2C"/>
                </a:solidFill>
                <a:latin typeface="Calibri" pitchFamily="34" charset="0"/>
                <a:ea typeface="Calibri" pitchFamily="34" charset="-122"/>
                <a:cs typeface="Calibri" pitchFamily="34" charset="-120"/>
              </a:rPr>
              <a:t>Home — Discover Local Businesses</a:t>
            </a:r>
            <a:endParaRPr lang="en-US" sz="3000" dirty="0"/>
          </a:p>
        </p:txBody>
      </p:sp>
      <p:sp>
        <p:nvSpPr>
          <p:cNvPr id="4" name="Shape 2"/>
          <p:cNvSpPr/>
          <p:nvPr/>
        </p:nvSpPr>
        <p:spPr>
          <a:xfrm>
            <a:off x="3035808" y="1271016"/>
            <a:ext cx="5586984" cy="3070762"/>
          </a:xfrm>
          <a:prstGeom prst="roundRect">
            <a:avLst>
              <a:gd name="adj" fmla="val 1191"/>
            </a:avLst>
          </a:prstGeom>
          <a:solidFill>
            <a:srgbClr val="FFFFFF"/>
          </a:solidFill>
          <a:ln w="12700">
            <a:solidFill>
              <a:srgbClr val="D8E6DE"/>
            </a:solidFill>
            <a:prstDash val="solid"/>
          </a:ln>
          <a:effectLst>
            <a:outerShdw sx="100000" sy="100000" kx="0" ky="0" algn="bl" rotWithShape="0" blurRad="88900" dist="25400" dir="2700000">
              <a:srgbClr val="1B2A23">
                <a:alpha val="14000"/>
              </a:srgbClr>
            </a:outerShdw>
          </a:effectLst>
        </p:spPr>
      </p:sp>
      <p:pic>
        <p:nvPicPr>
          <p:cNvPr id="5" name="Image 0" descr="shots/final/home_anon.png">    </p:cNvPr>
          <p:cNvPicPr>
            <a:picLocks noChangeAspect="1"/>
          </p:cNvPicPr>
          <p:nvPr/>
        </p:nvPicPr>
        <p:blipFill>
          <a:blip r:embed="rId1"/>
          <a:stretch>
            <a:fillRect/>
          </a:stretch>
        </p:blipFill>
        <p:spPr>
          <a:xfrm>
            <a:off x="3063240" y="1298448"/>
            <a:ext cx="5532120" cy="3015898"/>
          </a:xfrm>
          <a:prstGeom prst="rect">
            <a:avLst/>
          </a:prstGeom>
        </p:spPr>
      </p:pic>
      <p:sp>
        <p:nvSpPr>
          <p:cNvPr id="6" name="Shape 3"/>
          <p:cNvSpPr/>
          <p:nvPr/>
        </p:nvSpPr>
        <p:spPr>
          <a:xfrm>
            <a:off x="4730693" y="1252728"/>
            <a:ext cx="2375670" cy="287741"/>
          </a:xfrm>
          <a:prstGeom prst="roundRect">
            <a:avLst>
              <a:gd name="adj" fmla="val 15889"/>
            </a:avLst>
          </a:prstGeom>
          <a:ln w="28575">
            <a:solidFill>
              <a:srgbClr val="E76F51"/>
            </a:solidFill>
            <a:prstDash val="solid"/>
          </a:ln>
        </p:spPr>
      </p:sp>
      <p:sp>
        <p:nvSpPr>
          <p:cNvPr id="7" name="Shape 4"/>
          <p:cNvSpPr/>
          <p:nvPr/>
        </p:nvSpPr>
        <p:spPr>
          <a:xfrm>
            <a:off x="4611821" y="1133856"/>
            <a:ext cx="256032" cy="256032"/>
          </a:xfrm>
          <a:prstGeom prst="ellipse">
            <a:avLst/>
          </a:prstGeom>
          <a:solidFill>
            <a:srgbClr val="E76F51"/>
          </a:solidFill>
          <a:ln/>
        </p:spPr>
      </p:sp>
      <p:sp>
        <p:nvSpPr>
          <p:cNvPr id="8" name="Text 5"/>
          <p:cNvSpPr/>
          <p:nvPr/>
        </p:nvSpPr>
        <p:spPr>
          <a:xfrm>
            <a:off x="4611821" y="1133856"/>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Shape 6"/>
          <p:cNvSpPr/>
          <p:nvPr/>
        </p:nvSpPr>
        <p:spPr>
          <a:xfrm>
            <a:off x="3160284" y="1565025"/>
            <a:ext cx="1510161" cy="296664"/>
          </a:xfrm>
          <a:prstGeom prst="roundRect">
            <a:avLst>
              <a:gd name="adj" fmla="val 15411"/>
            </a:avLst>
          </a:prstGeom>
          <a:ln w="28575">
            <a:solidFill>
              <a:srgbClr val="E76F51"/>
            </a:solidFill>
            <a:prstDash val="solid"/>
          </a:ln>
        </p:spPr>
      </p:sp>
      <p:sp>
        <p:nvSpPr>
          <p:cNvPr id="10" name="Shape 7"/>
          <p:cNvSpPr/>
          <p:nvPr/>
        </p:nvSpPr>
        <p:spPr>
          <a:xfrm>
            <a:off x="3041412" y="1446153"/>
            <a:ext cx="256032" cy="256032"/>
          </a:xfrm>
          <a:prstGeom prst="ellipse">
            <a:avLst/>
          </a:prstGeom>
          <a:solidFill>
            <a:srgbClr val="E76F51"/>
          </a:solidFill>
          <a:ln/>
        </p:spPr>
      </p:sp>
      <p:sp>
        <p:nvSpPr>
          <p:cNvPr id="11" name="Text 8"/>
          <p:cNvSpPr/>
          <p:nvPr/>
        </p:nvSpPr>
        <p:spPr>
          <a:xfrm>
            <a:off x="3041412" y="1446153"/>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Shape 9"/>
          <p:cNvSpPr/>
          <p:nvPr/>
        </p:nvSpPr>
        <p:spPr>
          <a:xfrm>
            <a:off x="3169207" y="1966550"/>
            <a:ext cx="1376319" cy="992640"/>
          </a:xfrm>
          <a:prstGeom prst="roundRect">
            <a:avLst>
              <a:gd name="adj" fmla="val 4606"/>
            </a:avLst>
          </a:prstGeom>
          <a:ln w="28575">
            <a:solidFill>
              <a:srgbClr val="E76F51"/>
            </a:solidFill>
            <a:prstDash val="solid"/>
          </a:ln>
        </p:spPr>
      </p:sp>
      <p:sp>
        <p:nvSpPr>
          <p:cNvPr id="13" name="Shape 10"/>
          <p:cNvSpPr/>
          <p:nvPr/>
        </p:nvSpPr>
        <p:spPr>
          <a:xfrm>
            <a:off x="3050335" y="1847678"/>
            <a:ext cx="256032" cy="256032"/>
          </a:xfrm>
          <a:prstGeom prst="ellipse">
            <a:avLst/>
          </a:prstGeom>
          <a:solidFill>
            <a:srgbClr val="E76F51"/>
          </a:solidFill>
          <a:ln/>
        </p:spPr>
      </p:sp>
      <p:sp>
        <p:nvSpPr>
          <p:cNvPr id="14" name="Text 11"/>
          <p:cNvSpPr/>
          <p:nvPr/>
        </p:nvSpPr>
        <p:spPr>
          <a:xfrm>
            <a:off x="3050335" y="1847678"/>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5" name="Shape 12"/>
          <p:cNvSpPr/>
          <p:nvPr/>
        </p:nvSpPr>
        <p:spPr>
          <a:xfrm>
            <a:off x="548640" y="1389888"/>
            <a:ext cx="237744" cy="237744"/>
          </a:xfrm>
          <a:prstGeom prst="ellipse">
            <a:avLst/>
          </a:prstGeom>
          <a:solidFill>
            <a:srgbClr val="E76F51"/>
          </a:solidFill>
          <a:ln/>
        </p:spPr>
      </p:sp>
      <p:sp>
        <p:nvSpPr>
          <p:cNvPr id="16" name="Text 13"/>
          <p:cNvSpPr/>
          <p:nvPr/>
        </p:nvSpPr>
        <p:spPr>
          <a:xfrm>
            <a:off x="548640" y="1389888"/>
            <a:ext cx="237744" cy="23774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17" name="Text 14"/>
          <p:cNvSpPr/>
          <p:nvPr/>
        </p:nvSpPr>
        <p:spPr>
          <a:xfrm>
            <a:off x="896112" y="1371600"/>
            <a:ext cx="1984248" cy="777240"/>
          </a:xfrm>
          <a:prstGeom prst="rect">
            <a:avLst/>
          </a:prstGeom>
          <a:noFill/>
          <a:ln/>
        </p:spPr>
        <p:txBody>
          <a:bodyPr wrap="square" lIns="0" tIns="0" rIns="0" bIns="0" rtlCol="0" anchor="t"/>
          <a:lstStyle/>
          <a:p>
            <a:pPr indent="0" marL="0">
              <a:buNone/>
            </a:pPr>
            <a:r>
              <a:rPr lang="en-US" sz="1050" b="1" dirty="0">
                <a:solidFill>
                  <a:srgbClr val="22332B"/>
                </a:solidFill>
                <a:latin typeface="Calibri" pitchFamily="34" charset="0"/>
                <a:ea typeface="Calibri" pitchFamily="34" charset="-122"/>
                <a:cs typeface="Calibri" pitchFamily="34" charset="-120"/>
              </a:rPr>
              <a:t>Search bar — </a:t>
            </a:r>
            <a:pPr indent="0" marL="0">
              <a:buNone/>
            </a:pPr>
            <a:r>
              <a:rPr lang="en-US" sz="1050" dirty="0">
                <a:solidFill>
                  <a:srgbClr val="6B7F74"/>
                </a:solidFill>
                <a:latin typeface="Calibri" pitchFamily="34" charset="0"/>
                <a:ea typeface="Calibri" pitchFamily="34" charset="-122"/>
                <a:cs typeface="Calibri" pitchFamily="34" charset="-120"/>
              </a:rPr>
              <a:t>always in the top bar, Bolt-Food style; filters as you type</a:t>
            </a:r>
            <a:endParaRPr lang="en-US" sz="1050" dirty="0"/>
          </a:p>
        </p:txBody>
      </p:sp>
      <p:sp>
        <p:nvSpPr>
          <p:cNvPr id="18" name="Shape 15"/>
          <p:cNvSpPr/>
          <p:nvPr/>
        </p:nvSpPr>
        <p:spPr>
          <a:xfrm>
            <a:off x="548640" y="2258568"/>
            <a:ext cx="237744" cy="237744"/>
          </a:xfrm>
          <a:prstGeom prst="ellipse">
            <a:avLst/>
          </a:prstGeom>
          <a:solidFill>
            <a:srgbClr val="E76F51"/>
          </a:solidFill>
          <a:ln/>
        </p:spPr>
      </p:sp>
      <p:sp>
        <p:nvSpPr>
          <p:cNvPr id="19" name="Text 16"/>
          <p:cNvSpPr/>
          <p:nvPr/>
        </p:nvSpPr>
        <p:spPr>
          <a:xfrm>
            <a:off x="548640" y="2258568"/>
            <a:ext cx="237744" cy="23774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20" name="Text 17"/>
          <p:cNvSpPr/>
          <p:nvPr/>
        </p:nvSpPr>
        <p:spPr>
          <a:xfrm>
            <a:off x="896112" y="2240280"/>
            <a:ext cx="1984248" cy="777240"/>
          </a:xfrm>
          <a:prstGeom prst="rect">
            <a:avLst/>
          </a:prstGeom>
          <a:noFill/>
          <a:ln/>
        </p:spPr>
        <p:txBody>
          <a:bodyPr wrap="square" lIns="0" tIns="0" rIns="0" bIns="0" rtlCol="0" anchor="t"/>
          <a:lstStyle/>
          <a:p>
            <a:pPr indent="0" marL="0">
              <a:buNone/>
            </a:pPr>
            <a:r>
              <a:rPr lang="en-US" sz="1050" b="1" dirty="0">
                <a:solidFill>
                  <a:srgbClr val="22332B"/>
                </a:solidFill>
                <a:latin typeface="Calibri" pitchFamily="34" charset="0"/>
                <a:ea typeface="Calibri" pitchFamily="34" charset="-122"/>
                <a:cs typeface="Calibri" pitchFamily="34" charset="-120"/>
              </a:rPr>
              <a:t>Type chips — </a:t>
            </a:r>
            <a:pPr indent="0" marL="0">
              <a:buNone/>
            </a:pPr>
            <a:r>
              <a:rPr lang="en-US" sz="1050" dirty="0">
                <a:solidFill>
                  <a:srgbClr val="6B7F74"/>
                </a:solidFill>
                <a:latin typeface="Calibri" pitchFamily="34" charset="0"/>
                <a:ea typeface="Calibri" pitchFamily="34" charset="-122"/>
                <a:cs typeface="Calibri" pitchFamily="34" charset="-120"/>
              </a:rPr>
              <a:t>one click filters by business type (Fastfood, Patiserie, Pizza…)</a:t>
            </a:r>
            <a:endParaRPr lang="en-US" sz="1050" dirty="0"/>
          </a:p>
        </p:txBody>
      </p:sp>
      <p:sp>
        <p:nvSpPr>
          <p:cNvPr id="21" name="Shape 18"/>
          <p:cNvSpPr/>
          <p:nvPr/>
        </p:nvSpPr>
        <p:spPr>
          <a:xfrm>
            <a:off x="548640" y="3127248"/>
            <a:ext cx="237744" cy="237744"/>
          </a:xfrm>
          <a:prstGeom prst="ellipse">
            <a:avLst/>
          </a:prstGeom>
          <a:solidFill>
            <a:srgbClr val="E76F51"/>
          </a:solidFill>
          <a:ln/>
        </p:spPr>
      </p:sp>
      <p:sp>
        <p:nvSpPr>
          <p:cNvPr id="22" name="Text 19"/>
          <p:cNvSpPr/>
          <p:nvPr/>
        </p:nvSpPr>
        <p:spPr>
          <a:xfrm>
            <a:off x="548640" y="3127248"/>
            <a:ext cx="237744" cy="23774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23" name="Text 20"/>
          <p:cNvSpPr/>
          <p:nvPr/>
        </p:nvSpPr>
        <p:spPr>
          <a:xfrm>
            <a:off x="896112" y="3108960"/>
            <a:ext cx="1984248" cy="777240"/>
          </a:xfrm>
          <a:prstGeom prst="rect">
            <a:avLst/>
          </a:prstGeom>
          <a:noFill/>
          <a:ln/>
        </p:spPr>
        <p:txBody>
          <a:bodyPr wrap="square" lIns="0" tIns="0" rIns="0" bIns="0" rtlCol="0" anchor="t"/>
          <a:lstStyle/>
          <a:p>
            <a:pPr indent="0" marL="0">
              <a:buNone/>
            </a:pPr>
            <a:r>
              <a:rPr lang="en-US" sz="1050" b="1" dirty="0">
                <a:solidFill>
                  <a:srgbClr val="22332B"/>
                </a:solidFill>
                <a:latin typeface="Calibri" pitchFamily="34" charset="0"/>
                <a:ea typeface="Calibri" pitchFamily="34" charset="-122"/>
                <a:cs typeface="Calibri" pitchFamily="34" charset="-120"/>
              </a:rPr>
              <a:t>Business cards — </a:t>
            </a:r>
            <a:pPr indent="0" marL="0">
              <a:buNone/>
            </a:pPr>
            <a:r>
              <a:rPr lang="en-US" sz="1050" dirty="0">
                <a:solidFill>
                  <a:srgbClr val="6B7F74"/>
                </a:solidFill>
                <a:latin typeface="Calibri" pitchFamily="34" charset="0"/>
                <a:ea typeface="Calibri" pitchFamily="34" charset="-122"/>
                <a:cs typeface="Calibri" pitchFamily="34" charset="-120"/>
              </a:rPr>
              <a:t>loaded from GET /api/business; colour-coded by type, click for details</a:t>
            </a:r>
            <a:endParaRPr lang="en-US" sz="1050" dirty="0"/>
          </a:p>
        </p:txBody>
      </p:sp>
      <p:sp>
        <p:nvSpPr>
          <p:cNvPr id="24" name="Text 21"/>
          <p:cNvSpPr/>
          <p:nvPr/>
        </p:nvSpPr>
        <p:spPr>
          <a:xfrm>
            <a:off x="548640" y="4206240"/>
            <a:ext cx="2377440" cy="640080"/>
          </a:xfrm>
          <a:prstGeom prst="rect">
            <a:avLst/>
          </a:prstGeom>
          <a:noFill/>
          <a:ln/>
        </p:spPr>
        <p:txBody>
          <a:bodyPr wrap="square" lIns="0" tIns="0" rIns="0" bIns="0" rtlCol="0" anchor="t"/>
          <a:lstStyle/>
          <a:p>
            <a:pPr indent="0" marL="0">
              <a:buNone/>
            </a:pPr>
            <a:r>
              <a:rPr lang="en-US" sz="1000" i="1" dirty="0">
                <a:solidFill>
                  <a:srgbClr val="2D6A4F"/>
                </a:solidFill>
                <a:latin typeface="Calibri" pitchFamily="34" charset="0"/>
                <a:ea typeface="Calibri" pitchFamily="34" charset="-122"/>
                <a:cs typeface="Calibri" pitchFamily="34" charset="-120"/>
              </a:rPr>
              <a:t>Open to everyone — no account needed to browse.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8046720" cy="274320"/>
          </a:xfrm>
          <a:prstGeom prst="rect">
            <a:avLst/>
          </a:prstGeom>
          <a:noFill/>
          <a:ln/>
        </p:spPr>
        <p:txBody>
          <a:bodyPr wrap="square" lIns="0" tIns="0" rIns="0" bIns="0" rtlCol="0" anchor="ctr"/>
          <a:lstStyle/>
          <a:p>
            <a:pPr indent="0" marL="0">
              <a:buNone/>
            </a:pPr>
            <a:r>
              <a:rPr lang="en-US" sz="1100" b="1" spc="200" kern="0" dirty="0">
                <a:solidFill>
                  <a:srgbClr val="E76F51"/>
                </a:solidFill>
                <a:latin typeface="Calibri" pitchFamily="34" charset="0"/>
                <a:ea typeface="Calibri" pitchFamily="34" charset="-122"/>
                <a:cs typeface="Calibri" pitchFamily="34" charset="-120"/>
              </a:rPr>
              <a:t>FEATURE TOUR · EVERYONE</a:t>
            </a:r>
            <a:endParaRPr lang="en-US" sz="1100" dirty="0"/>
          </a:p>
        </p:txBody>
      </p:sp>
      <p:sp>
        <p:nvSpPr>
          <p:cNvPr id="3" name="Text 1"/>
          <p:cNvSpPr/>
          <p:nvPr/>
        </p:nvSpPr>
        <p:spPr>
          <a:xfrm>
            <a:off x="548640" y="493776"/>
            <a:ext cx="8046720" cy="566928"/>
          </a:xfrm>
          <a:prstGeom prst="rect">
            <a:avLst/>
          </a:prstGeom>
          <a:noFill/>
          <a:ln/>
        </p:spPr>
        <p:txBody>
          <a:bodyPr wrap="square" lIns="0" tIns="0" rIns="0" bIns="0" rtlCol="0" anchor="ctr"/>
          <a:lstStyle/>
          <a:p>
            <a:pPr indent="0" marL="0">
              <a:buNone/>
            </a:pPr>
            <a:r>
              <a:rPr lang="en-US" sz="3000" b="1" dirty="0">
                <a:solidFill>
                  <a:srgbClr val="163A2C"/>
                </a:solidFill>
                <a:latin typeface="Calibri" pitchFamily="34" charset="0"/>
                <a:ea typeface="Calibri" pitchFamily="34" charset="-122"/>
                <a:cs typeface="Calibri" pitchFamily="34" charset="-120"/>
              </a:rPr>
              <a:t>Live Search</a:t>
            </a:r>
            <a:endParaRPr lang="en-US" sz="3000" dirty="0"/>
          </a:p>
        </p:txBody>
      </p:sp>
      <p:sp>
        <p:nvSpPr>
          <p:cNvPr id="4" name="Shape 2"/>
          <p:cNvSpPr/>
          <p:nvPr/>
        </p:nvSpPr>
        <p:spPr>
          <a:xfrm>
            <a:off x="3035808" y="1271016"/>
            <a:ext cx="5586984" cy="3063561"/>
          </a:xfrm>
          <a:prstGeom prst="roundRect">
            <a:avLst>
              <a:gd name="adj" fmla="val 1194"/>
            </a:avLst>
          </a:prstGeom>
          <a:solidFill>
            <a:srgbClr val="FFFFFF"/>
          </a:solidFill>
          <a:ln w="12700">
            <a:solidFill>
              <a:srgbClr val="D8E6DE"/>
            </a:solidFill>
            <a:prstDash val="solid"/>
          </a:ln>
          <a:effectLst>
            <a:outerShdw sx="100000" sy="100000" kx="0" ky="0" algn="bl" rotWithShape="0" blurRad="88900" dist="25400" dir="2700000">
              <a:srgbClr val="1B2A23">
                <a:alpha val="14000"/>
              </a:srgbClr>
            </a:outerShdw>
          </a:effectLst>
        </p:spPr>
      </p:sp>
      <p:pic>
        <p:nvPicPr>
          <p:cNvPr id="5" name="Image 0" descr="shots/final/search.png">    </p:cNvPr>
          <p:cNvPicPr>
            <a:picLocks noChangeAspect="1"/>
          </p:cNvPicPr>
          <p:nvPr/>
        </p:nvPicPr>
        <p:blipFill>
          <a:blip r:embed="rId1"/>
          <a:stretch>
            <a:fillRect/>
          </a:stretch>
        </p:blipFill>
        <p:spPr>
          <a:xfrm>
            <a:off x="3063240" y="1298448"/>
            <a:ext cx="5532120" cy="3008697"/>
          </a:xfrm>
          <a:prstGeom prst="rect">
            <a:avLst/>
          </a:prstGeom>
        </p:spPr>
      </p:pic>
      <p:sp>
        <p:nvSpPr>
          <p:cNvPr id="6" name="Shape 3"/>
          <p:cNvSpPr/>
          <p:nvPr/>
        </p:nvSpPr>
        <p:spPr>
          <a:xfrm>
            <a:off x="4709045" y="1261971"/>
            <a:ext cx="2309834" cy="304036"/>
          </a:xfrm>
          <a:prstGeom prst="roundRect">
            <a:avLst>
              <a:gd name="adj" fmla="val 15038"/>
            </a:avLst>
          </a:prstGeom>
          <a:ln w="28575">
            <a:solidFill>
              <a:srgbClr val="E76F51"/>
            </a:solidFill>
            <a:prstDash val="solid"/>
          </a:ln>
        </p:spPr>
      </p:sp>
      <p:sp>
        <p:nvSpPr>
          <p:cNvPr id="7" name="Shape 4"/>
          <p:cNvSpPr/>
          <p:nvPr/>
        </p:nvSpPr>
        <p:spPr>
          <a:xfrm>
            <a:off x="4590173" y="1143099"/>
            <a:ext cx="256032" cy="256032"/>
          </a:xfrm>
          <a:prstGeom prst="ellipse">
            <a:avLst/>
          </a:prstGeom>
          <a:solidFill>
            <a:srgbClr val="E76F51"/>
          </a:solidFill>
          <a:ln/>
        </p:spPr>
      </p:sp>
      <p:sp>
        <p:nvSpPr>
          <p:cNvPr id="8" name="Text 5"/>
          <p:cNvSpPr/>
          <p:nvPr/>
        </p:nvSpPr>
        <p:spPr>
          <a:xfrm>
            <a:off x="4590173" y="1143099"/>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Shape 6"/>
          <p:cNvSpPr/>
          <p:nvPr/>
        </p:nvSpPr>
        <p:spPr>
          <a:xfrm>
            <a:off x="3156170" y="1798083"/>
            <a:ext cx="414956" cy="239333"/>
          </a:xfrm>
          <a:prstGeom prst="roundRect">
            <a:avLst>
              <a:gd name="adj" fmla="val 19103"/>
            </a:avLst>
          </a:prstGeom>
          <a:ln w="28575">
            <a:solidFill>
              <a:srgbClr val="E76F51"/>
            </a:solidFill>
            <a:prstDash val="solid"/>
          </a:ln>
        </p:spPr>
      </p:sp>
      <p:sp>
        <p:nvSpPr>
          <p:cNvPr id="10" name="Shape 7"/>
          <p:cNvSpPr/>
          <p:nvPr/>
        </p:nvSpPr>
        <p:spPr>
          <a:xfrm>
            <a:off x="3037298" y="1679211"/>
            <a:ext cx="256032" cy="256032"/>
          </a:xfrm>
          <a:prstGeom prst="ellipse">
            <a:avLst/>
          </a:prstGeom>
          <a:solidFill>
            <a:srgbClr val="E76F51"/>
          </a:solidFill>
          <a:ln/>
        </p:spPr>
      </p:sp>
      <p:sp>
        <p:nvSpPr>
          <p:cNvPr id="11" name="Text 8"/>
          <p:cNvSpPr/>
          <p:nvPr/>
        </p:nvSpPr>
        <p:spPr>
          <a:xfrm>
            <a:off x="3037298" y="1679211"/>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Shape 9"/>
          <p:cNvSpPr/>
          <p:nvPr/>
        </p:nvSpPr>
        <p:spPr>
          <a:xfrm>
            <a:off x="3183900" y="1955219"/>
            <a:ext cx="2679566" cy="978798"/>
          </a:xfrm>
          <a:prstGeom prst="roundRect">
            <a:avLst>
              <a:gd name="adj" fmla="val 4671"/>
            </a:avLst>
          </a:prstGeom>
          <a:ln w="28575">
            <a:solidFill>
              <a:srgbClr val="E76F51"/>
            </a:solidFill>
            <a:prstDash val="solid"/>
          </a:ln>
        </p:spPr>
      </p:sp>
      <p:sp>
        <p:nvSpPr>
          <p:cNvPr id="13" name="Shape 10"/>
          <p:cNvSpPr/>
          <p:nvPr/>
        </p:nvSpPr>
        <p:spPr>
          <a:xfrm>
            <a:off x="3065028" y="1836347"/>
            <a:ext cx="256032" cy="256032"/>
          </a:xfrm>
          <a:prstGeom prst="ellipse">
            <a:avLst/>
          </a:prstGeom>
          <a:solidFill>
            <a:srgbClr val="E76F51"/>
          </a:solidFill>
          <a:ln/>
        </p:spPr>
      </p:sp>
      <p:sp>
        <p:nvSpPr>
          <p:cNvPr id="14" name="Text 11"/>
          <p:cNvSpPr/>
          <p:nvPr/>
        </p:nvSpPr>
        <p:spPr>
          <a:xfrm>
            <a:off x="3065028" y="1836347"/>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5" name="Shape 12"/>
          <p:cNvSpPr/>
          <p:nvPr/>
        </p:nvSpPr>
        <p:spPr>
          <a:xfrm>
            <a:off x="548640" y="1389888"/>
            <a:ext cx="237744" cy="237744"/>
          </a:xfrm>
          <a:prstGeom prst="ellipse">
            <a:avLst/>
          </a:prstGeom>
          <a:solidFill>
            <a:srgbClr val="E76F51"/>
          </a:solidFill>
          <a:ln/>
        </p:spPr>
      </p:sp>
      <p:sp>
        <p:nvSpPr>
          <p:cNvPr id="16" name="Text 13"/>
          <p:cNvSpPr/>
          <p:nvPr/>
        </p:nvSpPr>
        <p:spPr>
          <a:xfrm>
            <a:off x="548640" y="1389888"/>
            <a:ext cx="237744" cy="23774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17" name="Text 14"/>
          <p:cNvSpPr/>
          <p:nvPr/>
        </p:nvSpPr>
        <p:spPr>
          <a:xfrm>
            <a:off x="896112" y="1371600"/>
            <a:ext cx="1984248" cy="777240"/>
          </a:xfrm>
          <a:prstGeom prst="rect">
            <a:avLst/>
          </a:prstGeom>
          <a:noFill/>
          <a:ln/>
        </p:spPr>
        <p:txBody>
          <a:bodyPr wrap="square" lIns="0" tIns="0" rIns="0" bIns="0" rtlCol="0" anchor="t"/>
          <a:lstStyle/>
          <a:p>
            <a:pPr indent="0" marL="0">
              <a:buNone/>
            </a:pPr>
            <a:r>
              <a:rPr lang="en-US" sz="1050" b="1" dirty="0">
                <a:solidFill>
                  <a:srgbClr val="22332B"/>
                </a:solidFill>
                <a:latin typeface="Calibri" pitchFamily="34" charset="0"/>
                <a:ea typeface="Calibri" pitchFamily="34" charset="-122"/>
                <a:cs typeface="Calibri" pitchFamily="34" charset="-120"/>
              </a:rPr>
              <a:t>Type “K” — </a:t>
            </a:r>
            <a:pPr indent="0" marL="0">
              <a:buNone/>
            </a:pPr>
            <a:r>
              <a:rPr lang="en-US" sz="1050" dirty="0">
                <a:solidFill>
                  <a:srgbClr val="6B7F74"/>
                </a:solidFill>
                <a:latin typeface="Calibri" pitchFamily="34" charset="0"/>
                <a:ea typeface="Calibri" pitchFamily="34" charset="-122"/>
                <a:cs typeface="Calibri" pitchFamily="34" charset="-120"/>
              </a:rPr>
              <a:t>the navbar input writes into a shared SearchState service</a:t>
            </a:r>
            <a:endParaRPr lang="en-US" sz="1050" dirty="0"/>
          </a:p>
        </p:txBody>
      </p:sp>
      <p:sp>
        <p:nvSpPr>
          <p:cNvPr id="18" name="Shape 15"/>
          <p:cNvSpPr/>
          <p:nvPr/>
        </p:nvSpPr>
        <p:spPr>
          <a:xfrm>
            <a:off x="548640" y="2258568"/>
            <a:ext cx="237744" cy="237744"/>
          </a:xfrm>
          <a:prstGeom prst="ellipse">
            <a:avLst/>
          </a:prstGeom>
          <a:solidFill>
            <a:srgbClr val="E76F51"/>
          </a:solidFill>
          <a:ln/>
        </p:spPr>
      </p:sp>
      <p:sp>
        <p:nvSpPr>
          <p:cNvPr id="19" name="Text 16"/>
          <p:cNvSpPr/>
          <p:nvPr/>
        </p:nvSpPr>
        <p:spPr>
          <a:xfrm>
            <a:off x="548640" y="2258568"/>
            <a:ext cx="237744" cy="23774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20" name="Text 17"/>
          <p:cNvSpPr/>
          <p:nvPr/>
        </p:nvSpPr>
        <p:spPr>
          <a:xfrm>
            <a:off x="896112" y="2240280"/>
            <a:ext cx="1984248" cy="777240"/>
          </a:xfrm>
          <a:prstGeom prst="rect">
            <a:avLst/>
          </a:prstGeom>
          <a:noFill/>
          <a:ln/>
        </p:spPr>
        <p:txBody>
          <a:bodyPr wrap="square" lIns="0" tIns="0" rIns="0" bIns="0" rtlCol="0" anchor="t"/>
          <a:lstStyle/>
          <a:p>
            <a:pPr indent="0" marL="0">
              <a:buNone/>
            </a:pPr>
            <a:r>
              <a:rPr lang="en-US" sz="1050" b="1" dirty="0">
                <a:solidFill>
                  <a:srgbClr val="22332B"/>
                </a:solidFill>
                <a:latin typeface="Calibri" pitchFamily="34" charset="0"/>
                <a:ea typeface="Calibri" pitchFamily="34" charset="-122"/>
                <a:cs typeface="Calibri" pitchFamily="34" charset="-120"/>
              </a:rPr>
              <a:t>Instant count — </a:t>
            </a:r>
            <a:pPr indent="0" marL="0">
              <a:buNone/>
            </a:pPr>
            <a:r>
              <a:rPr lang="en-US" sz="1050" dirty="0">
                <a:solidFill>
                  <a:srgbClr val="6B7F74"/>
                </a:solidFill>
                <a:latin typeface="Calibri" pitchFamily="34" charset="0"/>
                <a:ea typeface="Calibri" pitchFamily="34" charset="-122"/>
                <a:cs typeface="Calibri" pitchFamily="34" charset="-120"/>
              </a:rPr>
              <a:t>the list reacts through an event — here 10 places shrink to 2</a:t>
            </a:r>
            <a:endParaRPr lang="en-US" sz="1050" dirty="0"/>
          </a:p>
        </p:txBody>
      </p:sp>
      <p:sp>
        <p:nvSpPr>
          <p:cNvPr id="21" name="Shape 18"/>
          <p:cNvSpPr/>
          <p:nvPr/>
        </p:nvSpPr>
        <p:spPr>
          <a:xfrm>
            <a:off x="548640" y="3127248"/>
            <a:ext cx="237744" cy="237744"/>
          </a:xfrm>
          <a:prstGeom prst="ellipse">
            <a:avLst/>
          </a:prstGeom>
          <a:solidFill>
            <a:srgbClr val="E76F51"/>
          </a:solidFill>
          <a:ln/>
        </p:spPr>
      </p:sp>
      <p:sp>
        <p:nvSpPr>
          <p:cNvPr id="22" name="Text 19"/>
          <p:cNvSpPr/>
          <p:nvPr/>
        </p:nvSpPr>
        <p:spPr>
          <a:xfrm>
            <a:off x="548640" y="3127248"/>
            <a:ext cx="237744" cy="23774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23" name="Text 20"/>
          <p:cNvSpPr/>
          <p:nvPr/>
        </p:nvSpPr>
        <p:spPr>
          <a:xfrm>
            <a:off x="896112" y="3108960"/>
            <a:ext cx="1984248" cy="777240"/>
          </a:xfrm>
          <a:prstGeom prst="rect">
            <a:avLst/>
          </a:prstGeom>
          <a:noFill/>
          <a:ln/>
        </p:spPr>
        <p:txBody>
          <a:bodyPr wrap="square" lIns="0" tIns="0" rIns="0" bIns="0" rtlCol="0" anchor="t"/>
          <a:lstStyle/>
          <a:p>
            <a:pPr indent="0" marL="0">
              <a:buNone/>
            </a:pPr>
            <a:r>
              <a:rPr lang="en-US" sz="1050" b="1" dirty="0">
                <a:solidFill>
                  <a:srgbClr val="22332B"/>
                </a:solidFill>
                <a:latin typeface="Calibri" pitchFamily="34" charset="0"/>
                <a:ea typeface="Calibri" pitchFamily="34" charset="-122"/>
                <a:cs typeface="Calibri" pitchFamily="34" charset="-120"/>
              </a:rPr>
              <a:t>Matches — </a:t>
            </a:r>
            <a:pPr indent="0" marL="0">
              <a:buNone/>
            </a:pPr>
            <a:r>
              <a:rPr lang="en-US" sz="1050" dirty="0">
                <a:solidFill>
                  <a:srgbClr val="6B7F74"/>
                </a:solidFill>
                <a:latin typeface="Calibri" pitchFamily="34" charset="0"/>
                <a:ea typeface="Calibri" pitchFamily="34" charset="-122"/>
                <a:cs typeface="Calibri" pitchFamily="34" charset="-120"/>
              </a:rPr>
              <a:t>case-insensitive name search combined with the type filter</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8046720" cy="274320"/>
          </a:xfrm>
          <a:prstGeom prst="rect">
            <a:avLst/>
          </a:prstGeom>
          <a:noFill/>
          <a:ln/>
        </p:spPr>
        <p:txBody>
          <a:bodyPr wrap="square" lIns="0" tIns="0" rIns="0" bIns="0" rtlCol="0" anchor="ctr"/>
          <a:lstStyle/>
          <a:p>
            <a:pPr indent="0" marL="0">
              <a:buNone/>
            </a:pPr>
            <a:r>
              <a:rPr lang="en-US" sz="1100" b="1" spc="200" kern="0" dirty="0">
                <a:solidFill>
                  <a:srgbClr val="E76F51"/>
                </a:solidFill>
                <a:latin typeface="Calibri" pitchFamily="34" charset="0"/>
                <a:ea typeface="Calibri" pitchFamily="34" charset="-122"/>
                <a:cs typeface="Calibri" pitchFamily="34" charset="-120"/>
              </a:rPr>
              <a:t>FEATURE TOUR · ACCOUNTS</a:t>
            </a:r>
            <a:endParaRPr lang="en-US" sz="1100" dirty="0"/>
          </a:p>
        </p:txBody>
      </p:sp>
      <p:sp>
        <p:nvSpPr>
          <p:cNvPr id="3" name="Text 1"/>
          <p:cNvSpPr/>
          <p:nvPr/>
        </p:nvSpPr>
        <p:spPr>
          <a:xfrm>
            <a:off x="548640" y="493776"/>
            <a:ext cx="8046720" cy="566928"/>
          </a:xfrm>
          <a:prstGeom prst="rect">
            <a:avLst/>
          </a:prstGeom>
          <a:noFill/>
          <a:ln/>
        </p:spPr>
        <p:txBody>
          <a:bodyPr wrap="square" lIns="0" tIns="0" rIns="0" bIns="0" rtlCol="0" anchor="ctr"/>
          <a:lstStyle/>
          <a:p>
            <a:pPr indent="0" marL="0">
              <a:buNone/>
            </a:pPr>
            <a:r>
              <a:rPr lang="en-US" sz="3000" b="1" dirty="0">
                <a:solidFill>
                  <a:srgbClr val="163A2C"/>
                </a:solidFill>
                <a:latin typeface="Calibri" pitchFamily="34" charset="0"/>
                <a:ea typeface="Calibri" pitchFamily="34" charset="-122"/>
                <a:cs typeface="Calibri" pitchFamily="34" charset="-120"/>
              </a:rPr>
              <a:t>Register</a:t>
            </a:r>
            <a:endParaRPr lang="en-US" sz="3000" dirty="0"/>
          </a:p>
        </p:txBody>
      </p:sp>
      <p:sp>
        <p:nvSpPr>
          <p:cNvPr id="4" name="Shape 2"/>
          <p:cNvSpPr/>
          <p:nvPr/>
        </p:nvSpPr>
        <p:spPr>
          <a:xfrm>
            <a:off x="521208" y="1271016"/>
            <a:ext cx="5084064" cy="2812812"/>
          </a:xfrm>
          <a:prstGeom prst="roundRect">
            <a:avLst>
              <a:gd name="adj" fmla="val 1300"/>
            </a:avLst>
          </a:prstGeom>
          <a:solidFill>
            <a:srgbClr val="FFFFFF"/>
          </a:solidFill>
          <a:ln w="12700">
            <a:solidFill>
              <a:srgbClr val="D8E6DE"/>
            </a:solidFill>
            <a:prstDash val="solid"/>
          </a:ln>
          <a:effectLst>
            <a:outerShdw sx="100000" sy="100000" kx="0" ky="0" algn="bl" rotWithShape="0" blurRad="88900" dist="25400" dir="2700000">
              <a:srgbClr val="1B2A23">
                <a:alpha val="14000"/>
              </a:srgbClr>
            </a:outerShdw>
          </a:effectLst>
        </p:spPr>
      </p:sp>
      <p:pic>
        <p:nvPicPr>
          <p:cNvPr id="5" name="Image 0" descr="shots/final/register.png">    </p:cNvPr>
          <p:cNvPicPr>
            <a:picLocks noChangeAspect="1"/>
          </p:cNvPicPr>
          <p:nvPr/>
        </p:nvPicPr>
        <p:blipFill>
          <a:blip r:embed="rId1"/>
          <a:stretch>
            <a:fillRect/>
          </a:stretch>
        </p:blipFill>
        <p:spPr>
          <a:xfrm>
            <a:off x="548640" y="1298448"/>
            <a:ext cx="5029200" cy="2757948"/>
          </a:xfrm>
          <a:prstGeom prst="rect">
            <a:avLst/>
          </a:prstGeom>
        </p:spPr>
      </p:pic>
      <p:sp>
        <p:nvSpPr>
          <p:cNvPr id="6" name="Shape 3"/>
          <p:cNvSpPr/>
          <p:nvPr/>
        </p:nvSpPr>
        <p:spPr>
          <a:xfrm>
            <a:off x="2186080" y="1475797"/>
            <a:ext cx="1774600" cy="2545203"/>
          </a:xfrm>
          <a:prstGeom prst="roundRect">
            <a:avLst>
              <a:gd name="adj" fmla="val 2576"/>
            </a:avLst>
          </a:prstGeom>
          <a:ln w="28575">
            <a:solidFill>
              <a:srgbClr val="E76F51"/>
            </a:solidFill>
            <a:prstDash val="solid"/>
          </a:ln>
        </p:spPr>
      </p:sp>
      <p:sp>
        <p:nvSpPr>
          <p:cNvPr id="7" name="Shape 4"/>
          <p:cNvSpPr/>
          <p:nvPr/>
        </p:nvSpPr>
        <p:spPr>
          <a:xfrm>
            <a:off x="2067208" y="1356925"/>
            <a:ext cx="256032" cy="256032"/>
          </a:xfrm>
          <a:prstGeom prst="ellipse">
            <a:avLst/>
          </a:prstGeom>
          <a:solidFill>
            <a:srgbClr val="E76F51"/>
          </a:solidFill>
          <a:ln/>
        </p:spPr>
      </p:sp>
      <p:sp>
        <p:nvSpPr>
          <p:cNvPr id="8" name="Text 5"/>
          <p:cNvSpPr/>
          <p:nvPr/>
        </p:nvSpPr>
        <p:spPr>
          <a:xfrm>
            <a:off x="2067208" y="1356925"/>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Shape 6"/>
          <p:cNvSpPr/>
          <p:nvPr/>
        </p:nvSpPr>
        <p:spPr>
          <a:xfrm>
            <a:off x="5806440" y="1389888"/>
            <a:ext cx="237744" cy="237744"/>
          </a:xfrm>
          <a:prstGeom prst="ellipse">
            <a:avLst/>
          </a:prstGeom>
          <a:solidFill>
            <a:srgbClr val="E76F51"/>
          </a:solidFill>
          <a:ln/>
        </p:spPr>
      </p:sp>
      <p:sp>
        <p:nvSpPr>
          <p:cNvPr id="10" name="Text 7"/>
          <p:cNvSpPr/>
          <p:nvPr/>
        </p:nvSpPr>
        <p:spPr>
          <a:xfrm>
            <a:off x="5806440" y="1389888"/>
            <a:ext cx="237744" cy="23774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11" name="Text 8"/>
          <p:cNvSpPr/>
          <p:nvPr/>
        </p:nvSpPr>
        <p:spPr>
          <a:xfrm>
            <a:off x="6153912" y="1371600"/>
            <a:ext cx="2441448" cy="777240"/>
          </a:xfrm>
          <a:prstGeom prst="rect">
            <a:avLst/>
          </a:prstGeom>
          <a:noFill/>
          <a:ln/>
        </p:spPr>
        <p:txBody>
          <a:bodyPr wrap="square" lIns="0" tIns="0" rIns="0" bIns="0" rtlCol="0" anchor="t"/>
          <a:lstStyle/>
          <a:p>
            <a:pPr indent="0" marL="0">
              <a:buNone/>
            </a:pPr>
            <a:r>
              <a:rPr lang="en-US" sz="1050" b="1" dirty="0">
                <a:solidFill>
                  <a:srgbClr val="22332B"/>
                </a:solidFill>
                <a:latin typeface="Calibri" pitchFamily="34" charset="0"/>
                <a:ea typeface="Calibri" pitchFamily="34" charset="-122"/>
                <a:cs typeface="Calibri" pitchFamily="34" charset="-120"/>
              </a:rPr>
              <a:t>One clean card — </a:t>
            </a:r>
            <a:pPr indent="0" marL="0">
              <a:buNone/>
            </a:pPr>
            <a:r>
              <a:rPr lang="en-US" sz="1050" dirty="0">
                <a:solidFill>
                  <a:srgbClr val="6B7F74"/>
                </a:solidFill>
                <a:latin typeface="Calibri" pitchFamily="34" charset="0"/>
                <a:ea typeface="Calibri" pitchFamily="34" charset="-122"/>
                <a:cs typeface="Calibri" pitchFamily="34" charset="-120"/>
              </a:rPr>
              <a:t>email, password + confirmation, name and contact info</a:t>
            </a:r>
            <a:endParaRPr lang="en-US" sz="1050" dirty="0"/>
          </a:p>
        </p:txBody>
      </p:sp>
      <p:sp>
        <p:nvSpPr>
          <p:cNvPr id="12" name="Text 9"/>
          <p:cNvSpPr/>
          <p:nvPr/>
        </p:nvSpPr>
        <p:spPr>
          <a:xfrm>
            <a:off x="5806440" y="2148840"/>
            <a:ext cx="2788920" cy="2194560"/>
          </a:xfrm>
          <a:prstGeom prst="rect">
            <a:avLst/>
          </a:prstGeom>
          <a:noFill/>
          <a:ln/>
        </p:spPr>
        <p:txBody>
          <a:bodyPr wrap="square" lIns="0" tIns="0" rIns="0" bIns="0" rtlCol="0" anchor="t"/>
          <a:lstStyle/>
          <a:p>
            <a:pPr indent="0" marL="0">
              <a:lnSpc>
                <a:spcPct val="135000"/>
              </a:lnSpc>
              <a:buNone/>
            </a:pPr>
            <a:r>
              <a:rPr lang="en-US" sz="1200" b="1" dirty="0">
                <a:solidFill>
                  <a:srgbClr val="163A2C"/>
                </a:solidFill>
                <a:latin typeface="Calibri" pitchFamily="34" charset="0"/>
                <a:ea typeface="Calibri" pitchFamily="34" charset="-122"/>
                <a:cs typeface="Calibri" pitchFamily="34" charset="-120"/>
              </a:rPr>
              <a:t>What happens on submit</a:t>
            </a:r>
            <a:endParaRPr lang="en-US" sz="1050" dirty="0"/>
          </a:p>
          <a:p>
            <a:pPr indent="0" marL="0">
              <a:lnSpc>
                <a:spcPct val="135000"/>
              </a:lnSpc>
              <a:buNone/>
            </a:pPr>
            <a:endParaRPr lang="en-US" sz="1050" dirty="0"/>
          </a:p>
          <a:p>
            <a:pPr indent="0" marL="0">
              <a:lnSpc>
                <a:spcPct val="135000"/>
              </a:lnSpc>
              <a:buNone/>
            </a:pPr>
            <a:r>
              <a:rPr lang="en-US" sz="1050" dirty="0">
                <a:solidFill>
                  <a:srgbClr val="22332B"/>
                </a:solidFill>
                <a:latin typeface="Calibri" pitchFamily="34" charset="0"/>
                <a:ea typeface="Calibri" pitchFamily="34" charset="-122"/>
                <a:cs typeface="Calibri" pitchFamily="34" charset="-120"/>
              </a:rPr>
              <a:t>1. Data annotations validate the form client-side</a:t>
            </a:r>
            <a:endParaRPr lang="en-US" sz="1050" dirty="0"/>
          </a:p>
          <a:p>
            <a:pPr indent="0" marL="0">
              <a:lnSpc>
                <a:spcPct val="135000"/>
              </a:lnSpc>
              <a:buNone/>
            </a:pPr>
            <a:r>
              <a:rPr lang="en-US" sz="1050" dirty="0">
                <a:solidFill>
                  <a:srgbClr val="22332B"/>
                </a:solidFill>
                <a:latin typeface="Calibri" pitchFamily="34" charset="0"/>
                <a:ea typeface="Calibri" pitchFamily="34" charset="-122"/>
                <a:cs typeface="Calibri" pitchFamily="34" charset="-120"/>
              </a:rPr>
              <a:t>2. POST /api/auth/register sends the JSON</a:t>
            </a:r>
            <a:endParaRPr lang="en-US" sz="1050" dirty="0"/>
          </a:p>
          <a:p>
            <a:pPr indent="0" marL="0">
              <a:lnSpc>
                <a:spcPct val="135000"/>
              </a:lnSpc>
              <a:buNone/>
            </a:pPr>
            <a:r>
              <a:rPr lang="en-US" sz="1050" dirty="0">
                <a:solidFill>
                  <a:srgbClr val="22332B"/>
                </a:solidFill>
                <a:latin typeface="Calibri" pitchFamily="34" charset="0"/>
                <a:ea typeface="Calibri" pitchFamily="34" charset="-122"/>
                <a:cs typeface="Calibri" pitchFamily="34" charset="-120"/>
              </a:rPr>
              <a:t>3. Identity checks password rules, hashes it, creates the user</a:t>
            </a:r>
            <a:endParaRPr lang="en-US" sz="1050" dirty="0"/>
          </a:p>
          <a:p>
            <a:pPr indent="0" marL="0">
              <a:lnSpc>
                <a:spcPct val="135000"/>
              </a:lnSpc>
              <a:buNone/>
            </a:pPr>
            <a:r>
              <a:rPr lang="en-US" sz="1050" dirty="0">
                <a:solidFill>
                  <a:srgbClr val="22332B"/>
                </a:solidFill>
                <a:latin typeface="Calibri" pitchFamily="34" charset="0"/>
                <a:ea typeface="Calibri" pitchFamily="34" charset="-122"/>
                <a:cs typeface="Calibri" pitchFamily="34" charset="-120"/>
              </a:rPr>
              <a:t>4. The “User” role is assigned automatically</a:t>
            </a:r>
            <a:endParaRPr lang="en-US" sz="1050" dirty="0"/>
          </a:p>
          <a:p>
            <a:pPr indent="0" marL="0">
              <a:lnSpc>
                <a:spcPct val="135000"/>
              </a:lnSpc>
              <a:buNone/>
            </a:pPr>
            <a:r>
              <a:rPr lang="en-US" sz="1050" dirty="0">
                <a:solidFill>
                  <a:srgbClr val="22332B"/>
                </a:solidFill>
                <a:latin typeface="Calibri" pitchFamily="34" charset="0"/>
                <a:ea typeface="Calibri" pitchFamily="34" charset="-122"/>
                <a:cs typeface="Calibri" pitchFamily="34" charset="-120"/>
              </a:rPr>
              <a:t>5. You are redirected to the login page</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8046720" cy="274320"/>
          </a:xfrm>
          <a:prstGeom prst="rect">
            <a:avLst/>
          </a:prstGeom>
          <a:noFill/>
          <a:ln/>
        </p:spPr>
        <p:txBody>
          <a:bodyPr wrap="square" lIns="0" tIns="0" rIns="0" bIns="0" rtlCol="0" anchor="ctr"/>
          <a:lstStyle/>
          <a:p>
            <a:pPr indent="0" marL="0">
              <a:buNone/>
            </a:pPr>
            <a:r>
              <a:rPr lang="en-US" sz="1100" b="1" spc="200" kern="0" dirty="0">
                <a:solidFill>
                  <a:srgbClr val="E76F51"/>
                </a:solidFill>
                <a:latin typeface="Calibri" pitchFamily="34" charset="0"/>
                <a:ea typeface="Calibri" pitchFamily="34" charset="-122"/>
                <a:cs typeface="Calibri" pitchFamily="34" charset="-120"/>
              </a:rPr>
              <a:t>FEATURE TOUR · ACCOUNTS</a:t>
            </a:r>
            <a:endParaRPr lang="en-US" sz="1100" dirty="0"/>
          </a:p>
        </p:txBody>
      </p:sp>
      <p:sp>
        <p:nvSpPr>
          <p:cNvPr id="3" name="Text 1"/>
          <p:cNvSpPr/>
          <p:nvPr/>
        </p:nvSpPr>
        <p:spPr>
          <a:xfrm>
            <a:off x="548640" y="493776"/>
            <a:ext cx="8046720" cy="566928"/>
          </a:xfrm>
          <a:prstGeom prst="rect">
            <a:avLst/>
          </a:prstGeom>
          <a:noFill/>
          <a:ln/>
        </p:spPr>
        <p:txBody>
          <a:bodyPr wrap="square" lIns="0" tIns="0" rIns="0" bIns="0" rtlCol="0" anchor="ctr"/>
          <a:lstStyle/>
          <a:p>
            <a:pPr indent="0" marL="0">
              <a:buNone/>
            </a:pPr>
            <a:r>
              <a:rPr lang="en-US" sz="3000" b="1" dirty="0">
                <a:solidFill>
                  <a:srgbClr val="163A2C"/>
                </a:solidFill>
                <a:latin typeface="Calibri" pitchFamily="34" charset="0"/>
                <a:ea typeface="Calibri" pitchFamily="34" charset="-122"/>
                <a:cs typeface="Calibri" pitchFamily="34" charset="-120"/>
              </a:rPr>
              <a:t>Login</a:t>
            </a:r>
            <a:endParaRPr lang="en-US" sz="3000" dirty="0"/>
          </a:p>
        </p:txBody>
      </p:sp>
      <p:sp>
        <p:nvSpPr>
          <p:cNvPr id="4" name="Shape 2"/>
          <p:cNvSpPr/>
          <p:nvPr/>
        </p:nvSpPr>
        <p:spPr>
          <a:xfrm>
            <a:off x="521208" y="1271016"/>
            <a:ext cx="5084064" cy="2516739"/>
          </a:xfrm>
          <a:prstGeom prst="roundRect">
            <a:avLst>
              <a:gd name="adj" fmla="val 1453"/>
            </a:avLst>
          </a:prstGeom>
          <a:solidFill>
            <a:srgbClr val="FFFFFF"/>
          </a:solidFill>
          <a:ln w="12700">
            <a:solidFill>
              <a:srgbClr val="D8E6DE"/>
            </a:solidFill>
            <a:prstDash val="solid"/>
          </a:ln>
          <a:effectLst>
            <a:outerShdw sx="100000" sy="100000" kx="0" ky="0" algn="bl" rotWithShape="0" blurRad="88900" dist="25400" dir="2700000">
              <a:srgbClr val="1B2A23">
                <a:alpha val="14000"/>
              </a:srgbClr>
            </a:outerShdw>
          </a:effectLst>
        </p:spPr>
      </p:sp>
      <p:pic>
        <p:nvPicPr>
          <p:cNvPr id="5" name="Image 0" descr="shots/final/login_user.png">    </p:cNvPr>
          <p:cNvPicPr>
            <a:picLocks noChangeAspect="1"/>
          </p:cNvPicPr>
          <p:nvPr/>
        </p:nvPicPr>
        <p:blipFill>
          <a:blip r:embed="rId1"/>
          <a:stretch>
            <a:fillRect/>
          </a:stretch>
        </p:blipFill>
        <p:spPr>
          <a:xfrm>
            <a:off x="548640" y="1298448"/>
            <a:ext cx="5029200" cy="2461875"/>
          </a:xfrm>
          <a:prstGeom prst="rect">
            <a:avLst/>
          </a:prstGeom>
        </p:spPr>
      </p:pic>
      <p:sp>
        <p:nvSpPr>
          <p:cNvPr id="6" name="Shape 3"/>
          <p:cNvSpPr/>
          <p:nvPr/>
        </p:nvSpPr>
        <p:spPr>
          <a:xfrm>
            <a:off x="2206359" y="1496076"/>
            <a:ext cx="1815158" cy="2078785"/>
          </a:xfrm>
          <a:prstGeom prst="roundRect">
            <a:avLst>
              <a:gd name="adj" fmla="val 2519"/>
            </a:avLst>
          </a:prstGeom>
          <a:ln w="28575">
            <a:solidFill>
              <a:srgbClr val="E76F51"/>
            </a:solidFill>
            <a:prstDash val="solid"/>
          </a:ln>
        </p:spPr>
      </p:sp>
      <p:sp>
        <p:nvSpPr>
          <p:cNvPr id="7" name="Shape 4"/>
          <p:cNvSpPr/>
          <p:nvPr/>
        </p:nvSpPr>
        <p:spPr>
          <a:xfrm>
            <a:off x="2087487" y="1377204"/>
            <a:ext cx="256032" cy="256032"/>
          </a:xfrm>
          <a:prstGeom prst="ellipse">
            <a:avLst/>
          </a:prstGeom>
          <a:solidFill>
            <a:srgbClr val="E76F51"/>
          </a:solidFill>
          <a:ln/>
        </p:spPr>
      </p:sp>
      <p:sp>
        <p:nvSpPr>
          <p:cNvPr id="8" name="Text 5"/>
          <p:cNvSpPr/>
          <p:nvPr/>
        </p:nvSpPr>
        <p:spPr>
          <a:xfrm>
            <a:off x="2087487" y="1377204"/>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Shape 6"/>
          <p:cNvSpPr/>
          <p:nvPr/>
        </p:nvSpPr>
        <p:spPr>
          <a:xfrm>
            <a:off x="5806440" y="1389888"/>
            <a:ext cx="237744" cy="237744"/>
          </a:xfrm>
          <a:prstGeom prst="ellipse">
            <a:avLst/>
          </a:prstGeom>
          <a:solidFill>
            <a:srgbClr val="E76F51"/>
          </a:solidFill>
          <a:ln/>
        </p:spPr>
      </p:sp>
      <p:sp>
        <p:nvSpPr>
          <p:cNvPr id="10" name="Text 7"/>
          <p:cNvSpPr/>
          <p:nvPr/>
        </p:nvSpPr>
        <p:spPr>
          <a:xfrm>
            <a:off x="5806440" y="1389888"/>
            <a:ext cx="237744" cy="23774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11" name="Text 8"/>
          <p:cNvSpPr/>
          <p:nvPr/>
        </p:nvSpPr>
        <p:spPr>
          <a:xfrm>
            <a:off x="6153912" y="1371600"/>
            <a:ext cx="2441448" cy="777240"/>
          </a:xfrm>
          <a:prstGeom prst="rect">
            <a:avLst/>
          </a:prstGeom>
          <a:noFill/>
          <a:ln/>
        </p:spPr>
        <p:txBody>
          <a:bodyPr wrap="square" lIns="0" tIns="0" rIns="0" bIns="0" rtlCol="0" anchor="t"/>
          <a:lstStyle/>
          <a:p>
            <a:pPr indent="0" marL="0">
              <a:buNone/>
            </a:pPr>
            <a:r>
              <a:rPr lang="en-US" sz="1050" b="1" dirty="0">
                <a:solidFill>
                  <a:srgbClr val="22332B"/>
                </a:solidFill>
                <a:latin typeface="Calibri" pitchFamily="34" charset="0"/>
                <a:ea typeface="Calibri" pitchFamily="34" charset="-122"/>
                <a:cs typeface="Calibri" pitchFamily="34" charset="-120"/>
              </a:rPr>
              <a:t>Welcome back — </a:t>
            </a:r>
            <a:pPr indent="0" marL="0">
              <a:buNone/>
            </a:pPr>
            <a:r>
              <a:rPr lang="en-US" sz="1050" dirty="0">
                <a:solidFill>
                  <a:srgbClr val="6B7F74"/>
                </a:solidFill>
                <a:latin typeface="Calibri" pitchFamily="34" charset="0"/>
                <a:ea typeface="Calibri" pitchFamily="34" charset="-122"/>
                <a:cs typeface="Calibri" pitchFamily="34" charset="-120"/>
              </a:rPr>
              <a:t>email + password; a link leads to Register if you have no account</a:t>
            </a:r>
            <a:endParaRPr lang="en-US" sz="1050" dirty="0"/>
          </a:p>
        </p:txBody>
      </p:sp>
      <p:sp>
        <p:nvSpPr>
          <p:cNvPr id="12" name="Text 9"/>
          <p:cNvSpPr/>
          <p:nvPr/>
        </p:nvSpPr>
        <p:spPr>
          <a:xfrm>
            <a:off x="5806440" y="2148840"/>
            <a:ext cx="2788920" cy="2194560"/>
          </a:xfrm>
          <a:prstGeom prst="rect">
            <a:avLst/>
          </a:prstGeom>
          <a:noFill/>
          <a:ln/>
        </p:spPr>
        <p:txBody>
          <a:bodyPr wrap="square" lIns="0" tIns="0" rIns="0" bIns="0" rtlCol="0" anchor="t"/>
          <a:lstStyle/>
          <a:p>
            <a:pPr indent="0" marL="0">
              <a:lnSpc>
                <a:spcPct val="135000"/>
              </a:lnSpc>
              <a:buNone/>
            </a:pPr>
            <a:r>
              <a:rPr lang="en-US" sz="1200" b="1" dirty="0">
                <a:solidFill>
                  <a:srgbClr val="163A2C"/>
                </a:solidFill>
                <a:latin typeface="Calibri" pitchFamily="34" charset="0"/>
                <a:ea typeface="Calibri" pitchFamily="34" charset="-122"/>
                <a:cs typeface="Calibri" pitchFamily="34" charset="-120"/>
              </a:rPr>
              <a:t>Behind the button</a:t>
            </a:r>
            <a:endParaRPr lang="en-US" sz="1050" dirty="0"/>
          </a:p>
          <a:p>
            <a:pPr indent="0" marL="0">
              <a:lnSpc>
                <a:spcPct val="135000"/>
              </a:lnSpc>
              <a:buNone/>
            </a:pPr>
            <a:endParaRPr lang="en-US" sz="1050" dirty="0"/>
          </a:p>
          <a:p>
            <a:pPr indent="0" marL="0">
              <a:lnSpc>
                <a:spcPct val="135000"/>
              </a:lnSpc>
              <a:buNone/>
            </a:pPr>
            <a:r>
              <a:rPr lang="en-US" sz="1050" dirty="0">
                <a:solidFill>
                  <a:srgbClr val="22332B"/>
                </a:solidFill>
                <a:latin typeface="Calibri" pitchFamily="34" charset="0"/>
                <a:ea typeface="Calibri" pitchFamily="34" charset="-122"/>
                <a:cs typeface="Calibri" pitchFamily="34" charset="-120"/>
              </a:rPr>
              <a:t>1. POST /login (built-in Identity endpoint)</a:t>
            </a:r>
            <a:endParaRPr lang="en-US" sz="1050" dirty="0"/>
          </a:p>
          <a:p>
            <a:pPr indent="0" marL="0">
              <a:lnSpc>
                <a:spcPct val="135000"/>
              </a:lnSpc>
              <a:buNone/>
            </a:pPr>
            <a:r>
              <a:rPr lang="en-US" sz="1050" dirty="0">
                <a:solidFill>
                  <a:srgbClr val="22332B"/>
                </a:solidFill>
                <a:latin typeface="Calibri" pitchFamily="34" charset="0"/>
                <a:ea typeface="Calibri" pitchFamily="34" charset="-122"/>
                <a:cs typeface="Calibri" pitchFamily="34" charset="-120"/>
              </a:rPr>
              <a:t>2. Identity verifies and returns an access token</a:t>
            </a:r>
            <a:endParaRPr lang="en-US" sz="1050" dirty="0"/>
          </a:p>
          <a:p>
            <a:pPr indent="0" marL="0">
              <a:lnSpc>
                <a:spcPct val="135000"/>
              </a:lnSpc>
              <a:buNone/>
            </a:pPr>
            <a:r>
              <a:rPr lang="en-US" sz="1050" dirty="0">
                <a:solidFill>
                  <a:srgbClr val="22332B"/>
                </a:solidFill>
                <a:latin typeface="Calibri" pitchFamily="34" charset="0"/>
                <a:ea typeface="Calibri" pitchFamily="34" charset="-122"/>
                <a:cs typeface="Calibri" pitchFamily="34" charset="-120"/>
              </a:rPr>
              <a:t>3. Token stored in encrypted browser storage</a:t>
            </a:r>
            <a:endParaRPr lang="en-US" sz="1050" dirty="0"/>
          </a:p>
          <a:p>
            <a:pPr indent="0" marL="0">
              <a:lnSpc>
                <a:spcPct val="135000"/>
              </a:lnSpc>
              <a:buNone/>
            </a:pPr>
            <a:r>
              <a:rPr lang="en-US" sz="1050" dirty="0">
                <a:solidFill>
                  <a:srgbClr val="22332B"/>
                </a:solidFill>
                <a:latin typeface="Calibri" pitchFamily="34" charset="0"/>
                <a:ea typeface="Calibri" pitchFamily="34" charset="-122"/>
                <a:cs typeface="Calibri" pitchFamily="34" charset="-120"/>
              </a:rPr>
              <a:t>4. Every API call now carries “Bearer &lt;token&gt;”</a:t>
            </a:r>
            <a:endParaRPr lang="en-US" sz="1050" dirty="0"/>
          </a:p>
          <a:p>
            <a:pPr indent="0" marL="0">
              <a:lnSpc>
                <a:spcPct val="135000"/>
              </a:lnSpc>
              <a:buNone/>
            </a:pPr>
            <a:r>
              <a:rPr lang="en-US" sz="1050" dirty="0">
                <a:solidFill>
                  <a:srgbClr val="22332B"/>
                </a:solidFill>
                <a:latin typeface="Calibri" pitchFamily="34" charset="0"/>
                <a:ea typeface="Calibri" pitchFamily="34" charset="-122"/>
                <a:cs typeface="Calibri" pitchFamily="34" charset="-120"/>
              </a:rPr>
              <a:t>5. The UI updates instantly — no page reload</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8046720" cy="274320"/>
          </a:xfrm>
          <a:prstGeom prst="rect">
            <a:avLst/>
          </a:prstGeom>
          <a:noFill/>
          <a:ln/>
        </p:spPr>
        <p:txBody>
          <a:bodyPr wrap="square" lIns="0" tIns="0" rIns="0" bIns="0" rtlCol="0" anchor="ctr"/>
          <a:lstStyle/>
          <a:p>
            <a:pPr indent="0" marL="0">
              <a:buNone/>
            </a:pPr>
            <a:r>
              <a:rPr lang="en-US" sz="1100" b="1" spc="200" kern="0" dirty="0">
                <a:solidFill>
                  <a:srgbClr val="E76F51"/>
                </a:solidFill>
                <a:latin typeface="Calibri" pitchFamily="34" charset="0"/>
                <a:ea typeface="Calibri" pitchFamily="34" charset="-122"/>
                <a:cs typeface="Calibri" pitchFamily="34" charset="-120"/>
              </a:rPr>
              <a:t>FEATURE TOUR · ACCOUNTS</a:t>
            </a:r>
            <a:endParaRPr lang="en-US" sz="1100" dirty="0"/>
          </a:p>
        </p:txBody>
      </p:sp>
      <p:sp>
        <p:nvSpPr>
          <p:cNvPr id="3" name="Text 1"/>
          <p:cNvSpPr/>
          <p:nvPr/>
        </p:nvSpPr>
        <p:spPr>
          <a:xfrm>
            <a:off x="548640" y="493776"/>
            <a:ext cx="8046720" cy="566928"/>
          </a:xfrm>
          <a:prstGeom prst="rect">
            <a:avLst/>
          </a:prstGeom>
          <a:noFill/>
          <a:ln/>
        </p:spPr>
        <p:txBody>
          <a:bodyPr wrap="square" lIns="0" tIns="0" rIns="0" bIns="0" rtlCol="0" anchor="ctr"/>
          <a:lstStyle/>
          <a:p>
            <a:pPr indent="0" marL="0">
              <a:buNone/>
            </a:pPr>
            <a:r>
              <a:rPr lang="en-US" sz="3000" b="1" dirty="0">
                <a:solidFill>
                  <a:srgbClr val="163A2C"/>
                </a:solidFill>
                <a:latin typeface="Calibri" pitchFamily="34" charset="0"/>
                <a:ea typeface="Calibri" pitchFamily="34" charset="-122"/>
                <a:cs typeface="Calibri" pitchFamily="34" charset="-120"/>
              </a:rPr>
              <a:t>My Account &amp; Roles</a:t>
            </a:r>
            <a:endParaRPr lang="en-US" sz="3000" dirty="0"/>
          </a:p>
        </p:txBody>
      </p:sp>
      <p:sp>
        <p:nvSpPr>
          <p:cNvPr id="4" name="Shape 2"/>
          <p:cNvSpPr/>
          <p:nvPr/>
        </p:nvSpPr>
        <p:spPr>
          <a:xfrm>
            <a:off x="521208" y="1572768"/>
            <a:ext cx="4032504" cy="2114255"/>
          </a:xfrm>
          <a:prstGeom prst="roundRect">
            <a:avLst>
              <a:gd name="adj" fmla="val 1730"/>
            </a:avLst>
          </a:prstGeom>
          <a:solidFill>
            <a:srgbClr val="FFFFFF"/>
          </a:solidFill>
          <a:ln w="12700">
            <a:solidFill>
              <a:srgbClr val="D8E6DE"/>
            </a:solidFill>
            <a:prstDash val="solid"/>
          </a:ln>
          <a:effectLst>
            <a:outerShdw sx="100000" sy="100000" kx="0" ky="0" algn="bl" rotWithShape="0" blurRad="88900" dist="25400" dir="2700000">
              <a:srgbClr val="1B2A23">
                <a:alpha val="14000"/>
              </a:srgbClr>
            </a:outerShdw>
          </a:effectLst>
        </p:spPr>
      </p:sp>
      <p:pic>
        <p:nvPicPr>
          <p:cNvPr id="5" name="Image 0" descr="shots/final/account_user.png">    </p:cNvPr>
          <p:cNvPicPr>
            <a:picLocks noChangeAspect="1"/>
          </p:cNvPicPr>
          <p:nvPr/>
        </p:nvPicPr>
        <p:blipFill>
          <a:blip r:embed="rId1"/>
          <a:stretch>
            <a:fillRect/>
          </a:stretch>
        </p:blipFill>
        <p:spPr>
          <a:xfrm>
            <a:off x="548640" y="1600200"/>
            <a:ext cx="3977640" cy="2059391"/>
          </a:xfrm>
          <a:prstGeom prst="rect">
            <a:avLst/>
          </a:prstGeom>
        </p:spPr>
      </p:pic>
      <p:sp>
        <p:nvSpPr>
          <p:cNvPr id="6" name="Shape 3"/>
          <p:cNvSpPr/>
          <p:nvPr/>
        </p:nvSpPr>
        <p:spPr>
          <a:xfrm>
            <a:off x="3351423" y="2702863"/>
            <a:ext cx="296738" cy="213335"/>
          </a:xfrm>
          <a:prstGeom prst="roundRect">
            <a:avLst>
              <a:gd name="adj" fmla="val 21431"/>
            </a:avLst>
          </a:prstGeom>
          <a:ln w="28575">
            <a:solidFill>
              <a:srgbClr val="E76F51"/>
            </a:solidFill>
            <a:prstDash val="solid"/>
          </a:ln>
        </p:spPr>
      </p:sp>
      <p:sp>
        <p:nvSpPr>
          <p:cNvPr id="7" name="Shape 4"/>
          <p:cNvSpPr/>
          <p:nvPr/>
        </p:nvSpPr>
        <p:spPr>
          <a:xfrm>
            <a:off x="3232551" y="2583991"/>
            <a:ext cx="256032" cy="256032"/>
          </a:xfrm>
          <a:prstGeom prst="ellipse">
            <a:avLst/>
          </a:prstGeom>
          <a:solidFill>
            <a:srgbClr val="E76F51"/>
          </a:solidFill>
          <a:ln/>
        </p:spPr>
      </p:sp>
      <p:sp>
        <p:nvSpPr>
          <p:cNvPr id="8" name="Text 5"/>
          <p:cNvSpPr/>
          <p:nvPr/>
        </p:nvSpPr>
        <p:spPr>
          <a:xfrm>
            <a:off x="3232551" y="2583991"/>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Shape 6"/>
          <p:cNvSpPr/>
          <p:nvPr/>
        </p:nvSpPr>
        <p:spPr>
          <a:xfrm>
            <a:off x="548640" y="1261872"/>
            <a:ext cx="914400" cy="292608"/>
          </a:xfrm>
          <a:prstGeom prst="roundRect">
            <a:avLst>
              <a:gd name="adj" fmla="val 50000"/>
            </a:avLst>
          </a:prstGeom>
          <a:solidFill>
            <a:srgbClr val="EAF4EF"/>
          </a:solidFill>
          <a:ln/>
        </p:spPr>
      </p:sp>
      <p:sp>
        <p:nvSpPr>
          <p:cNvPr id="10" name="Text 7"/>
          <p:cNvSpPr/>
          <p:nvPr/>
        </p:nvSpPr>
        <p:spPr>
          <a:xfrm>
            <a:off x="548640" y="1261872"/>
            <a:ext cx="914400" cy="292608"/>
          </a:xfrm>
          <a:prstGeom prst="rect">
            <a:avLst/>
          </a:prstGeom>
          <a:noFill/>
          <a:ln/>
        </p:spPr>
        <p:txBody>
          <a:bodyPr wrap="square" lIns="0" tIns="0" rIns="0" bIns="0" rtlCol="0" anchor="ctr"/>
          <a:lstStyle/>
          <a:p>
            <a:pPr algn="ctr" indent="0" marL="0">
              <a:buNone/>
            </a:pPr>
            <a:r>
              <a:rPr lang="en-US" sz="1000" b="1" spc="100" kern="0" dirty="0">
                <a:solidFill>
                  <a:srgbClr val="2D6A4F"/>
                </a:solidFill>
                <a:latin typeface="Calibri" pitchFamily="34" charset="0"/>
                <a:ea typeface="Calibri" pitchFamily="34" charset="-122"/>
                <a:cs typeface="Calibri" pitchFamily="34" charset="-120"/>
              </a:rPr>
              <a:t>USER</a:t>
            </a:r>
            <a:endParaRPr lang="en-US" sz="1000" dirty="0"/>
          </a:p>
        </p:txBody>
      </p:sp>
      <p:sp>
        <p:nvSpPr>
          <p:cNvPr id="11" name="Shape 8"/>
          <p:cNvSpPr/>
          <p:nvPr/>
        </p:nvSpPr>
        <p:spPr>
          <a:xfrm>
            <a:off x="4590288" y="1572768"/>
            <a:ext cx="4032504" cy="2218142"/>
          </a:xfrm>
          <a:prstGeom prst="roundRect">
            <a:avLst>
              <a:gd name="adj" fmla="val 1649"/>
            </a:avLst>
          </a:prstGeom>
          <a:solidFill>
            <a:srgbClr val="FFFFFF"/>
          </a:solidFill>
          <a:ln w="12700">
            <a:solidFill>
              <a:srgbClr val="D8E6DE"/>
            </a:solidFill>
            <a:prstDash val="solid"/>
          </a:ln>
          <a:effectLst>
            <a:outerShdw sx="100000" sy="100000" kx="0" ky="0" algn="bl" rotWithShape="0" blurRad="88900" dist="25400" dir="2700000">
              <a:srgbClr val="1B2A23">
                <a:alpha val="14000"/>
              </a:srgbClr>
            </a:outerShdw>
          </a:effectLst>
        </p:spPr>
      </p:sp>
      <p:pic>
        <p:nvPicPr>
          <p:cNvPr id="12" name="Image 1" descr="shots/final/account_admin.png">    </p:cNvPr>
          <p:cNvPicPr>
            <a:picLocks noChangeAspect="1"/>
          </p:cNvPicPr>
          <p:nvPr/>
        </p:nvPicPr>
        <p:blipFill>
          <a:blip r:embed="rId2"/>
          <a:stretch>
            <a:fillRect/>
          </a:stretch>
        </p:blipFill>
        <p:spPr>
          <a:xfrm>
            <a:off x="4617720" y="1600200"/>
            <a:ext cx="3977640" cy="2163278"/>
          </a:xfrm>
          <a:prstGeom prst="rect">
            <a:avLst/>
          </a:prstGeom>
        </p:spPr>
      </p:pic>
      <p:sp>
        <p:nvSpPr>
          <p:cNvPr id="13" name="Shape 9"/>
          <p:cNvSpPr/>
          <p:nvPr/>
        </p:nvSpPr>
        <p:spPr>
          <a:xfrm>
            <a:off x="6951273" y="2637780"/>
            <a:ext cx="257590" cy="191130"/>
          </a:xfrm>
          <a:prstGeom prst="roundRect">
            <a:avLst>
              <a:gd name="adj" fmla="val 23921"/>
            </a:avLst>
          </a:prstGeom>
          <a:ln w="28575">
            <a:solidFill>
              <a:srgbClr val="E76F51"/>
            </a:solidFill>
            <a:prstDash val="solid"/>
          </a:ln>
        </p:spPr>
      </p:sp>
      <p:sp>
        <p:nvSpPr>
          <p:cNvPr id="14" name="Shape 10"/>
          <p:cNvSpPr/>
          <p:nvPr/>
        </p:nvSpPr>
        <p:spPr>
          <a:xfrm>
            <a:off x="6832401" y="2518908"/>
            <a:ext cx="256032" cy="256032"/>
          </a:xfrm>
          <a:prstGeom prst="ellipse">
            <a:avLst/>
          </a:prstGeom>
          <a:solidFill>
            <a:srgbClr val="E76F51"/>
          </a:solidFill>
          <a:ln/>
        </p:spPr>
      </p:sp>
      <p:sp>
        <p:nvSpPr>
          <p:cNvPr id="15" name="Text 11"/>
          <p:cNvSpPr/>
          <p:nvPr/>
        </p:nvSpPr>
        <p:spPr>
          <a:xfrm>
            <a:off x="6832401" y="2518908"/>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6" name="Shape 12"/>
          <p:cNvSpPr/>
          <p:nvPr/>
        </p:nvSpPr>
        <p:spPr>
          <a:xfrm>
            <a:off x="4617720" y="1261872"/>
            <a:ext cx="914400" cy="292608"/>
          </a:xfrm>
          <a:prstGeom prst="roundRect">
            <a:avLst>
              <a:gd name="adj" fmla="val 50000"/>
            </a:avLst>
          </a:prstGeom>
          <a:solidFill>
            <a:srgbClr val="163A2C"/>
          </a:solidFill>
          <a:ln/>
        </p:spPr>
      </p:sp>
      <p:sp>
        <p:nvSpPr>
          <p:cNvPr id="17" name="Text 13"/>
          <p:cNvSpPr/>
          <p:nvPr/>
        </p:nvSpPr>
        <p:spPr>
          <a:xfrm>
            <a:off x="4617720" y="1261872"/>
            <a:ext cx="914400" cy="292608"/>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ADMIN</a:t>
            </a:r>
            <a:endParaRPr lang="en-US" sz="1000" dirty="0"/>
          </a:p>
        </p:txBody>
      </p:sp>
      <p:sp>
        <p:nvSpPr>
          <p:cNvPr id="18" name="Text 14"/>
          <p:cNvSpPr/>
          <p:nvPr/>
        </p:nvSpPr>
        <p:spPr>
          <a:xfrm>
            <a:off x="548640" y="4160520"/>
            <a:ext cx="8046720" cy="685800"/>
          </a:xfrm>
          <a:prstGeom prst="rect">
            <a:avLst/>
          </a:prstGeom>
          <a:noFill/>
          <a:ln/>
        </p:spPr>
        <p:txBody>
          <a:bodyPr wrap="square" lIns="0" tIns="0" rIns="0" bIns="0" rtlCol="0" anchor="t"/>
          <a:lstStyle/>
          <a:p>
            <a:pPr indent="0" marL="0">
              <a:buNone/>
            </a:pPr>
            <a:r>
              <a:rPr lang="en-US" sz="1100" dirty="0">
                <a:solidFill>
                  <a:srgbClr val="22332B"/>
                </a:solidFill>
                <a:latin typeface="Calibri" pitchFamily="34" charset="0"/>
                <a:ea typeface="Calibri" pitchFamily="34" charset="-122"/>
                <a:cs typeface="Calibri" pitchFamily="34" charset="-120"/>
              </a:rPr>
              <a:t>The user icon in the navbar opens this page (or Login when signed out). </a:t>
            </a:r>
            <a:pPr indent="0" marL="0">
              <a:buNone/>
            </a:pPr>
            <a:r>
              <a:rPr lang="en-US" sz="1100" dirty="0">
                <a:solidFill>
                  <a:srgbClr val="6B7F74"/>
                </a:solidFill>
                <a:latin typeface="Calibri" pitchFamily="34" charset="0"/>
                <a:ea typeface="Calibri" pitchFamily="34" charset="-122"/>
                <a:cs typeface="Calibri" pitchFamily="34" charset="-120"/>
              </a:rPr>
              <a:t>Data comes from the protected GET /api/auth/me endpoint — name, email, contact and roles (1, 2). Logout clears the stored token.</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8046720" cy="274320"/>
          </a:xfrm>
          <a:prstGeom prst="rect">
            <a:avLst/>
          </a:prstGeom>
          <a:noFill/>
          <a:ln/>
        </p:spPr>
        <p:txBody>
          <a:bodyPr wrap="square" lIns="0" tIns="0" rIns="0" bIns="0" rtlCol="0" anchor="ctr"/>
          <a:lstStyle/>
          <a:p>
            <a:pPr indent="0" marL="0">
              <a:buNone/>
            </a:pPr>
            <a:r>
              <a:rPr lang="en-US" sz="1100" b="1" spc="200" kern="0" dirty="0">
                <a:solidFill>
                  <a:srgbClr val="E76F51"/>
                </a:solidFill>
                <a:latin typeface="Calibri" pitchFamily="34" charset="0"/>
                <a:ea typeface="Calibri" pitchFamily="34" charset="-122"/>
                <a:cs typeface="Calibri" pitchFamily="34" charset="-120"/>
              </a:rPr>
              <a:t>FEATURE TOUR · AUTHORIZATION</a:t>
            </a:r>
            <a:endParaRPr lang="en-US" sz="1100" dirty="0"/>
          </a:p>
        </p:txBody>
      </p:sp>
      <p:sp>
        <p:nvSpPr>
          <p:cNvPr id="3" name="Text 1"/>
          <p:cNvSpPr/>
          <p:nvPr/>
        </p:nvSpPr>
        <p:spPr>
          <a:xfrm>
            <a:off x="548640" y="493776"/>
            <a:ext cx="8046720" cy="566928"/>
          </a:xfrm>
          <a:prstGeom prst="rect">
            <a:avLst/>
          </a:prstGeom>
          <a:noFill/>
          <a:ln/>
        </p:spPr>
        <p:txBody>
          <a:bodyPr wrap="square" lIns="0" tIns="0" rIns="0" bIns="0" rtlCol="0" anchor="ctr"/>
          <a:lstStyle/>
          <a:p>
            <a:pPr indent="0" marL="0">
              <a:buNone/>
            </a:pPr>
            <a:r>
              <a:rPr lang="en-US" sz="3000" b="1" dirty="0">
                <a:solidFill>
                  <a:srgbClr val="163A2C"/>
                </a:solidFill>
                <a:latin typeface="Calibri" pitchFamily="34" charset="0"/>
                <a:ea typeface="Calibri" pitchFamily="34" charset="-122"/>
                <a:cs typeface="Calibri" pitchFamily="34" charset="-120"/>
              </a:rPr>
              <a:t>Admin vs. Regular User</a:t>
            </a:r>
            <a:endParaRPr lang="en-US" sz="3000" dirty="0"/>
          </a:p>
        </p:txBody>
      </p:sp>
      <p:sp>
        <p:nvSpPr>
          <p:cNvPr id="4" name="Shape 2"/>
          <p:cNvSpPr/>
          <p:nvPr/>
        </p:nvSpPr>
        <p:spPr>
          <a:xfrm>
            <a:off x="548640" y="1207008"/>
            <a:ext cx="914400" cy="292608"/>
          </a:xfrm>
          <a:prstGeom prst="roundRect">
            <a:avLst>
              <a:gd name="adj" fmla="val 50000"/>
            </a:avLst>
          </a:prstGeom>
          <a:solidFill>
            <a:srgbClr val="163A2C"/>
          </a:solidFill>
          <a:ln/>
        </p:spPr>
      </p:sp>
      <p:sp>
        <p:nvSpPr>
          <p:cNvPr id="5" name="Text 3"/>
          <p:cNvSpPr/>
          <p:nvPr/>
        </p:nvSpPr>
        <p:spPr>
          <a:xfrm>
            <a:off x="548640" y="1207008"/>
            <a:ext cx="914400" cy="292608"/>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ADMIN</a:t>
            </a:r>
            <a:endParaRPr lang="en-US" sz="1000" dirty="0"/>
          </a:p>
        </p:txBody>
      </p:sp>
      <p:sp>
        <p:nvSpPr>
          <p:cNvPr id="6" name="Text 4"/>
          <p:cNvSpPr/>
          <p:nvPr/>
        </p:nvSpPr>
        <p:spPr>
          <a:xfrm>
            <a:off x="548640" y="1627632"/>
            <a:ext cx="1691640" cy="1188720"/>
          </a:xfrm>
          <a:prstGeom prst="rect">
            <a:avLst/>
          </a:prstGeom>
          <a:noFill/>
          <a:ln/>
        </p:spPr>
        <p:txBody>
          <a:bodyPr wrap="square" lIns="0" tIns="0" rIns="0" bIns="0" rtlCol="0" anchor="t"/>
          <a:lstStyle/>
          <a:p>
            <a:pPr indent="0" marL="0">
              <a:lnSpc>
                <a:spcPct val="120000"/>
              </a:lnSpc>
              <a:buNone/>
            </a:pPr>
            <a:r>
              <a:rPr lang="en-US" sz="1000" b="1" dirty="0">
                <a:solidFill>
                  <a:srgbClr val="E76F51"/>
                </a:solidFill>
                <a:latin typeface="Calibri" pitchFamily="34" charset="0"/>
                <a:ea typeface="Calibri" pitchFamily="34" charset="-122"/>
                <a:cs typeface="Calibri" pitchFamily="34" charset="-120"/>
              </a:rPr>
              <a:t>1 </a:t>
            </a:r>
            <a:pPr indent="0" marL="0">
              <a:lnSpc>
                <a:spcPct val="120000"/>
              </a:lnSpc>
              <a:buNone/>
            </a:pPr>
            <a:r>
              <a:rPr lang="en-US" sz="1000" dirty="0">
                <a:solidFill>
                  <a:srgbClr val="22332B"/>
                </a:solidFill>
                <a:latin typeface="Calibri" pitchFamily="34" charset="0"/>
                <a:ea typeface="Calibri" pitchFamily="34" charset="-122"/>
                <a:cs typeface="Calibri" pitchFamily="34" charset="-120"/>
              </a:rPr>
              <a:t>tie icon marks the admin</a:t>
            </a:r>
            <a:endParaRPr lang="en-US" sz="1000" dirty="0"/>
          </a:p>
          <a:p>
            <a:pPr indent="0" marL="0">
              <a:lnSpc>
                <a:spcPct val="120000"/>
              </a:lnSpc>
              <a:buNone/>
            </a:pPr>
            <a:r>
              <a:rPr lang="en-US" sz="1000" b="1" dirty="0">
                <a:solidFill>
                  <a:srgbClr val="E76F51"/>
                </a:solidFill>
                <a:latin typeface="Calibri" pitchFamily="34" charset="0"/>
                <a:ea typeface="Calibri" pitchFamily="34" charset="-122"/>
                <a:cs typeface="Calibri" pitchFamily="34" charset="-120"/>
              </a:rPr>
              <a:t>2 </a:t>
            </a:r>
            <a:pPr indent="0" marL="0">
              <a:lnSpc>
                <a:spcPct val="120000"/>
              </a:lnSpc>
              <a:buNone/>
            </a:pPr>
            <a:r>
              <a:rPr lang="en-US" sz="1000" dirty="0">
                <a:solidFill>
                  <a:srgbClr val="22332B"/>
                </a:solidFill>
                <a:latin typeface="Calibri" pitchFamily="34" charset="0"/>
                <a:ea typeface="Calibri" pitchFamily="34" charset="-122"/>
                <a:cs typeface="Calibri" pitchFamily="34" charset="-120"/>
              </a:rPr>
              <a:t>“+ Adaugă business” — admins only</a:t>
            </a:r>
            <a:endParaRPr lang="en-US" sz="1000" dirty="0"/>
          </a:p>
        </p:txBody>
      </p:sp>
      <p:sp>
        <p:nvSpPr>
          <p:cNvPr id="7" name="Shape 5"/>
          <p:cNvSpPr/>
          <p:nvPr/>
        </p:nvSpPr>
        <p:spPr>
          <a:xfrm>
            <a:off x="2350008" y="1161288"/>
            <a:ext cx="6272784" cy="1809922"/>
          </a:xfrm>
          <a:prstGeom prst="roundRect">
            <a:avLst>
              <a:gd name="adj" fmla="val 2021"/>
            </a:avLst>
          </a:prstGeom>
          <a:solidFill>
            <a:srgbClr val="FFFFFF"/>
          </a:solidFill>
          <a:ln w="12700">
            <a:solidFill>
              <a:srgbClr val="D8E6DE"/>
            </a:solidFill>
            <a:prstDash val="solid"/>
          </a:ln>
          <a:effectLst>
            <a:outerShdw sx="100000" sy="100000" kx="0" ky="0" algn="bl" rotWithShape="0" blurRad="88900" dist="25400" dir="2700000">
              <a:srgbClr val="1B2A23">
                <a:alpha val="14000"/>
              </a:srgbClr>
            </a:outerShdw>
          </a:effectLst>
        </p:spPr>
      </p:sp>
      <p:pic>
        <p:nvPicPr>
          <p:cNvPr id="8" name="Image 0" descr="shots/final/home_admin_top.png">    </p:cNvPr>
          <p:cNvPicPr>
            <a:picLocks noChangeAspect="1"/>
          </p:cNvPicPr>
          <p:nvPr/>
        </p:nvPicPr>
        <p:blipFill>
          <a:blip r:embed="rId1"/>
          <a:stretch>
            <a:fillRect/>
          </a:stretch>
        </p:blipFill>
        <p:spPr>
          <a:xfrm>
            <a:off x="2377440" y="1188720"/>
            <a:ext cx="6217920" cy="1755058"/>
          </a:xfrm>
          <a:prstGeom prst="rect">
            <a:avLst/>
          </a:prstGeom>
        </p:spPr>
      </p:pic>
      <p:sp>
        <p:nvSpPr>
          <p:cNvPr id="9" name="Shape 6"/>
          <p:cNvSpPr/>
          <p:nvPr/>
        </p:nvSpPr>
        <p:spPr>
          <a:xfrm>
            <a:off x="8228715" y="1143000"/>
            <a:ext cx="332134" cy="292018"/>
          </a:xfrm>
          <a:prstGeom prst="roundRect">
            <a:avLst>
              <a:gd name="adj" fmla="val 15657"/>
            </a:avLst>
          </a:prstGeom>
          <a:ln w="28575">
            <a:solidFill>
              <a:srgbClr val="E76F51"/>
            </a:solidFill>
            <a:prstDash val="solid"/>
          </a:ln>
        </p:spPr>
      </p:sp>
      <p:sp>
        <p:nvSpPr>
          <p:cNvPr id="10" name="Shape 7"/>
          <p:cNvSpPr/>
          <p:nvPr/>
        </p:nvSpPr>
        <p:spPr>
          <a:xfrm>
            <a:off x="8109843" y="1024128"/>
            <a:ext cx="256032" cy="256032"/>
          </a:xfrm>
          <a:prstGeom prst="ellipse">
            <a:avLst/>
          </a:prstGeom>
          <a:solidFill>
            <a:srgbClr val="E76F51"/>
          </a:solidFill>
          <a:ln/>
        </p:spPr>
      </p:sp>
      <p:sp>
        <p:nvSpPr>
          <p:cNvPr id="11" name="Text 8"/>
          <p:cNvSpPr/>
          <p:nvPr/>
        </p:nvSpPr>
        <p:spPr>
          <a:xfrm>
            <a:off x="8109843" y="1024128"/>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2" name="Shape 9"/>
          <p:cNvSpPr/>
          <p:nvPr/>
        </p:nvSpPr>
        <p:spPr>
          <a:xfrm>
            <a:off x="7556779" y="1483983"/>
            <a:ext cx="893752" cy="292018"/>
          </a:xfrm>
          <a:prstGeom prst="roundRect">
            <a:avLst>
              <a:gd name="adj" fmla="val 15657"/>
            </a:avLst>
          </a:prstGeom>
          <a:ln w="28575">
            <a:solidFill>
              <a:srgbClr val="E76F51"/>
            </a:solidFill>
            <a:prstDash val="solid"/>
          </a:ln>
        </p:spPr>
      </p:sp>
      <p:sp>
        <p:nvSpPr>
          <p:cNvPr id="13" name="Shape 10"/>
          <p:cNvSpPr/>
          <p:nvPr/>
        </p:nvSpPr>
        <p:spPr>
          <a:xfrm>
            <a:off x="7437907" y="1365111"/>
            <a:ext cx="256032" cy="256032"/>
          </a:xfrm>
          <a:prstGeom prst="ellipse">
            <a:avLst/>
          </a:prstGeom>
          <a:solidFill>
            <a:srgbClr val="E76F51"/>
          </a:solidFill>
          <a:ln/>
        </p:spPr>
      </p:sp>
      <p:sp>
        <p:nvSpPr>
          <p:cNvPr id="14" name="Text 11"/>
          <p:cNvSpPr/>
          <p:nvPr/>
        </p:nvSpPr>
        <p:spPr>
          <a:xfrm>
            <a:off x="7437907" y="1365111"/>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5" name="Shape 12"/>
          <p:cNvSpPr/>
          <p:nvPr/>
        </p:nvSpPr>
        <p:spPr>
          <a:xfrm>
            <a:off x="548640" y="3218688"/>
            <a:ext cx="914400" cy="292608"/>
          </a:xfrm>
          <a:prstGeom prst="roundRect">
            <a:avLst>
              <a:gd name="adj" fmla="val 50000"/>
            </a:avLst>
          </a:prstGeom>
          <a:solidFill>
            <a:srgbClr val="EAF4EF"/>
          </a:solidFill>
          <a:ln/>
        </p:spPr>
      </p:sp>
      <p:sp>
        <p:nvSpPr>
          <p:cNvPr id="16" name="Text 13"/>
          <p:cNvSpPr/>
          <p:nvPr/>
        </p:nvSpPr>
        <p:spPr>
          <a:xfrm>
            <a:off x="548640" y="3218688"/>
            <a:ext cx="914400" cy="292608"/>
          </a:xfrm>
          <a:prstGeom prst="rect">
            <a:avLst/>
          </a:prstGeom>
          <a:noFill/>
          <a:ln/>
        </p:spPr>
        <p:txBody>
          <a:bodyPr wrap="square" lIns="0" tIns="0" rIns="0" bIns="0" rtlCol="0" anchor="ctr"/>
          <a:lstStyle/>
          <a:p>
            <a:pPr algn="ctr" indent="0" marL="0">
              <a:buNone/>
            </a:pPr>
            <a:r>
              <a:rPr lang="en-US" sz="1000" b="1" spc="100" kern="0" dirty="0">
                <a:solidFill>
                  <a:srgbClr val="2D6A4F"/>
                </a:solidFill>
                <a:latin typeface="Calibri" pitchFamily="34" charset="0"/>
                <a:ea typeface="Calibri" pitchFamily="34" charset="-122"/>
                <a:cs typeface="Calibri" pitchFamily="34" charset="-120"/>
              </a:rPr>
              <a:t>USER</a:t>
            </a:r>
            <a:endParaRPr lang="en-US" sz="1000" dirty="0"/>
          </a:p>
        </p:txBody>
      </p:sp>
      <p:sp>
        <p:nvSpPr>
          <p:cNvPr id="17" name="Text 14"/>
          <p:cNvSpPr/>
          <p:nvPr/>
        </p:nvSpPr>
        <p:spPr>
          <a:xfrm>
            <a:off x="548640" y="3639312"/>
            <a:ext cx="1691640" cy="1005840"/>
          </a:xfrm>
          <a:prstGeom prst="rect">
            <a:avLst/>
          </a:prstGeom>
          <a:noFill/>
          <a:ln/>
        </p:spPr>
        <p:txBody>
          <a:bodyPr wrap="square" lIns="0" tIns="0" rIns="0" bIns="0" rtlCol="0" anchor="t"/>
          <a:lstStyle/>
          <a:p>
            <a:pPr indent="0" marL="0">
              <a:lnSpc>
                <a:spcPct val="120000"/>
              </a:lnSpc>
              <a:buNone/>
            </a:pPr>
            <a:r>
              <a:rPr lang="en-US" sz="1000" b="1" dirty="0">
                <a:solidFill>
                  <a:srgbClr val="E76F51"/>
                </a:solidFill>
                <a:latin typeface="Calibri" pitchFamily="34" charset="0"/>
                <a:ea typeface="Calibri" pitchFamily="34" charset="-122"/>
                <a:cs typeface="Calibri" pitchFamily="34" charset="-120"/>
              </a:rPr>
              <a:t>3 </a:t>
            </a:r>
            <a:pPr indent="0" marL="0">
              <a:lnSpc>
                <a:spcPct val="120000"/>
              </a:lnSpc>
              <a:buNone/>
            </a:pPr>
            <a:r>
              <a:rPr lang="en-US" sz="1000" dirty="0">
                <a:solidFill>
                  <a:srgbClr val="22332B"/>
                </a:solidFill>
                <a:latin typeface="Calibri" pitchFamily="34" charset="0"/>
                <a:ea typeface="Calibri" pitchFamily="34" charset="-122"/>
                <a:cs typeface="Calibri" pitchFamily="34" charset="-120"/>
              </a:rPr>
              <a:t>plain icon — no admin controls anywhere</a:t>
            </a:r>
            <a:endParaRPr lang="en-US" sz="1000" dirty="0"/>
          </a:p>
        </p:txBody>
      </p:sp>
      <p:sp>
        <p:nvSpPr>
          <p:cNvPr id="18" name="Shape 15"/>
          <p:cNvSpPr/>
          <p:nvPr/>
        </p:nvSpPr>
        <p:spPr>
          <a:xfrm>
            <a:off x="2350008" y="3172968"/>
            <a:ext cx="6272784" cy="1809922"/>
          </a:xfrm>
          <a:prstGeom prst="roundRect">
            <a:avLst>
              <a:gd name="adj" fmla="val 2021"/>
            </a:avLst>
          </a:prstGeom>
          <a:solidFill>
            <a:srgbClr val="FFFFFF"/>
          </a:solidFill>
          <a:ln w="12700">
            <a:solidFill>
              <a:srgbClr val="D8E6DE"/>
            </a:solidFill>
            <a:prstDash val="solid"/>
          </a:ln>
          <a:effectLst>
            <a:outerShdw sx="100000" sy="100000" kx="0" ky="0" algn="bl" rotWithShape="0" blurRad="88900" dist="25400" dir="2700000">
              <a:srgbClr val="1B2A23">
                <a:alpha val="14000"/>
              </a:srgbClr>
            </a:outerShdw>
          </a:effectLst>
        </p:spPr>
      </p:sp>
      <p:pic>
        <p:nvPicPr>
          <p:cNvPr id="19" name="Image 1" descr="shots/final/home_user_top.png">    </p:cNvPr>
          <p:cNvPicPr>
            <a:picLocks noChangeAspect="1"/>
          </p:cNvPicPr>
          <p:nvPr/>
        </p:nvPicPr>
        <p:blipFill>
          <a:blip r:embed="rId2"/>
          <a:stretch>
            <a:fillRect/>
          </a:stretch>
        </p:blipFill>
        <p:spPr>
          <a:xfrm>
            <a:off x="2377440" y="3200400"/>
            <a:ext cx="6217920" cy="1755058"/>
          </a:xfrm>
          <a:prstGeom prst="rect">
            <a:avLst/>
          </a:prstGeom>
        </p:spPr>
      </p:pic>
      <p:sp>
        <p:nvSpPr>
          <p:cNvPr id="20" name="Shape 16"/>
          <p:cNvSpPr/>
          <p:nvPr/>
        </p:nvSpPr>
        <p:spPr>
          <a:xfrm>
            <a:off x="8369120" y="3154680"/>
            <a:ext cx="271960" cy="312076"/>
          </a:xfrm>
          <a:prstGeom prst="roundRect">
            <a:avLst>
              <a:gd name="adj" fmla="val 16811"/>
            </a:avLst>
          </a:prstGeom>
          <a:ln w="28575">
            <a:solidFill>
              <a:srgbClr val="E76F51"/>
            </a:solidFill>
            <a:prstDash val="solid"/>
          </a:ln>
        </p:spPr>
      </p:sp>
      <p:sp>
        <p:nvSpPr>
          <p:cNvPr id="21" name="Shape 17"/>
          <p:cNvSpPr/>
          <p:nvPr/>
        </p:nvSpPr>
        <p:spPr>
          <a:xfrm>
            <a:off x="8250248" y="3035808"/>
            <a:ext cx="256032" cy="256032"/>
          </a:xfrm>
          <a:prstGeom prst="ellipse">
            <a:avLst/>
          </a:prstGeom>
          <a:solidFill>
            <a:srgbClr val="E76F51"/>
          </a:solidFill>
          <a:ln/>
        </p:spPr>
      </p:sp>
      <p:sp>
        <p:nvSpPr>
          <p:cNvPr id="22" name="Text 18"/>
          <p:cNvSpPr/>
          <p:nvPr/>
        </p:nvSpPr>
        <p:spPr>
          <a:xfrm>
            <a:off x="8250248" y="3035808"/>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3" name="Text 19"/>
          <p:cNvSpPr/>
          <p:nvPr/>
        </p:nvSpPr>
        <p:spPr>
          <a:xfrm>
            <a:off x="548640" y="4992624"/>
            <a:ext cx="8046720" cy="146304"/>
          </a:xfrm>
          <a:prstGeom prst="rect">
            <a:avLst/>
          </a:prstGeom>
          <a:noFill/>
          <a:ln/>
        </p:spPr>
        <p:txBody>
          <a:bodyPr wrap="square" lIns="0" tIns="0" rIns="0" bIns="0" rtlCol="0" anchor="t"/>
          <a:lstStyle/>
          <a:p>
            <a:pPr indent="0" marL="0">
              <a:buNone/>
            </a:pPr>
            <a:r>
              <a:rPr lang="en-US" sz="950" i="1" dirty="0">
                <a:solidFill>
                  <a:srgbClr val="2D6A4F"/>
                </a:solidFill>
                <a:latin typeface="Calibri" pitchFamily="34" charset="0"/>
                <a:ea typeface="Calibri" pitchFamily="34" charset="-122"/>
                <a:cs typeface="Calibri" pitchFamily="34" charset="-120"/>
              </a:rPr>
              <a:t>Same page, two roles — AuthorizeView hides admin controls; the API enforces it with [Authorize(Roles = "Admin")].</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8046720" cy="274320"/>
          </a:xfrm>
          <a:prstGeom prst="rect">
            <a:avLst/>
          </a:prstGeom>
          <a:noFill/>
          <a:ln/>
        </p:spPr>
        <p:txBody>
          <a:bodyPr wrap="square" lIns="0" tIns="0" rIns="0" bIns="0" rtlCol="0" anchor="ctr"/>
          <a:lstStyle/>
          <a:p>
            <a:pPr indent="0" marL="0">
              <a:buNone/>
            </a:pPr>
            <a:r>
              <a:rPr lang="en-US" sz="1100" b="1" spc="200" kern="0" dirty="0">
                <a:solidFill>
                  <a:srgbClr val="E76F51"/>
                </a:solidFill>
                <a:latin typeface="Calibri" pitchFamily="34" charset="0"/>
                <a:ea typeface="Calibri" pitchFamily="34" charset="-122"/>
                <a:cs typeface="Calibri" pitchFamily="34" charset="-120"/>
              </a:rPr>
              <a:t>FEATURE TOUR · ADMIN</a:t>
            </a:r>
            <a:endParaRPr lang="en-US" sz="1100" dirty="0"/>
          </a:p>
        </p:txBody>
      </p:sp>
      <p:sp>
        <p:nvSpPr>
          <p:cNvPr id="3" name="Text 1"/>
          <p:cNvSpPr/>
          <p:nvPr/>
        </p:nvSpPr>
        <p:spPr>
          <a:xfrm>
            <a:off x="548640" y="493776"/>
            <a:ext cx="8046720" cy="566928"/>
          </a:xfrm>
          <a:prstGeom prst="rect">
            <a:avLst/>
          </a:prstGeom>
          <a:noFill/>
          <a:ln/>
        </p:spPr>
        <p:txBody>
          <a:bodyPr wrap="square" lIns="0" tIns="0" rIns="0" bIns="0" rtlCol="0" anchor="ctr"/>
          <a:lstStyle/>
          <a:p>
            <a:pPr indent="0" marL="0">
              <a:buNone/>
            </a:pPr>
            <a:r>
              <a:rPr lang="en-US" sz="3000" b="1" dirty="0">
                <a:solidFill>
                  <a:srgbClr val="163A2C"/>
                </a:solidFill>
                <a:latin typeface="Calibri" pitchFamily="34" charset="0"/>
                <a:ea typeface="Calibri" pitchFamily="34" charset="-122"/>
                <a:cs typeface="Calibri" pitchFamily="34" charset="-120"/>
              </a:rPr>
              <a:t>Adding a Business</a:t>
            </a:r>
            <a:endParaRPr lang="en-US" sz="3000" dirty="0"/>
          </a:p>
        </p:txBody>
      </p:sp>
      <p:sp>
        <p:nvSpPr>
          <p:cNvPr id="4" name="Shape 2"/>
          <p:cNvSpPr/>
          <p:nvPr/>
        </p:nvSpPr>
        <p:spPr>
          <a:xfrm>
            <a:off x="521208" y="1271016"/>
            <a:ext cx="5175504" cy="2751459"/>
          </a:xfrm>
          <a:prstGeom prst="roundRect">
            <a:avLst>
              <a:gd name="adj" fmla="val 1329"/>
            </a:avLst>
          </a:prstGeom>
          <a:solidFill>
            <a:srgbClr val="FFFFFF"/>
          </a:solidFill>
          <a:ln w="12700">
            <a:solidFill>
              <a:srgbClr val="D8E6DE"/>
            </a:solidFill>
            <a:prstDash val="solid"/>
          </a:ln>
          <a:effectLst>
            <a:outerShdw sx="100000" sy="100000" kx="0" ky="0" algn="bl" rotWithShape="0" blurRad="88900" dist="25400" dir="2700000">
              <a:srgbClr val="1B2A23">
                <a:alpha val="14000"/>
              </a:srgbClr>
            </a:outerShdw>
          </a:effectLst>
        </p:spPr>
      </p:sp>
      <p:pic>
        <p:nvPicPr>
          <p:cNvPr id="5" name="Image 0" descr="shots/final/add_business.png">    </p:cNvPr>
          <p:cNvPicPr>
            <a:picLocks noChangeAspect="1"/>
          </p:cNvPicPr>
          <p:nvPr/>
        </p:nvPicPr>
        <p:blipFill>
          <a:blip r:embed="rId1"/>
          <a:stretch>
            <a:fillRect/>
          </a:stretch>
        </p:blipFill>
        <p:spPr>
          <a:xfrm>
            <a:off x="548640" y="1298448"/>
            <a:ext cx="5120640" cy="2696595"/>
          </a:xfrm>
          <a:prstGeom prst="rect">
            <a:avLst/>
          </a:prstGeom>
        </p:spPr>
      </p:pic>
      <p:sp>
        <p:nvSpPr>
          <p:cNvPr id="6" name="Shape 3"/>
          <p:cNvSpPr/>
          <p:nvPr/>
        </p:nvSpPr>
        <p:spPr>
          <a:xfrm>
            <a:off x="2022594" y="3367057"/>
            <a:ext cx="2147955" cy="281399"/>
          </a:xfrm>
          <a:prstGeom prst="roundRect">
            <a:avLst>
              <a:gd name="adj" fmla="val 16247"/>
            </a:avLst>
          </a:prstGeom>
          <a:ln w="28575">
            <a:solidFill>
              <a:srgbClr val="E76F51"/>
            </a:solidFill>
            <a:prstDash val="solid"/>
          </a:ln>
        </p:spPr>
      </p:sp>
      <p:sp>
        <p:nvSpPr>
          <p:cNvPr id="7" name="Shape 4"/>
          <p:cNvSpPr/>
          <p:nvPr/>
        </p:nvSpPr>
        <p:spPr>
          <a:xfrm>
            <a:off x="1903722" y="3248185"/>
            <a:ext cx="256032" cy="256032"/>
          </a:xfrm>
          <a:prstGeom prst="ellipse">
            <a:avLst/>
          </a:prstGeom>
          <a:solidFill>
            <a:srgbClr val="E76F51"/>
          </a:solidFill>
          <a:ln/>
        </p:spPr>
      </p:sp>
      <p:sp>
        <p:nvSpPr>
          <p:cNvPr id="8" name="Text 5"/>
          <p:cNvSpPr/>
          <p:nvPr/>
        </p:nvSpPr>
        <p:spPr>
          <a:xfrm>
            <a:off x="1903722" y="3248185"/>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Shape 6"/>
          <p:cNvSpPr/>
          <p:nvPr/>
        </p:nvSpPr>
        <p:spPr>
          <a:xfrm>
            <a:off x="2022594" y="3590052"/>
            <a:ext cx="776945" cy="289658"/>
          </a:xfrm>
          <a:prstGeom prst="roundRect">
            <a:avLst>
              <a:gd name="adj" fmla="val 15784"/>
            </a:avLst>
          </a:prstGeom>
          <a:ln w="28575">
            <a:solidFill>
              <a:srgbClr val="E76F51"/>
            </a:solidFill>
            <a:prstDash val="solid"/>
          </a:ln>
        </p:spPr>
      </p:sp>
      <p:sp>
        <p:nvSpPr>
          <p:cNvPr id="10" name="Shape 7"/>
          <p:cNvSpPr/>
          <p:nvPr/>
        </p:nvSpPr>
        <p:spPr>
          <a:xfrm>
            <a:off x="1903722" y="3471180"/>
            <a:ext cx="256032" cy="256032"/>
          </a:xfrm>
          <a:prstGeom prst="ellipse">
            <a:avLst/>
          </a:prstGeom>
          <a:solidFill>
            <a:srgbClr val="E76F51"/>
          </a:solidFill>
          <a:ln/>
        </p:spPr>
      </p:sp>
      <p:sp>
        <p:nvSpPr>
          <p:cNvPr id="11" name="Text 8"/>
          <p:cNvSpPr/>
          <p:nvPr/>
        </p:nvSpPr>
        <p:spPr>
          <a:xfrm>
            <a:off x="1903722" y="3471180"/>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Shape 9"/>
          <p:cNvSpPr/>
          <p:nvPr/>
        </p:nvSpPr>
        <p:spPr>
          <a:xfrm>
            <a:off x="6144768" y="2807208"/>
            <a:ext cx="2203704" cy="1457400"/>
          </a:xfrm>
          <a:prstGeom prst="roundRect">
            <a:avLst>
              <a:gd name="adj" fmla="val 2510"/>
            </a:avLst>
          </a:prstGeom>
          <a:solidFill>
            <a:srgbClr val="FFFFFF"/>
          </a:solidFill>
          <a:ln w="12700">
            <a:solidFill>
              <a:srgbClr val="D8E6DE"/>
            </a:solidFill>
            <a:prstDash val="solid"/>
          </a:ln>
          <a:effectLst>
            <a:outerShdw sx="100000" sy="100000" kx="0" ky="0" algn="bl" rotWithShape="0" blurRad="88900" dist="25400" dir="2700000">
              <a:srgbClr val="1B2A23">
                <a:alpha val="14000"/>
              </a:srgbClr>
            </a:outerShdw>
          </a:effectLst>
        </p:spPr>
      </p:sp>
      <p:pic>
        <p:nvPicPr>
          <p:cNvPr id="13" name="Image 1" descr="shots/final/cantina_card.png">    </p:cNvPr>
          <p:cNvPicPr>
            <a:picLocks noChangeAspect="1"/>
          </p:cNvPicPr>
          <p:nvPr/>
        </p:nvPicPr>
        <p:blipFill>
          <a:blip r:embed="rId2"/>
          <a:stretch>
            <a:fillRect/>
          </a:stretch>
        </p:blipFill>
        <p:spPr>
          <a:xfrm>
            <a:off x="6172200" y="2834640"/>
            <a:ext cx="2148840" cy="1402536"/>
          </a:xfrm>
          <a:prstGeom prst="rect">
            <a:avLst/>
          </a:prstGeom>
        </p:spPr>
      </p:pic>
      <p:pic>
        <p:nvPicPr>
          <p:cNvPr id="14" name="Image 2" descr="preencoded.png">    </p:cNvPr>
          <p:cNvPicPr>
            <a:picLocks noChangeAspect="1"/>
          </p:cNvPicPr>
          <p:nvPr/>
        </p:nvPicPr>
        <p:blipFill>
          <a:blip r:embed="rId3"/>
          <a:stretch>
            <a:fillRect/>
          </a:stretch>
        </p:blipFill>
        <p:spPr>
          <a:xfrm>
            <a:off x="5779008" y="3429000"/>
            <a:ext cx="274320" cy="274320"/>
          </a:xfrm>
          <a:prstGeom prst="rect">
            <a:avLst/>
          </a:prstGeom>
        </p:spPr>
      </p:pic>
      <p:sp>
        <p:nvSpPr>
          <p:cNvPr id="15" name="Shape 10"/>
          <p:cNvSpPr/>
          <p:nvPr/>
        </p:nvSpPr>
        <p:spPr>
          <a:xfrm>
            <a:off x="5897880" y="1389888"/>
            <a:ext cx="237744" cy="237744"/>
          </a:xfrm>
          <a:prstGeom prst="ellipse">
            <a:avLst/>
          </a:prstGeom>
          <a:solidFill>
            <a:srgbClr val="E76F51"/>
          </a:solidFill>
          <a:ln/>
        </p:spPr>
      </p:sp>
      <p:sp>
        <p:nvSpPr>
          <p:cNvPr id="16" name="Text 11"/>
          <p:cNvSpPr/>
          <p:nvPr/>
        </p:nvSpPr>
        <p:spPr>
          <a:xfrm>
            <a:off x="5897880" y="1389888"/>
            <a:ext cx="237744" cy="23774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17" name="Text 12"/>
          <p:cNvSpPr/>
          <p:nvPr/>
        </p:nvSpPr>
        <p:spPr>
          <a:xfrm>
            <a:off x="6245352" y="1371600"/>
            <a:ext cx="2350008" cy="777240"/>
          </a:xfrm>
          <a:prstGeom prst="rect">
            <a:avLst/>
          </a:prstGeom>
          <a:noFill/>
          <a:ln/>
        </p:spPr>
        <p:txBody>
          <a:bodyPr wrap="square" lIns="0" tIns="0" rIns="0" bIns="0" rtlCol="0" anchor="t"/>
          <a:lstStyle/>
          <a:p>
            <a:pPr indent="0" marL="0">
              <a:buNone/>
            </a:pPr>
            <a:r>
              <a:rPr lang="en-US" sz="1050" b="1" dirty="0">
                <a:solidFill>
                  <a:srgbClr val="22332B"/>
                </a:solidFill>
                <a:latin typeface="Calibri" pitchFamily="34" charset="0"/>
                <a:ea typeface="Calibri" pitchFamily="34" charset="-122"/>
                <a:cs typeface="Calibri" pitchFamily="34" charset="-120"/>
              </a:rPr>
              <a:t>Business types from the API — </a:t>
            </a:r>
            <a:pPr indent="0" marL="0">
              <a:buNone/>
            </a:pPr>
            <a:r>
              <a:rPr lang="en-US" sz="1050" dirty="0">
                <a:solidFill>
                  <a:srgbClr val="6B7F74"/>
                </a:solidFill>
                <a:latin typeface="Calibri" pitchFamily="34" charset="0"/>
                <a:ea typeface="Calibri" pitchFamily="34" charset="-122"/>
                <a:cs typeface="Calibri" pitchFamily="34" charset="-120"/>
              </a:rPr>
              <a:t>the dropdown is filled by GET /api/businesstypes</a:t>
            </a:r>
            <a:endParaRPr lang="en-US" sz="1050" dirty="0"/>
          </a:p>
        </p:txBody>
      </p:sp>
      <p:sp>
        <p:nvSpPr>
          <p:cNvPr id="18" name="Shape 13"/>
          <p:cNvSpPr/>
          <p:nvPr/>
        </p:nvSpPr>
        <p:spPr>
          <a:xfrm>
            <a:off x="5897880" y="2212848"/>
            <a:ext cx="237744" cy="237744"/>
          </a:xfrm>
          <a:prstGeom prst="ellipse">
            <a:avLst/>
          </a:prstGeom>
          <a:solidFill>
            <a:srgbClr val="E76F51"/>
          </a:solidFill>
          <a:ln/>
        </p:spPr>
      </p:sp>
      <p:sp>
        <p:nvSpPr>
          <p:cNvPr id="19" name="Text 14"/>
          <p:cNvSpPr/>
          <p:nvPr/>
        </p:nvSpPr>
        <p:spPr>
          <a:xfrm>
            <a:off x="5897880" y="2212848"/>
            <a:ext cx="237744" cy="23774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20" name="Text 15"/>
          <p:cNvSpPr/>
          <p:nvPr/>
        </p:nvSpPr>
        <p:spPr>
          <a:xfrm>
            <a:off x="6245352" y="2194560"/>
            <a:ext cx="2350008" cy="777240"/>
          </a:xfrm>
          <a:prstGeom prst="rect">
            <a:avLst/>
          </a:prstGeom>
          <a:noFill/>
          <a:ln/>
        </p:spPr>
        <p:txBody>
          <a:bodyPr wrap="square" lIns="0" tIns="0" rIns="0" bIns="0" rtlCol="0" anchor="t"/>
          <a:lstStyle/>
          <a:p>
            <a:pPr indent="0" marL="0">
              <a:buNone/>
            </a:pPr>
            <a:r>
              <a:rPr lang="en-US" sz="1050" b="1" dirty="0">
                <a:solidFill>
                  <a:srgbClr val="22332B"/>
                </a:solidFill>
                <a:latin typeface="Calibri" pitchFamily="34" charset="0"/>
                <a:ea typeface="Calibri" pitchFamily="34" charset="-122"/>
                <a:cs typeface="Calibri" pitchFamily="34" charset="-120"/>
              </a:rPr>
              <a:t>Submit — </a:t>
            </a:r>
            <a:pPr indent="0" marL="0">
              <a:buNone/>
            </a:pPr>
            <a:r>
              <a:rPr lang="en-US" sz="1050" dirty="0">
                <a:solidFill>
                  <a:srgbClr val="6B7F74"/>
                </a:solidFill>
                <a:latin typeface="Calibri" pitchFamily="34" charset="0"/>
                <a:ea typeface="Calibri" pitchFamily="34" charset="-122"/>
                <a:cs typeface="Calibri" pitchFamily="34" charset="-120"/>
              </a:rPr>
              <a:t>POST /api/business — admin-only; the referenced type ID is validated server-side</a:t>
            </a:r>
            <a:endParaRPr lang="en-US" sz="1050" dirty="0"/>
          </a:p>
        </p:txBody>
      </p:sp>
      <p:sp>
        <p:nvSpPr>
          <p:cNvPr id="21" name="Text 16"/>
          <p:cNvSpPr/>
          <p:nvPr/>
        </p:nvSpPr>
        <p:spPr>
          <a:xfrm>
            <a:off x="6172200" y="4346904"/>
            <a:ext cx="2377440" cy="274320"/>
          </a:xfrm>
          <a:prstGeom prst="rect">
            <a:avLst/>
          </a:prstGeom>
          <a:noFill/>
          <a:ln/>
        </p:spPr>
        <p:txBody>
          <a:bodyPr wrap="square" lIns="0" tIns="0" rIns="0" bIns="0" rtlCol="0" anchor="ctr"/>
          <a:lstStyle/>
          <a:p>
            <a:pPr indent="0" marL="0">
              <a:buNone/>
            </a:pPr>
            <a:r>
              <a:rPr lang="en-US" sz="950" i="1" dirty="0">
                <a:solidFill>
                  <a:srgbClr val="6B7F74"/>
                </a:solidFill>
                <a:latin typeface="Calibri" pitchFamily="34" charset="0"/>
                <a:ea typeface="Calibri" pitchFamily="34" charset="-122"/>
                <a:cs typeface="Calibri" pitchFamily="34" charset="-120"/>
              </a:rPr>
              <a:t>“Cantina” instantly appears in the list</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8046720" cy="274320"/>
          </a:xfrm>
          <a:prstGeom prst="rect">
            <a:avLst/>
          </a:prstGeom>
          <a:noFill/>
          <a:ln/>
        </p:spPr>
        <p:txBody>
          <a:bodyPr wrap="square" lIns="0" tIns="0" rIns="0" bIns="0" rtlCol="0" anchor="ctr"/>
          <a:lstStyle/>
          <a:p>
            <a:pPr indent="0" marL="0">
              <a:buNone/>
            </a:pPr>
            <a:r>
              <a:rPr lang="en-US" sz="1100" b="1" spc="200" kern="0" dirty="0">
                <a:solidFill>
                  <a:srgbClr val="E76F51"/>
                </a:solidFill>
                <a:latin typeface="Calibri" pitchFamily="34" charset="0"/>
                <a:ea typeface="Calibri" pitchFamily="34" charset="-122"/>
                <a:cs typeface="Calibri" pitchFamily="34" charset="-120"/>
              </a:rPr>
              <a:t>FEATURE TOUR · ADMIN</a:t>
            </a:r>
            <a:endParaRPr lang="en-US" sz="1100" dirty="0"/>
          </a:p>
        </p:txBody>
      </p:sp>
      <p:sp>
        <p:nvSpPr>
          <p:cNvPr id="3" name="Text 1"/>
          <p:cNvSpPr/>
          <p:nvPr/>
        </p:nvSpPr>
        <p:spPr>
          <a:xfrm>
            <a:off x="548640" y="493776"/>
            <a:ext cx="8046720" cy="566928"/>
          </a:xfrm>
          <a:prstGeom prst="rect">
            <a:avLst/>
          </a:prstGeom>
          <a:noFill/>
          <a:ln/>
        </p:spPr>
        <p:txBody>
          <a:bodyPr wrap="square" lIns="0" tIns="0" rIns="0" bIns="0" rtlCol="0" anchor="ctr"/>
          <a:lstStyle/>
          <a:p>
            <a:pPr indent="0" marL="0">
              <a:buNone/>
            </a:pPr>
            <a:r>
              <a:rPr lang="en-US" sz="3000" b="1" dirty="0">
                <a:solidFill>
                  <a:srgbClr val="163A2C"/>
                </a:solidFill>
                <a:latin typeface="Calibri" pitchFamily="34" charset="0"/>
                <a:ea typeface="Calibri" pitchFamily="34" charset="-122"/>
                <a:cs typeface="Calibri" pitchFamily="34" charset="-120"/>
              </a:rPr>
              <a:t>Editing &amp; Deleting a Business</a:t>
            </a:r>
            <a:endParaRPr lang="en-US" sz="3000" dirty="0"/>
          </a:p>
        </p:txBody>
      </p:sp>
      <p:sp>
        <p:nvSpPr>
          <p:cNvPr id="4" name="Shape 2"/>
          <p:cNvSpPr/>
          <p:nvPr/>
        </p:nvSpPr>
        <p:spPr>
          <a:xfrm>
            <a:off x="3035808" y="1271016"/>
            <a:ext cx="5586984" cy="3091466"/>
          </a:xfrm>
          <a:prstGeom prst="roundRect">
            <a:avLst>
              <a:gd name="adj" fmla="val 1183"/>
            </a:avLst>
          </a:prstGeom>
          <a:solidFill>
            <a:srgbClr val="FFFFFF"/>
          </a:solidFill>
          <a:ln w="12700">
            <a:solidFill>
              <a:srgbClr val="D8E6DE"/>
            </a:solidFill>
            <a:prstDash val="solid"/>
          </a:ln>
          <a:effectLst>
            <a:outerShdw sx="100000" sy="100000" kx="0" ky="0" algn="bl" rotWithShape="0" blurRad="88900" dist="25400" dir="2700000">
              <a:srgbClr val="1B2A23">
                <a:alpha val="14000"/>
              </a:srgbClr>
            </a:outerShdw>
          </a:effectLst>
        </p:spPr>
      </p:sp>
      <p:pic>
        <p:nvPicPr>
          <p:cNvPr id="5" name="Image 0" descr="shots/final/edit_hover.png">    </p:cNvPr>
          <p:cNvPicPr>
            <a:picLocks noChangeAspect="1"/>
          </p:cNvPicPr>
          <p:nvPr/>
        </p:nvPicPr>
        <p:blipFill>
          <a:blip r:embed="rId1"/>
          <a:stretch>
            <a:fillRect/>
          </a:stretch>
        </p:blipFill>
        <p:spPr>
          <a:xfrm>
            <a:off x="3063240" y="1298448"/>
            <a:ext cx="5532120" cy="3036602"/>
          </a:xfrm>
          <a:prstGeom prst="rect">
            <a:avLst/>
          </a:prstGeom>
        </p:spPr>
      </p:pic>
      <p:sp>
        <p:nvSpPr>
          <p:cNvPr id="6" name="Shape 3"/>
          <p:cNvSpPr/>
          <p:nvPr/>
        </p:nvSpPr>
        <p:spPr>
          <a:xfrm>
            <a:off x="6693161" y="3239813"/>
            <a:ext cx="436614" cy="278021"/>
          </a:xfrm>
          <a:prstGeom prst="roundRect">
            <a:avLst>
              <a:gd name="adj" fmla="val 16445"/>
            </a:avLst>
          </a:prstGeom>
          <a:ln w="28575">
            <a:solidFill>
              <a:srgbClr val="E76F51"/>
            </a:solidFill>
            <a:prstDash val="solid"/>
          </a:ln>
        </p:spPr>
      </p:sp>
      <p:sp>
        <p:nvSpPr>
          <p:cNvPr id="7" name="Shape 4"/>
          <p:cNvSpPr/>
          <p:nvPr/>
        </p:nvSpPr>
        <p:spPr>
          <a:xfrm>
            <a:off x="6574289" y="3120941"/>
            <a:ext cx="256032" cy="256032"/>
          </a:xfrm>
          <a:prstGeom prst="ellipse">
            <a:avLst/>
          </a:prstGeom>
          <a:solidFill>
            <a:srgbClr val="E76F51"/>
          </a:solidFill>
          <a:ln/>
        </p:spPr>
      </p:sp>
      <p:sp>
        <p:nvSpPr>
          <p:cNvPr id="8" name="Text 5"/>
          <p:cNvSpPr/>
          <p:nvPr/>
        </p:nvSpPr>
        <p:spPr>
          <a:xfrm>
            <a:off x="6574289" y="3120941"/>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Shape 6"/>
          <p:cNvSpPr/>
          <p:nvPr/>
        </p:nvSpPr>
        <p:spPr>
          <a:xfrm>
            <a:off x="6730477" y="3398407"/>
            <a:ext cx="483260" cy="212718"/>
          </a:xfrm>
          <a:prstGeom prst="roundRect">
            <a:avLst>
              <a:gd name="adj" fmla="val 21493"/>
            </a:avLst>
          </a:prstGeom>
          <a:ln w="28575">
            <a:solidFill>
              <a:srgbClr val="E76F51"/>
            </a:solidFill>
            <a:prstDash val="solid"/>
          </a:ln>
        </p:spPr>
      </p:sp>
      <p:sp>
        <p:nvSpPr>
          <p:cNvPr id="10" name="Shape 7"/>
          <p:cNvSpPr/>
          <p:nvPr/>
        </p:nvSpPr>
        <p:spPr>
          <a:xfrm>
            <a:off x="6611605" y="3279535"/>
            <a:ext cx="256032" cy="256032"/>
          </a:xfrm>
          <a:prstGeom prst="ellipse">
            <a:avLst/>
          </a:prstGeom>
          <a:solidFill>
            <a:srgbClr val="E76F51"/>
          </a:solidFill>
          <a:ln/>
        </p:spPr>
      </p:sp>
      <p:sp>
        <p:nvSpPr>
          <p:cNvPr id="11" name="Text 8"/>
          <p:cNvSpPr/>
          <p:nvPr/>
        </p:nvSpPr>
        <p:spPr>
          <a:xfrm>
            <a:off x="6611605" y="3279535"/>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Shape 9"/>
          <p:cNvSpPr/>
          <p:nvPr/>
        </p:nvSpPr>
        <p:spPr>
          <a:xfrm>
            <a:off x="548640" y="1389888"/>
            <a:ext cx="237744" cy="237744"/>
          </a:xfrm>
          <a:prstGeom prst="ellipse">
            <a:avLst/>
          </a:prstGeom>
          <a:solidFill>
            <a:srgbClr val="E76F51"/>
          </a:solidFill>
          <a:ln/>
        </p:spPr>
      </p:sp>
      <p:sp>
        <p:nvSpPr>
          <p:cNvPr id="13" name="Text 10"/>
          <p:cNvSpPr/>
          <p:nvPr/>
        </p:nvSpPr>
        <p:spPr>
          <a:xfrm>
            <a:off x="548640" y="1389888"/>
            <a:ext cx="237744" cy="23774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14" name="Text 11"/>
          <p:cNvSpPr/>
          <p:nvPr/>
        </p:nvSpPr>
        <p:spPr>
          <a:xfrm>
            <a:off x="896112" y="1371600"/>
            <a:ext cx="1984248" cy="777240"/>
          </a:xfrm>
          <a:prstGeom prst="rect">
            <a:avLst/>
          </a:prstGeom>
          <a:noFill/>
          <a:ln/>
        </p:spPr>
        <p:txBody>
          <a:bodyPr wrap="square" lIns="0" tIns="0" rIns="0" bIns="0" rtlCol="0" anchor="t"/>
          <a:lstStyle/>
          <a:p>
            <a:pPr indent="0" marL="0">
              <a:buNone/>
            </a:pPr>
            <a:r>
              <a:rPr lang="en-US" sz="1050" b="1" dirty="0">
                <a:solidFill>
                  <a:srgbClr val="22332B"/>
                </a:solidFill>
                <a:latin typeface="Calibri" pitchFamily="34" charset="0"/>
                <a:ea typeface="Calibri" pitchFamily="34" charset="-122"/>
                <a:cs typeface="Calibri" pitchFamily="34" charset="-120"/>
              </a:rPr>
              <a:t>Hover actions — </a:t>
            </a:r>
            <a:pPr indent="0" marL="0">
              <a:buNone/>
            </a:pPr>
            <a:r>
              <a:rPr lang="en-US" sz="1050" dirty="0">
                <a:solidFill>
                  <a:srgbClr val="6B7F74"/>
                </a:solidFill>
                <a:latin typeface="Calibri" pitchFamily="34" charset="0"/>
                <a:ea typeface="Calibri" pitchFamily="34" charset="-122"/>
                <a:cs typeface="Calibri" pitchFamily="34" charset="-120"/>
              </a:rPr>
              <a:t>pencil = edit, bin = delete; they appear only on hover, only for admins</a:t>
            </a:r>
            <a:endParaRPr lang="en-US" sz="1050" dirty="0"/>
          </a:p>
        </p:txBody>
      </p:sp>
      <p:sp>
        <p:nvSpPr>
          <p:cNvPr id="15" name="Shape 12"/>
          <p:cNvSpPr/>
          <p:nvPr/>
        </p:nvSpPr>
        <p:spPr>
          <a:xfrm>
            <a:off x="548640" y="2395728"/>
            <a:ext cx="237744" cy="237744"/>
          </a:xfrm>
          <a:prstGeom prst="ellipse">
            <a:avLst/>
          </a:prstGeom>
          <a:solidFill>
            <a:srgbClr val="E76F51"/>
          </a:solidFill>
          <a:ln/>
        </p:spPr>
      </p:sp>
      <p:sp>
        <p:nvSpPr>
          <p:cNvPr id="16" name="Text 13"/>
          <p:cNvSpPr/>
          <p:nvPr/>
        </p:nvSpPr>
        <p:spPr>
          <a:xfrm>
            <a:off x="548640" y="2395728"/>
            <a:ext cx="237744" cy="23774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17" name="Text 14"/>
          <p:cNvSpPr/>
          <p:nvPr/>
        </p:nvSpPr>
        <p:spPr>
          <a:xfrm>
            <a:off x="896112" y="2377440"/>
            <a:ext cx="1984248" cy="777240"/>
          </a:xfrm>
          <a:prstGeom prst="rect">
            <a:avLst/>
          </a:prstGeom>
          <a:noFill/>
          <a:ln/>
        </p:spPr>
        <p:txBody>
          <a:bodyPr wrap="square" lIns="0" tIns="0" rIns="0" bIns="0" rtlCol="0" anchor="t"/>
          <a:lstStyle/>
          <a:p>
            <a:pPr indent="0" marL="0">
              <a:buNone/>
            </a:pPr>
            <a:r>
              <a:rPr lang="en-US" sz="1050" b="1" dirty="0">
                <a:solidFill>
                  <a:srgbClr val="22332B"/>
                </a:solidFill>
                <a:latin typeface="Calibri" pitchFamily="34" charset="0"/>
                <a:ea typeface="Calibri" pitchFamily="34" charset="-122"/>
                <a:cs typeface="Calibri" pitchFamily="34" charset="-120"/>
              </a:rPr>
              <a:t>Tooltips — </a:t>
            </a:r>
            <a:pPr indent="0" marL="0">
              <a:buNone/>
            </a:pPr>
            <a:r>
              <a:rPr lang="en-US" sz="1050" dirty="0">
                <a:solidFill>
                  <a:srgbClr val="6B7F74"/>
                </a:solidFill>
                <a:latin typeface="Calibri" pitchFamily="34" charset="0"/>
                <a:ea typeface="Calibri" pitchFamily="34" charset="-122"/>
                <a:cs typeface="Calibri" pitchFamily="34" charset="-120"/>
              </a:rPr>
              <a:t>each button announces its target — “Edit Cantina”</a:t>
            </a:r>
            <a:endParaRPr lang="en-US" sz="1050" dirty="0"/>
          </a:p>
        </p:txBody>
      </p:sp>
      <p:sp>
        <p:nvSpPr>
          <p:cNvPr id="18" name="Text 15"/>
          <p:cNvSpPr/>
          <p:nvPr/>
        </p:nvSpPr>
        <p:spPr>
          <a:xfrm>
            <a:off x="548640" y="3429000"/>
            <a:ext cx="2331720" cy="1371600"/>
          </a:xfrm>
          <a:prstGeom prst="rect">
            <a:avLst/>
          </a:prstGeom>
          <a:noFill/>
          <a:ln/>
        </p:spPr>
        <p:txBody>
          <a:bodyPr wrap="square" lIns="0" tIns="0" rIns="0" bIns="0" rtlCol="0" anchor="t"/>
          <a:lstStyle/>
          <a:p>
            <a:pPr indent="0" marL="0">
              <a:lnSpc>
                <a:spcPct val="120000"/>
              </a:lnSpc>
              <a:buNone/>
            </a:pPr>
            <a:r>
              <a:rPr lang="en-US" sz="1050" b="1" dirty="0">
                <a:solidFill>
                  <a:srgbClr val="163A2C"/>
                </a:solidFill>
                <a:latin typeface="Calibri" pitchFamily="34" charset="0"/>
                <a:ea typeface="Calibri" pitchFamily="34" charset="-122"/>
                <a:cs typeface="Calibri" pitchFamily="34" charset="-120"/>
              </a:rPr>
              <a:t>Edit </a:t>
            </a:r>
            <a:pPr indent="0" marL="0">
              <a:lnSpc>
                <a:spcPct val="120000"/>
              </a:lnSpc>
              <a:buNone/>
            </a:pPr>
            <a:r>
              <a:rPr lang="en-US" sz="1050" dirty="0">
                <a:solidFill>
                  <a:srgbClr val="6B7F74"/>
                </a:solidFill>
                <a:latin typeface="Calibri" pitchFamily="34" charset="0"/>
                <a:ea typeface="Calibri" pitchFamily="34" charset="-122"/>
                <a:cs typeface="Calibri" pitchFamily="34" charset="-120"/>
              </a:rPr>
              <a:t>reuses the same form pre-filled (PUT, 204 No Content). </a:t>
            </a:r>
            <a:endParaRPr lang="en-US" sz="1050" dirty="0"/>
          </a:p>
          <a:p>
            <a:pPr indent="0" marL="0">
              <a:lnSpc>
                <a:spcPct val="120000"/>
              </a:lnSpc>
              <a:buNone/>
            </a:pPr>
            <a:r>
              <a:rPr lang="en-US" sz="1050" b="1" dirty="0">
                <a:solidFill>
                  <a:srgbClr val="163A2C"/>
                </a:solidFill>
                <a:latin typeface="Calibri" pitchFamily="34" charset="0"/>
                <a:ea typeface="Calibri" pitchFamily="34" charset="-122"/>
                <a:cs typeface="Calibri" pitchFamily="34" charset="-120"/>
              </a:rPr>
              <a:t>Delete </a:t>
            </a:r>
            <a:pPr indent="0" marL="0">
              <a:lnSpc>
                <a:spcPct val="120000"/>
              </a:lnSpc>
              <a:buNone/>
            </a:pPr>
            <a:r>
              <a:rPr lang="en-US" sz="1050" dirty="0">
                <a:solidFill>
                  <a:srgbClr val="6B7F74"/>
                </a:solidFill>
                <a:latin typeface="Calibri" pitchFamily="34" charset="0"/>
                <a:ea typeface="Calibri" pitchFamily="34" charset="-122"/>
                <a:cs typeface="Calibri" pitchFamily="34" charset="-120"/>
              </a:rPr>
              <a:t>removes the business (DELETE, 204) — its packages go with it.</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8046720" cy="274320"/>
          </a:xfrm>
          <a:prstGeom prst="rect">
            <a:avLst/>
          </a:prstGeom>
          <a:noFill/>
          <a:ln/>
        </p:spPr>
        <p:txBody>
          <a:bodyPr wrap="square" lIns="0" tIns="0" rIns="0" bIns="0" rtlCol="0" anchor="ctr"/>
          <a:lstStyle/>
          <a:p>
            <a:pPr indent="0" marL="0">
              <a:buNone/>
            </a:pPr>
            <a:r>
              <a:rPr lang="en-US" sz="1100" b="1" spc="200" kern="0" dirty="0">
                <a:solidFill>
                  <a:srgbClr val="E76F51"/>
                </a:solidFill>
                <a:latin typeface="Calibri" pitchFamily="34" charset="0"/>
                <a:ea typeface="Calibri" pitchFamily="34" charset="-122"/>
                <a:cs typeface="Calibri" pitchFamily="34" charset="-120"/>
              </a:rPr>
              <a:t>FEATURE TOUR · PACKAGES</a:t>
            </a:r>
            <a:endParaRPr lang="en-US" sz="1100" dirty="0"/>
          </a:p>
        </p:txBody>
      </p:sp>
      <p:sp>
        <p:nvSpPr>
          <p:cNvPr id="3" name="Text 1"/>
          <p:cNvSpPr/>
          <p:nvPr/>
        </p:nvSpPr>
        <p:spPr>
          <a:xfrm>
            <a:off x="548640" y="493776"/>
            <a:ext cx="8046720" cy="566928"/>
          </a:xfrm>
          <a:prstGeom prst="rect">
            <a:avLst/>
          </a:prstGeom>
          <a:noFill/>
          <a:ln/>
        </p:spPr>
        <p:txBody>
          <a:bodyPr wrap="square" lIns="0" tIns="0" rIns="0" bIns="0" rtlCol="0" anchor="ctr"/>
          <a:lstStyle/>
          <a:p>
            <a:pPr indent="0" marL="0">
              <a:buNone/>
            </a:pPr>
            <a:r>
              <a:rPr lang="en-US" sz="3000" b="1" dirty="0">
                <a:solidFill>
                  <a:srgbClr val="163A2C"/>
                </a:solidFill>
                <a:latin typeface="Calibri" pitchFamily="34" charset="0"/>
                <a:ea typeface="Calibri" pitchFamily="34" charset="-122"/>
                <a:cs typeface="Calibri" pitchFamily="34" charset="-120"/>
              </a:rPr>
              <a:t>Business Details &amp; Packages</a:t>
            </a:r>
            <a:endParaRPr lang="en-US" sz="3000" dirty="0"/>
          </a:p>
        </p:txBody>
      </p:sp>
      <p:sp>
        <p:nvSpPr>
          <p:cNvPr id="4" name="Shape 2"/>
          <p:cNvSpPr/>
          <p:nvPr/>
        </p:nvSpPr>
        <p:spPr>
          <a:xfrm>
            <a:off x="3035808" y="1271016"/>
            <a:ext cx="5586984" cy="3063561"/>
          </a:xfrm>
          <a:prstGeom prst="roundRect">
            <a:avLst>
              <a:gd name="adj" fmla="val 1194"/>
            </a:avLst>
          </a:prstGeom>
          <a:solidFill>
            <a:srgbClr val="FFFFFF"/>
          </a:solidFill>
          <a:ln w="12700">
            <a:solidFill>
              <a:srgbClr val="D8E6DE"/>
            </a:solidFill>
            <a:prstDash val="solid"/>
          </a:ln>
          <a:effectLst>
            <a:outerShdw sx="100000" sy="100000" kx="0" ky="0" algn="bl" rotWithShape="0" blurRad="88900" dist="25400" dir="2700000">
              <a:srgbClr val="1B2A23">
                <a:alpha val="14000"/>
              </a:srgbClr>
            </a:outerShdw>
          </a:effectLst>
        </p:spPr>
      </p:sp>
      <p:pic>
        <p:nvPicPr>
          <p:cNvPr id="5" name="Image 0" descr="shots/final/details_admin.png">    </p:cNvPr>
          <p:cNvPicPr>
            <a:picLocks noChangeAspect="1"/>
          </p:cNvPicPr>
          <p:nvPr/>
        </p:nvPicPr>
        <p:blipFill>
          <a:blip r:embed="rId1"/>
          <a:stretch>
            <a:fillRect/>
          </a:stretch>
        </p:blipFill>
        <p:spPr>
          <a:xfrm>
            <a:off x="3063240" y="1298448"/>
            <a:ext cx="5532120" cy="3008697"/>
          </a:xfrm>
          <a:prstGeom prst="rect">
            <a:avLst/>
          </a:prstGeom>
        </p:spPr>
      </p:pic>
      <p:sp>
        <p:nvSpPr>
          <p:cNvPr id="6" name="Shape 3"/>
          <p:cNvSpPr/>
          <p:nvPr/>
        </p:nvSpPr>
        <p:spPr>
          <a:xfrm>
            <a:off x="3248603" y="1622460"/>
            <a:ext cx="5184503" cy="997284"/>
          </a:xfrm>
          <a:prstGeom prst="roundRect">
            <a:avLst>
              <a:gd name="adj" fmla="val 4584"/>
            </a:avLst>
          </a:prstGeom>
          <a:ln w="28575">
            <a:solidFill>
              <a:srgbClr val="E76F51"/>
            </a:solidFill>
            <a:prstDash val="solid"/>
          </a:ln>
        </p:spPr>
      </p:sp>
      <p:sp>
        <p:nvSpPr>
          <p:cNvPr id="7" name="Shape 4"/>
          <p:cNvSpPr/>
          <p:nvPr/>
        </p:nvSpPr>
        <p:spPr>
          <a:xfrm>
            <a:off x="3129731" y="1503588"/>
            <a:ext cx="256032" cy="256032"/>
          </a:xfrm>
          <a:prstGeom prst="ellipse">
            <a:avLst/>
          </a:prstGeom>
          <a:solidFill>
            <a:srgbClr val="E76F51"/>
          </a:solidFill>
          <a:ln/>
        </p:spPr>
      </p:sp>
      <p:sp>
        <p:nvSpPr>
          <p:cNvPr id="8" name="Text 5"/>
          <p:cNvSpPr/>
          <p:nvPr/>
        </p:nvSpPr>
        <p:spPr>
          <a:xfrm>
            <a:off x="3129731" y="1503588"/>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Shape 6"/>
          <p:cNvSpPr/>
          <p:nvPr/>
        </p:nvSpPr>
        <p:spPr>
          <a:xfrm>
            <a:off x="5023318" y="3055173"/>
            <a:ext cx="830905" cy="257820"/>
          </a:xfrm>
          <a:prstGeom prst="roundRect">
            <a:avLst>
              <a:gd name="adj" fmla="val 17733"/>
            </a:avLst>
          </a:prstGeom>
          <a:ln w="28575">
            <a:solidFill>
              <a:srgbClr val="E76F51"/>
            </a:solidFill>
            <a:prstDash val="solid"/>
          </a:ln>
        </p:spPr>
      </p:sp>
      <p:sp>
        <p:nvSpPr>
          <p:cNvPr id="10" name="Shape 7"/>
          <p:cNvSpPr/>
          <p:nvPr/>
        </p:nvSpPr>
        <p:spPr>
          <a:xfrm>
            <a:off x="4904446" y="2936301"/>
            <a:ext cx="256032" cy="256032"/>
          </a:xfrm>
          <a:prstGeom prst="ellipse">
            <a:avLst/>
          </a:prstGeom>
          <a:solidFill>
            <a:srgbClr val="E76F51"/>
          </a:solidFill>
          <a:ln/>
        </p:spPr>
      </p:sp>
      <p:sp>
        <p:nvSpPr>
          <p:cNvPr id="11" name="Text 8"/>
          <p:cNvSpPr/>
          <p:nvPr/>
        </p:nvSpPr>
        <p:spPr>
          <a:xfrm>
            <a:off x="4904446" y="2936301"/>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Shape 9"/>
          <p:cNvSpPr/>
          <p:nvPr/>
        </p:nvSpPr>
        <p:spPr>
          <a:xfrm>
            <a:off x="7611444" y="2574521"/>
            <a:ext cx="821661" cy="304036"/>
          </a:xfrm>
          <a:prstGeom prst="roundRect">
            <a:avLst>
              <a:gd name="adj" fmla="val 15038"/>
            </a:avLst>
          </a:prstGeom>
          <a:ln w="28575">
            <a:solidFill>
              <a:srgbClr val="E76F51"/>
            </a:solidFill>
            <a:prstDash val="solid"/>
          </a:ln>
        </p:spPr>
      </p:sp>
      <p:sp>
        <p:nvSpPr>
          <p:cNvPr id="13" name="Shape 10"/>
          <p:cNvSpPr/>
          <p:nvPr/>
        </p:nvSpPr>
        <p:spPr>
          <a:xfrm>
            <a:off x="7492572" y="2455649"/>
            <a:ext cx="256032" cy="256032"/>
          </a:xfrm>
          <a:prstGeom prst="ellipse">
            <a:avLst/>
          </a:prstGeom>
          <a:solidFill>
            <a:srgbClr val="E76F51"/>
          </a:solidFill>
          <a:ln/>
        </p:spPr>
      </p:sp>
      <p:sp>
        <p:nvSpPr>
          <p:cNvPr id="14" name="Text 11"/>
          <p:cNvSpPr/>
          <p:nvPr/>
        </p:nvSpPr>
        <p:spPr>
          <a:xfrm>
            <a:off x="7492572" y="2455649"/>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5" name="Shape 12"/>
          <p:cNvSpPr/>
          <p:nvPr/>
        </p:nvSpPr>
        <p:spPr>
          <a:xfrm>
            <a:off x="548640" y="1389888"/>
            <a:ext cx="237744" cy="237744"/>
          </a:xfrm>
          <a:prstGeom prst="ellipse">
            <a:avLst/>
          </a:prstGeom>
          <a:solidFill>
            <a:srgbClr val="E76F51"/>
          </a:solidFill>
          <a:ln/>
        </p:spPr>
      </p:sp>
      <p:sp>
        <p:nvSpPr>
          <p:cNvPr id="16" name="Text 13"/>
          <p:cNvSpPr/>
          <p:nvPr/>
        </p:nvSpPr>
        <p:spPr>
          <a:xfrm>
            <a:off x="548640" y="1389888"/>
            <a:ext cx="237744" cy="23774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17" name="Text 14"/>
          <p:cNvSpPr/>
          <p:nvPr/>
        </p:nvSpPr>
        <p:spPr>
          <a:xfrm>
            <a:off x="896112" y="1371600"/>
            <a:ext cx="1984248" cy="777240"/>
          </a:xfrm>
          <a:prstGeom prst="rect">
            <a:avLst/>
          </a:prstGeom>
          <a:noFill/>
          <a:ln/>
        </p:spPr>
        <p:txBody>
          <a:bodyPr wrap="square" lIns="0" tIns="0" rIns="0" bIns="0" rtlCol="0" anchor="t"/>
          <a:lstStyle/>
          <a:p>
            <a:pPr indent="0" marL="0">
              <a:buNone/>
            </a:pPr>
            <a:r>
              <a:rPr lang="en-US" sz="1050" b="1" dirty="0">
                <a:solidFill>
                  <a:srgbClr val="22332B"/>
                </a:solidFill>
                <a:latin typeface="Calibri" pitchFamily="34" charset="0"/>
                <a:ea typeface="Calibri" pitchFamily="34" charset="-122"/>
                <a:cs typeface="Calibri" pitchFamily="34" charset="-120"/>
              </a:rPr>
              <a:t>Profile hero — </a:t>
            </a:r>
            <a:pPr indent="0" marL="0">
              <a:buNone/>
            </a:pPr>
            <a:r>
              <a:rPr lang="en-US" sz="1050" dirty="0">
                <a:solidFill>
                  <a:srgbClr val="6B7F74"/>
                </a:solidFill>
                <a:latin typeface="Calibri" pitchFamily="34" charset="0"/>
                <a:ea typeface="Calibri" pitchFamily="34" charset="-122"/>
                <a:cs typeface="Calibri" pitchFamily="34" charset="-120"/>
              </a:rPr>
              <a:t>type badge, description, contact and address — one GET /api/business/{id} with packages included</a:t>
            </a:r>
            <a:endParaRPr lang="en-US" sz="1050" dirty="0"/>
          </a:p>
        </p:txBody>
      </p:sp>
      <p:sp>
        <p:nvSpPr>
          <p:cNvPr id="18" name="Shape 15"/>
          <p:cNvSpPr/>
          <p:nvPr/>
        </p:nvSpPr>
        <p:spPr>
          <a:xfrm>
            <a:off x="548640" y="2532888"/>
            <a:ext cx="237744" cy="237744"/>
          </a:xfrm>
          <a:prstGeom prst="ellipse">
            <a:avLst/>
          </a:prstGeom>
          <a:solidFill>
            <a:srgbClr val="E76F51"/>
          </a:solidFill>
          <a:ln/>
        </p:spPr>
      </p:sp>
      <p:sp>
        <p:nvSpPr>
          <p:cNvPr id="19" name="Text 16"/>
          <p:cNvSpPr/>
          <p:nvPr/>
        </p:nvSpPr>
        <p:spPr>
          <a:xfrm>
            <a:off x="548640" y="2532888"/>
            <a:ext cx="237744" cy="23774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20" name="Text 17"/>
          <p:cNvSpPr/>
          <p:nvPr/>
        </p:nvSpPr>
        <p:spPr>
          <a:xfrm>
            <a:off x="896112" y="2514600"/>
            <a:ext cx="1984248" cy="777240"/>
          </a:xfrm>
          <a:prstGeom prst="rect">
            <a:avLst/>
          </a:prstGeom>
          <a:noFill/>
          <a:ln/>
        </p:spPr>
        <p:txBody>
          <a:bodyPr wrap="square" lIns="0" tIns="0" rIns="0" bIns="0" rtlCol="0" anchor="t"/>
          <a:lstStyle/>
          <a:p>
            <a:pPr indent="0" marL="0">
              <a:buNone/>
            </a:pPr>
            <a:r>
              <a:rPr lang="en-US" sz="1050" b="1" dirty="0">
                <a:solidFill>
                  <a:srgbClr val="22332B"/>
                </a:solidFill>
                <a:latin typeface="Calibri" pitchFamily="34" charset="0"/>
                <a:ea typeface="Calibri" pitchFamily="34" charset="-122"/>
                <a:cs typeface="Calibri" pitchFamily="34" charset="-120"/>
              </a:rPr>
              <a:t>Pickup window — </a:t>
            </a:r>
            <a:pPr indent="0" marL="0">
              <a:buNone/>
            </a:pPr>
            <a:r>
              <a:rPr lang="en-US" sz="1050" dirty="0">
                <a:solidFill>
                  <a:srgbClr val="6B7F74"/>
                </a:solidFill>
                <a:latin typeface="Calibri" pitchFamily="34" charset="0"/>
                <a:ea typeface="Calibri" pitchFamily="34" charset="-122"/>
                <a:cs typeface="Calibri" pitchFamily="34" charset="-120"/>
              </a:rPr>
              <a:t>each package shows price and its pickup interval</a:t>
            </a:r>
            <a:endParaRPr lang="en-US" sz="1050" dirty="0"/>
          </a:p>
        </p:txBody>
      </p:sp>
      <p:sp>
        <p:nvSpPr>
          <p:cNvPr id="21" name="Shape 18"/>
          <p:cNvSpPr/>
          <p:nvPr/>
        </p:nvSpPr>
        <p:spPr>
          <a:xfrm>
            <a:off x="548640" y="3355848"/>
            <a:ext cx="237744" cy="237744"/>
          </a:xfrm>
          <a:prstGeom prst="ellipse">
            <a:avLst/>
          </a:prstGeom>
          <a:solidFill>
            <a:srgbClr val="E76F51"/>
          </a:solidFill>
          <a:ln/>
        </p:spPr>
      </p:sp>
      <p:sp>
        <p:nvSpPr>
          <p:cNvPr id="22" name="Text 19"/>
          <p:cNvSpPr/>
          <p:nvPr/>
        </p:nvSpPr>
        <p:spPr>
          <a:xfrm>
            <a:off x="548640" y="3355848"/>
            <a:ext cx="237744" cy="23774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23" name="Text 20"/>
          <p:cNvSpPr/>
          <p:nvPr/>
        </p:nvSpPr>
        <p:spPr>
          <a:xfrm>
            <a:off x="896112" y="3337560"/>
            <a:ext cx="1984248" cy="777240"/>
          </a:xfrm>
          <a:prstGeom prst="rect">
            <a:avLst/>
          </a:prstGeom>
          <a:noFill/>
          <a:ln/>
        </p:spPr>
        <p:txBody>
          <a:bodyPr wrap="square" lIns="0" tIns="0" rIns="0" bIns="0" rtlCol="0" anchor="t"/>
          <a:lstStyle/>
          <a:p>
            <a:pPr indent="0" marL="0">
              <a:buNone/>
            </a:pPr>
            <a:r>
              <a:rPr lang="en-US" sz="1050" b="1" dirty="0">
                <a:solidFill>
                  <a:srgbClr val="22332B"/>
                </a:solidFill>
                <a:latin typeface="Calibri" pitchFamily="34" charset="0"/>
                <a:ea typeface="Calibri" pitchFamily="34" charset="-122"/>
                <a:cs typeface="Calibri" pitchFamily="34" charset="-120"/>
              </a:rPr>
              <a:t>Admin actions — </a:t>
            </a:r>
            <a:pPr indent="0" marL="0">
              <a:buNone/>
            </a:pPr>
            <a:r>
              <a:rPr lang="en-US" sz="1050" dirty="0">
                <a:solidFill>
                  <a:srgbClr val="6B7F74"/>
                </a:solidFill>
                <a:latin typeface="Calibri" pitchFamily="34" charset="0"/>
                <a:ea typeface="Calibri" pitchFamily="34" charset="-122"/>
                <a:cs typeface="Calibri" pitchFamily="34" charset="-120"/>
              </a:rPr>
              <a:t>add, edit or delete packages — hidden for regular users</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8046720" cy="274320"/>
          </a:xfrm>
          <a:prstGeom prst="rect">
            <a:avLst/>
          </a:prstGeom>
          <a:noFill/>
          <a:ln/>
        </p:spPr>
        <p:txBody>
          <a:bodyPr wrap="square" lIns="0" tIns="0" rIns="0" bIns="0" rtlCol="0" anchor="ctr"/>
          <a:lstStyle/>
          <a:p>
            <a:pPr indent="0" marL="0">
              <a:buNone/>
            </a:pPr>
            <a:r>
              <a:rPr lang="en-US" sz="1100" b="1" spc="200" kern="0" dirty="0">
                <a:solidFill>
                  <a:srgbClr val="E76F51"/>
                </a:solidFill>
                <a:latin typeface="Calibri" pitchFamily="34" charset="0"/>
                <a:ea typeface="Calibri" pitchFamily="34" charset="-122"/>
                <a:cs typeface="Calibri" pitchFamily="34" charset="-120"/>
              </a:rPr>
              <a:t>FEATURE TOUR · ADMIN</a:t>
            </a:r>
            <a:endParaRPr lang="en-US" sz="1100" dirty="0"/>
          </a:p>
        </p:txBody>
      </p:sp>
      <p:sp>
        <p:nvSpPr>
          <p:cNvPr id="3" name="Text 1"/>
          <p:cNvSpPr/>
          <p:nvPr/>
        </p:nvSpPr>
        <p:spPr>
          <a:xfrm>
            <a:off x="548640" y="493776"/>
            <a:ext cx="8046720" cy="566928"/>
          </a:xfrm>
          <a:prstGeom prst="rect">
            <a:avLst/>
          </a:prstGeom>
          <a:noFill/>
          <a:ln/>
        </p:spPr>
        <p:txBody>
          <a:bodyPr wrap="square" lIns="0" tIns="0" rIns="0" bIns="0" rtlCol="0" anchor="ctr"/>
          <a:lstStyle/>
          <a:p>
            <a:pPr indent="0" marL="0">
              <a:buNone/>
            </a:pPr>
            <a:r>
              <a:rPr lang="en-US" sz="3000" b="1" dirty="0">
                <a:solidFill>
                  <a:srgbClr val="163A2C"/>
                </a:solidFill>
                <a:latin typeface="Calibri" pitchFamily="34" charset="0"/>
                <a:ea typeface="Calibri" pitchFamily="34" charset="-122"/>
                <a:cs typeface="Calibri" pitchFamily="34" charset="-120"/>
              </a:rPr>
              <a:t>Adding a Package</a:t>
            </a:r>
            <a:endParaRPr lang="en-US" sz="3000" dirty="0"/>
          </a:p>
        </p:txBody>
      </p:sp>
      <p:sp>
        <p:nvSpPr>
          <p:cNvPr id="4" name="Shape 2"/>
          <p:cNvSpPr/>
          <p:nvPr/>
        </p:nvSpPr>
        <p:spPr>
          <a:xfrm>
            <a:off x="521208" y="1271016"/>
            <a:ext cx="5175504" cy="2865603"/>
          </a:xfrm>
          <a:prstGeom prst="roundRect">
            <a:avLst>
              <a:gd name="adj" fmla="val 1276"/>
            </a:avLst>
          </a:prstGeom>
          <a:solidFill>
            <a:srgbClr val="FFFFFF"/>
          </a:solidFill>
          <a:ln w="12700">
            <a:solidFill>
              <a:srgbClr val="D8E6DE"/>
            </a:solidFill>
            <a:prstDash val="solid"/>
          </a:ln>
          <a:effectLst>
            <a:outerShdw sx="100000" sy="100000" kx="0" ky="0" algn="bl" rotWithShape="0" blurRad="88900" dist="25400" dir="2700000">
              <a:srgbClr val="1B2A23">
                <a:alpha val="14000"/>
              </a:srgbClr>
            </a:outerShdw>
          </a:effectLst>
        </p:spPr>
      </p:sp>
      <p:pic>
        <p:nvPicPr>
          <p:cNvPr id="5" name="Image 0" descr="shots/final/add_package.png">    </p:cNvPr>
          <p:cNvPicPr>
            <a:picLocks noChangeAspect="1"/>
          </p:cNvPicPr>
          <p:nvPr/>
        </p:nvPicPr>
        <p:blipFill>
          <a:blip r:embed="rId1"/>
          <a:stretch>
            <a:fillRect/>
          </a:stretch>
        </p:blipFill>
        <p:spPr>
          <a:xfrm>
            <a:off x="548640" y="1298448"/>
            <a:ext cx="5120640" cy="2810739"/>
          </a:xfrm>
          <a:prstGeom prst="rect">
            <a:avLst/>
          </a:prstGeom>
        </p:spPr>
      </p:pic>
      <p:sp>
        <p:nvSpPr>
          <p:cNvPr id="6" name="Shape 3"/>
          <p:cNvSpPr/>
          <p:nvPr/>
        </p:nvSpPr>
        <p:spPr>
          <a:xfrm>
            <a:off x="2044293" y="2660256"/>
            <a:ext cx="2137969" cy="264143"/>
          </a:xfrm>
          <a:prstGeom prst="roundRect">
            <a:avLst>
              <a:gd name="adj" fmla="val 17309"/>
            </a:avLst>
          </a:prstGeom>
          <a:ln w="28575">
            <a:solidFill>
              <a:srgbClr val="E76F51"/>
            </a:solidFill>
            <a:prstDash val="solid"/>
          </a:ln>
        </p:spPr>
      </p:sp>
      <p:sp>
        <p:nvSpPr>
          <p:cNvPr id="7" name="Shape 4"/>
          <p:cNvSpPr/>
          <p:nvPr/>
        </p:nvSpPr>
        <p:spPr>
          <a:xfrm>
            <a:off x="1925421" y="2541384"/>
            <a:ext cx="256032" cy="256032"/>
          </a:xfrm>
          <a:prstGeom prst="ellipse">
            <a:avLst/>
          </a:prstGeom>
          <a:solidFill>
            <a:srgbClr val="E76F51"/>
          </a:solidFill>
          <a:ln/>
        </p:spPr>
      </p:sp>
      <p:sp>
        <p:nvSpPr>
          <p:cNvPr id="8" name="Text 5"/>
          <p:cNvSpPr/>
          <p:nvPr/>
        </p:nvSpPr>
        <p:spPr>
          <a:xfrm>
            <a:off x="1925421" y="2541384"/>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Shape 6"/>
          <p:cNvSpPr/>
          <p:nvPr/>
        </p:nvSpPr>
        <p:spPr>
          <a:xfrm>
            <a:off x="2044293" y="2945216"/>
            <a:ext cx="2137969" cy="549103"/>
          </a:xfrm>
          <a:prstGeom prst="roundRect">
            <a:avLst>
              <a:gd name="adj" fmla="val 8326"/>
            </a:avLst>
          </a:prstGeom>
          <a:ln w="28575">
            <a:solidFill>
              <a:srgbClr val="E76F51"/>
            </a:solidFill>
            <a:prstDash val="solid"/>
          </a:ln>
        </p:spPr>
      </p:sp>
      <p:sp>
        <p:nvSpPr>
          <p:cNvPr id="10" name="Shape 7"/>
          <p:cNvSpPr/>
          <p:nvPr/>
        </p:nvSpPr>
        <p:spPr>
          <a:xfrm>
            <a:off x="1925421" y="2826344"/>
            <a:ext cx="256032" cy="256032"/>
          </a:xfrm>
          <a:prstGeom prst="ellipse">
            <a:avLst/>
          </a:prstGeom>
          <a:solidFill>
            <a:srgbClr val="E76F51"/>
          </a:solidFill>
          <a:ln/>
        </p:spPr>
      </p:sp>
      <p:sp>
        <p:nvSpPr>
          <p:cNvPr id="11" name="Text 8"/>
          <p:cNvSpPr/>
          <p:nvPr/>
        </p:nvSpPr>
        <p:spPr>
          <a:xfrm>
            <a:off x="1925421" y="2826344"/>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Shape 9"/>
          <p:cNvSpPr/>
          <p:nvPr/>
        </p:nvSpPr>
        <p:spPr>
          <a:xfrm>
            <a:off x="2044293" y="3515136"/>
            <a:ext cx="2137969" cy="264143"/>
          </a:xfrm>
          <a:prstGeom prst="roundRect">
            <a:avLst>
              <a:gd name="adj" fmla="val 17309"/>
            </a:avLst>
          </a:prstGeom>
          <a:ln w="28575">
            <a:solidFill>
              <a:srgbClr val="E76F51"/>
            </a:solidFill>
            <a:prstDash val="solid"/>
          </a:ln>
        </p:spPr>
      </p:sp>
      <p:sp>
        <p:nvSpPr>
          <p:cNvPr id="13" name="Shape 10"/>
          <p:cNvSpPr/>
          <p:nvPr/>
        </p:nvSpPr>
        <p:spPr>
          <a:xfrm>
            <a:off x="1925421" y="3396264"/>
            <a:ext cx="256032" cy="256032"/>
          </a:xfrm>
          <a:prstGeom prst="ellipse">
            <a:avLst/>
          </a:prstGeom>
          <a:solidFill>
            <a:srgbClr val="E76F51"/>
          </a:solidFill>
          <a:ln/>
        </p:spPr>
      </p:sp>
      <p:sp>
        <p:nvSpPr>
          <p:cNvPr id="14" name="Text 11"/>
          <p:cNvSpPr/>
          <p:nvPr/>
        </p:nvSpPr>
        <p:spPr>
          <a:xfrm>
            <a:off x="1925421" y="3396264"/>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5" name="Shape 12"/>
          <p:cNvSpPr/>
          <p:nvPr/>
        </p:nvSpPr>
        <p:spPr>
          <a:xfrm>
            <a:off x="5870448" y="3035808"/>
            <a:ext cx="2752344" cy="1521915"/>
          </a:xfrm>
          <a:prstGeom prst="roundRect">
            <a:avLst>
              <a:gd name="adj" fmla="val 2403"/>
            </a:avLst>
          </a:prstGeom>
          <a:solidFill>
            <a:srgbClr val="FFFFFF"/>
          </a:solidFill>
          <a:ln w="12700">
            <a:solidFill>
              <a:srgbClr val="D8E6DE"/>
            </a:solidFill>
            <a:prstDash val="solid"/>
          </a:ln>
          <a:effectLst>
            <a:outerShdw sx="100000" sy="100000" kx="0" ky="0" algn="bl" rotWithShape="0" blurRad="88900" dist="25400" dir="2700000">
              <a:srgbClr val="1B2A23">
                <a:alpha val="14000"/>
              </a:srgbClr>
            </a:outerShdw>
          </a:effectLst>
        </p:spPr>
      </p:sp>
      <p:pic>
        <p:nvPicPr>
          <p:cNvPr id="16" name="Image 1" descr="shots/final/details_two_pkgs.png">    </p:cNvPr>
          <p:cNvPicPr>
            <a:picLocks noChangeAspect="1"/>
          </p:cNvPicPr>
          <p:nvPr/>
        </p:nvPicPr>
        <p:blipFill>
          <a:blip r:embed="rId2"/>
          <a:stretch>
            <a:fillRect/>
          </a:stretch>
        </p:blipFill>
        <p:spPr>
          <a:xfrm>
            <a:off x="5897880" y="3063240"/>
            <a:ext cx="2697480" cy="1467051"/>
          </a:xfrm>
          <a:prstGeom prst="rect">
            <a:avLst/>
          </a:prstGeom>
        </p:spPr>
      </p:pic>
      <p:sp>
        <p:nvSpPr>
          <p:cNvPr id="17" name="Shape 13"/>
          <p:cNvSpPr/>
          <p:nvPr/>
        </p:nvSpPr>
        <p:spPr>
          <a:xfrm>
            <a:off x="5964837" y="3986540"/>
            <a:ext cx="2570327" cy="231159"/>
          </a:xfrm>
          <a:prstGeom prst="roundRect">
            <a:avLst>
              <a:gd name="adj" fmla="val 19779"/>
            </a:avLst>
          </a:prstGeom>
          <a:ln w="28575">
            <a:solidFill>
              <a:srgbClr val="E76F51"/>
            </a:solidFill>
            <a:prstDash val="solid"/>
          </a:ln>
        </p:spPr>
      </p:sp>
      <p:sp>
        <p:nvSpPr>
          <p:cNvPr id="18" name="Shape 14"/>
          <p:cNvSpPr/>
          <p:nvPr/>
        </p:nvSpPr>
        <p:spPr>
          <a:xfrm>
            <a:off x="5845965" y="3867668"/>
            <a:ext cx="256032" cy="256032"/>
          </a:xfrm>
          <a:prstGeom prst="ellipse">
            <a:avLst/>
          </a:prstGeom>
          <a:solidFill>
            <a:srgbClr val="E76F51"/>
          </a:solidFill>
          <a:ln/>
        </p:spPr>
      </p:sp>
      <p:sp>
        <p:nvSpPr>
          <p:cNvPr id="19" name="Text 15"/>
          <p:cNvSpPr/>
          <p:nvPr/>
        </p:nvSpPr>
        <p:spPr>
          <a:xfrm>
            <a:off x="5845965" y="3867668"/>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0" name="Shape 16"/>
          <p:cNvSpPr/>
          <p:nvPr/>
        </p:nvSpPr>
        <p:spPr>
          <a:xfrm>
            <a:off x="5897880" y="1389888"/>
            <a:ext cx="237744" cy="237744"/>
          </a:xfrm>
          <a:prstGeom prst="ellipse">
            <a:avLst/>
          </a:prstGeom>
          <a:solidFill>
            <a:srgbClr val="E76F51"/>
          </a:solidFill>
          <a:ln/>
        </p:spPr>
      </p:sp>
      <p:sp>
        <p:nvSpPr>
          <p:cNvPr id="21" name="Text 17"/>
          <p:cNvSpPr/>
          <p:nvPr/>
        </p:nvSpPr>
        <p:spPr>
          <a:xfrm>
            <a:off x="5897880" y="1389888"/>
            <a:ext cx="237744" cy="23774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22" name="Text 18"/>
          <p:cNvSpPr/>
          <p:nvPr/>
        </p:nvSpPr>
        <p:spPr>
          <a:xfrm>
            <a:off x="6245352" y="1371600"/>
            <a:ext cx="2350008" cy="777240"/>
          </a:xfrm>
          <a:prstGeom prst="rect">
            <a:avLst/>
          </a:prstGeom>
          <a:noFill/>
          <a:ln/>
        </p:spPr>
        <p:txBody>
          <a:bodyPr wrap="square" lIns="0" tIns="0" rIns="0" bIns="0" rtlCol="0" anchor="t"/>
          <a:lstStyle/>
          <a:p>
            <a:pPr indent="0" marL="0">
              <a:buNone/>
            </a:pPr>
            <a:r>
              <a:rPr lang="en-US" sz="1050" b="1" dirty="0">
                <a:solidFill>
                  <a:srgbClr val="22332B"/>
                </a:solidFill>
                <a:latin typeface="Calibri" pitchFamily="34" charset="0"/>
                <a:ea typeface="Calibri" pitchFamily="34" charset="-122"/>
                <a:cs typeface="Calibri" pitchFamily="34" charset="-120"/>
              </a:rPr>
              <a:t>Price — </a:t>
            </a:r>
            <a:pPr indent="0" marL="0">
              <a:buNone/>
            </a:pPr>
            <a:r>
              <a:rPr lang="en-US" sz="1050" dirty="0">
                <a:solidFill>
                  <a:srgbClr val="6B7F74"/>
                </a:solidFill>
                <a:latin typeface="Calibri" pitchFamily="34" charset="0"/>
                <a:ea typeface="Calibri" pitchFamily="34" charset="-122"/>
                <a:cs typeface="Calibri" pitchFamily="34" charset="-120"/>
              </a:rPr>
              <a:t>the discounted price in lei</a:t>
            </a:r>
            <a:endParaRPr lang="en-US" sz="1050" dirty="0"/>
          </a:p>
        </p:txBody>
      </p:sp>
      <p:sp>
        <p:nvSpPr>
          <p:cNvPr id="23" name="Shape 19"/>
          <p:cNvSpPr/>
          <p:nvPr/>
        </p:nvSpPr>
        <p:spPr>
          <a:xfrm>
            <a:off x="5897880" y="1956816"/>
            <a:ext cx="237744" cy="237744"/>
          </a:xfrm>
          <a:prstGeom prst="ellipse">
            <a:avLst/>
          </a:prstGeom>
          <a:solidFill>
            <a:srgbClr val="E76F51"/>
          </a:solidFill>
          <a:ln/>
        </p:spPr>
      </p:sp>
      <p:sp>
        <p:nvSpPr>
          <p:cNvPr id="24" name="Text 20"/>
          <p:cNvSpPr/>
          <p:nvPr/>
        </p:nvSpPr>
        <p:spPr>
          <a:xfrm>
            <a:off x="5897880" y="1956816"/>
            <a:ext cx="237744" cy="23774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25" name="Text 21"/>
          <p:cNvSpPr/>
          <p:nvPr/>
        </p:nvSpPr>
        <p:spPr>
          <a:xfrm>
            <a:off x="6245352" y="1938528"/>
            <a:ext cx="2350008" cy="777240"/>
          </a:xfrm>
          <a:prstGeom prst="rect">
            <a:avLst/>
          </a:prstGeom>
          <a:noFill/>
          <a:ln/>
        </p:spPr>
        <p:txBody>
          <a:bodyPr wrap="square" lIns="0" tIns="0" rIns="0" bIns="0" rtlCol="0" anchor="t"/>
          <a:lstStyle/>
          <a:p>
            <a:pPr indent="0" marL="0">
              <a:buNone/>
            </a:pPr>
            <a:r>
              <a:rPr lang="en-US" sz="1050" b="1" dirty="0">
                <a:solidFill>
                  <a:srgbClr val="22332B"/>
                </a:solidFill>
                <a:latin typeface="Calibri" pitchFamily="34" charset="0"/>
                <a:ea typeface="Calibri" pitchFamily="34" charset="-122"/>
                <a:cs typeface="Calibri" pitchFamily="34" charset="-120"/>
              </a:rPr>
              <a:t>Pickup start &amp; end — </a:t>
            </a:r>
            <a:pPr indent="0" marL="0">
              <a:buNone/>
            </a:pPr>
            <a:r>
              <a:rPr lang="en-US" sz="1050" dirty="0">
                <a:solidFill>
                  <a:srgbClr val="6B7F74"/>
                </a:solidFill>
                <a:latin typeface="Calibri" pitchFamily="34" charset="0"/>
                <a:ea typeface="Calibri" pitchFamily="34" charset="-122"/>
                <a:cs typeface="Calibri" pitchFamily="34" charset="-120"/>
              </a:rPr>
              <a:t>the time window for collection</a:t>
            </a:r>
            <a:endParaRPr lang="en-US" sz="1050" dirty="0"/>
          </a:p>
        </p:txBody>
      </p:sp>
      <p:sp>
        <p:nvSpPr>
          <p:cNvPr id="26" name="Shape 22"/>
          <p:cNvSpPr/>
          <p:nvPr/>
        </p:nvSpPr>
        <p:spPr>
          <a:xfrm>
            <a:off x="5897880" y="2523744"/>
            <a:ext cx="237744" cy="237744"/>
          </a:xfrm>
          <a:prstGeom prst="ellipse">
            <a:avLst/>
          </a:prstGeom>
          <a:solidFill>
            <a:srgbClr val="E76F51"/>
          </a:solidFill>
          <a:ln/>
        </p:spPr>
      </p:sp>
      <p:sp>
        <p:nvSpPr>
          <p:cNvPr id="27" name="Text 23"/>
          <p:cNvSpPr/>
          <p:nvPr/>
        </p:nvSpPr>
        <p:spPr>
          <a:xfrm>
            <a:off x="5897880" y="2523744"/>
            <a:ext cx="237744" cy="23774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28" name="Text 24"/>
          <p:cNvSpPr/>
          <p:nvPr/>
        </p:nvSpPr>
        <p:spPr>
          <a:xfrm>
            <a:off x="6245352" y="2505456"/>
            <a:ext cx="2350008" cy="777240"/>
          </a:xfrm>
          <a:prstGeom prst="rect">
            <a:avLst/>
          </a:prstGeom>
          <a:noFill/>
          <a:ln/>
        </p:spPr>
        <p:txBody>
          <a:bodyPr wrap="square" lIns="0" tIns="0" rIns="0" bIns="0" rtlCol="0" anchor="t"/>
          <a:lstStyle/>
          <a:p>
            <a:pPr indent="0" marL="0">
              <a:buNone/>
            </a:pPr>
            <a:r>
              <a:rPr lang="en-US" sz="1050" b="1" dirty="0">
                <a:solidFill>
                  <a:srgbClr val="22332B"/>
                </a:solidFill>
                <a:latin typeface="Calibri" pitchFamily="34" charset="0"/>
                <a:ea typeface="Calibri" pitchFamily="34" charset="-122"/>
                <a:cs typeface="Calibri" pitchFamily="34" charset="-120"/>
              </a:rPr>
              <a:t>Type — </a:t>
            </a:r>
            <a:pPr indent="0" marL="0">
              <a:buNone/>
            </a:pPr>
            <a:r>
              <a:rPr lang="en-US" sz="1050" dirty="0">
                <a:solidFill>
                  <a:srgbClr val="6B7F74"/>
                </a:solidFill>
                <a:latin typeface="Calibri" pitchFamily="34" charset="0"/>
                <a:ea typeface="Calibri" pitchFamily="34" charset="-122"/>
                <a:cs typeface="Calibri" pitchFamily="34" charset="-120"/>
              </a:rPr>
              <a:t>from GET /api/packagetypes</a:t>
            </a:r>
            <a:endParaRPr lang="en-US" sz="1050" dirty="0"/>
          </a:p>
        </p:txBody>
      </p:sp>
      <p:sp>
        <p:nvSpPr>
          <p:cNvPr id="29" name="Text 25"/>
          <p:cNvSpPr/>
          <p:nvPr/>
        </p:nvSpPr>
        <p:spPr>
          <a:xfrm>
            <a:off x="5897880" y="4621731"/>
            <a:ext cx="2697480" cy="256032"/>
          </a:xfrm>
          <a:prstGeom prst="rect">
            <a:avLst/>
          </a:prstGeom>
          <a:noFill/>
          <a:ln/>
        </p:spPr>
        <p:txBody>
          <a:bodyPr wrap="square" lIns="0" tIns="0" rIns="0" bIns="0" rtlCol="0" anchor="ctr"/>
          <a:lstStyle/>
          <a:p>
            <a:pPr indent="0" marL="0">
              <a:buNone/>
            </a:pPr>
            <a:r>
              <a:rPr lang="en-US" sz="950" i="1" dirty="0">
                <a:solidFill>
                  <a:srgbClr val="6B7F74"/>
                </a:solidFill>
                <a:latin typeface="Calibri" pitchFamily="34" charset="0"/>
                <a:ea typeface="Calibri" pitchFamily="34" charset="-122"/>
                <a:cs typeface="Calibri" pitchFamily="34" charset="-120"/>
              </a:rPr>
              <a:t>4 — “GoodFood” joins the table</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8046720" cy="274320"/>
          </a:xfrm>
          <a:prstGeom prst="rect">
            <a:avLst/>
          </a:prstGeom>
          <a:noFill/>
          <a:ln/>
        </p:spPr>
        <p:txBody>
          <a:bodyPr wrap="square" lIns="0" tIns="0" rIns="0" bIns="0" rtlCol="0" anchor="ctr"/>
          <a:lstStyle/>
          <a:p>
            <a:pPr indent="0" marL="0">
              <a:buNone/>
            </a:pPr>
            <a:r>
              <a:rPr lang="en-US" sz="1100" b="1" spc="200" kern="0" dirty="0">
                <a:solidFill>
                  <a:srgbClr val="E76F51"/>
                </a:solidFill>
                <a:latin typeface="Calibri" pitchFamily="34" charset="0"/>
                <a:ea typeface="Calibri" pitchFamily="34" charset="-122"/>
                <a:cs typeface="Calibri" pitchFamily="34" charset="-120"/>
              </a:rPr>
              <a:t>ENTITY FRAMEWORK CORE + SQL SERVER</a:t>
            </a:r>
            <a:endParaRPr lang="en-US" sz="1100" dirty="0"/>
          </a:p>
        </p:txBody>
      </p:sp>
      <p:sp>
        <p:nvSpPr>
          <p:cNvPr id="3" name="Text 1"/>
          <p:cNvSpPr/>
          <p:nvPr/>
        </p:nvSpPr>
        <p:spPr>
          <a:xfrm>
            <a:off x="548640" y="493776"/>
            <a:ext cx="8046720" cy="566928"/>
          </a:xfrm>
          <a:prstGeom prst="rect">
            <a:avLst/>
          </a:prstGeom>
          <a:noFill/>
          <a:ln/>
        </p:spPr>
        <p:txBody>
          <a:bodyPr wrap="square" lIns="0" tIns="0" rIns="0" bIns="0" rtlCol="0" anchor="ctr"/>
          <a:lstStyle/>
          <a:p>
            <a:pPr indent="0" marL="0">
              <a:buNone/>
            </a:pPr>
            <a:r>
              <a:rPr lang="en-US" sz="3000" b="1" dirty="0">
                <a:solidFill>
                  <a:srgbClr val="163A2C"/>
                </a:solidFill>
                <a:latin typeface="Calibri" pitchFamily="34" charset="0"/>
                <a:ea typeface="Calibri" pitchFamily="34" charset="-122"/>
                <a:cs typeface="Calibri" pitchFamily="34" charset="-120"/>
              </a:rPr>
              <a:t>Database Design</a:t>
            </a:r>
            <a:endParaRPr lang="en-US" sz="3000" dirty="0"/>
          </a:p>
        </p:txBody>
      </p:sp>
      <p:sp>
        <p:nvSpPr>
          <p:cNvPr id="4" name="Shape 2"/>
          <p:cNvSpPr/>
          <p:nvPr/>
        </p:nvSpPr>
        <p:spPr>
          <a:xfrm>
            <a:off x="548640" y="1417320"/>
            <a:ext cx="1691640" cy="795528"/>
          </a:xfrm>
          <a:prstGeom prst="roundRect">
            <a:avLst>
              <a:gd name="adj" fmla="val 8046"/>
            </a:avLst>
          </a:prstGeom>
          <a:solidFill>
            <a:srgbClr val="FFFFFF"/>
          </a:solidFill>
          <a:ln w="12700">
            <a:solidFill>
              <a:srgbClr val="D8E6DE"/>
            </a:solidFill>
            <a:prstDash val="solid"/>
          </a:ln>
          <a:effectLst>
            <a:outerShdw sx="100000" sy="100000" kx="0" ky="0" algn="bl" rotWithShape="0" blurRad="88900" dist="25400" dir="2700000">
              <a:srgbClr val="1B2A23">
                <a:alpha val="14000"/>
              </a:srgbClr>
            </a:outerShdw>
          </a:effectLst>
        </p:spPr>
      </p:sp>
      <p:sp>
        <p:nvSpPr>
          <p:cNvPr id="5" name="Shape 3"/>
          <p:cNvSpPr/>
          <p:nvPr/>
        </p:nvSpPr>
        <p:spPr>
          <a:xfrm>
            <a:off x="548640" y="1417320"/>
            <a:ext cx="1691640" cy="310896"/>
          </a:xfrm>
          <a:prstGeom prst="roundRect">
            <a:avLst>
              <a:gd name="adj" fmla="val 20588"/>
            </a:avLst>
          </a:prstGeom>
          <a:solidFill>
            <a:srgbClr val="2D6A4F"/>
          </a:solidFill>
          <a:ln/>
        </p:spPr>
      </p:sp>
      <p:sp>
        <p:nvSpPr>
          <p:cNvPr id="6" name="Text 4"/>
          <p:cNvSpPr/>
          <p:nvPr/>
        </p:nvSpPr>
        <p:spPr>
          <a:xfrm>
            <a:off x="548640" y="1417320"/>
            <a:ext cx="1691640"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BusinessType</a:t>
            </a:r>
            <a:endParaRPr lang="en-US" sz="1150" dirty="0"/>
          </a:p>
        </p:txBody>
      </p:sp>
      <p:sp>
        <p:nvSpPr>
          <p:cNvPr id="7" name="Text 5"/>
          <p:cNvSpPr/>
          <p:nvPr/>
        </p:nvSpPr>
        <p:spPr>
          <a:xfrm>
            <a:off x="658368" y="1764792"/>
            <a:ext cx="1508760" cy="429768"/>
          </a:xfrm>
          <a:prstGeom prst="rect">
            <a:avLst/>
          </a:prstGeom>
          <a:noFill/>
          <a:ln/>
        </p:spPr>
        <p:txBody>
          <a:bodyPr wrap="square" lIns="0" tIns="0" rIns="0" bIns="0" rtlCol="0" anchor="ctr"/>
          <a:lstStyle/>
          <a:p>
            <a:pPr indent="0" marL="0">
              <a:lnSpc>
                <a:spcPct val="112000"/>
              </a:lnSpc>
              <a:buNone/>
            </a:pPr>
            <a:r>
              <a:rPr lang="en-US" sz="850" dirty="0">
                <a:solidFill>
                  <a:srgbClr val="22332B"/>
                </a:solidFill>
                <a:latin typeface="Courier New" pitchFamily="34" charset="0"/>
                <a:ea typeface="Courier New" pitchFamily="34" charset="-122"/>
                <a:cs typeface="Courier New" pitchFamily="34" charset="-120"/>
              </a:rPr>
              <a:t>PK Id</a:t>
            </a:r>
            <a:endParaRPr lang="en-US" sz="850" dirty="0"/>
          </a:p>
          <a:p>
            <a:pPr indent="0" marL="0">
              <a:lnSpc>
                <a:spcPct val="112000"/>
              </a:lnSpc>
              <a:buNone/>
            </a:pPr>
            <a:r>
              <a:rPr lang="en-US" sz="850" dirty="0">
                <a:solidFill>
                  <a:srgbClr val="22332B"/>
                </a:solidFill>
                <a:latin typeface="Courier New" pitchFamily="34" charset="0"/>
                <a:ea typeface="Courier New" pitchFamily="34" charset="-122"/>
                <a:cs typeface="Courier New" pitchFamily="34" charset="-120"/>
              </a:rPr>
              <a:t>Name</a:t>
            </a:r>
            <a:endParaRPr lang="en-US" sz="850" dirty="0"/>
          </a:p>
        </p:txBody>
      </p:sp>
      <p:sp>
        <p:nvSpPr>
          <p:cNvPr id="8" name="Shape 6"/>
          <p:cNvSpPr/>
          <p:nvPr/>
        </p:nvSpPr>
        <p:spPr>
          <a:xfrm>
            <a:off x="2926080" y="1280160"/>
            <a:ext cx="1920240" cy="1179576"/>
          </a:xfrm>
          <a:prstGeom prst="roundRect">
            <a:avLst>
              <a:gd name="adj" fmla="val 5426"/>
            </a:avLst>
          </a:prstGeom>
          <a:solidFill>
            <a:srgbClr val="FFFFFF"/>
          </a:solidFill>
          <a:ln w="12700">
            <a:solidFill>
              <a:srgbClr val="D8E6DE"/>
            </a:solidFill>
            <a:prstDash val="solid"/>
          </a:ln>
          <a:effectLst>
            <a:outerShdw sx="100000" sy="100000" kx="0" ky="0" algn="bl" rotWithShape="0" blurRad="88900" dist="25400" dir="2700000">
              <a:srgbClr val="1B2A23">
                <a:alpha val="14000"/>
              </a:srgbClr>
            </a:outerShdw>
          </a:effectLst>
        </p:spPr>
      </p:sp>
      <p:sp>
        <p:nvSpPr>
          <p:cNvPr id="9" name="Shape 7"/>
          <p:cNvSpPr/>
          <p:nvPr/>
        </p:nvSpPr>
        <p:spPr>
          <a:xfrm>
            <a:off x="2926080" y="1280160"/>
            <a:ext cx="1920240" cy="310896"/>
          </a:xfrm>
          <a:prstGeom prst="roundRect">
            <a:avLst>
              <a:gd name="adj" fmla="val 20588"/>
            </a:avLst>
          </a:prstGeom>
          <a:solidFill>
            <a:srgbClr val="2D6A4F"/>
          </a:solidFill>
          <a:ln/>
        </p:spPr>
      </p:sp>
      <p:sp>
        <p:nvSpPr>
          <p:cNvPr id="10" name="Text 8"/>
          <p:cNvSpPr/>
          <p:nvPr/>
        </p:nvSpPr>
        <p:spPr>
          <a:xfrm>
            <a:off x="2926080" y="1280160"/>
            <a:ext cx="1920240"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Business</a:t>
            </a:r>
            <a:endParaRPr lang="en-US" sz="1150" dirty="0"/>
          </a:p>
        </p:txBody>
      </p:sp>
      <p:sp>
        <p:nvSpPr>
          <p:cNvPr id="11" name="Text 9"/>
          <p:cNvSpPr/>
          <p:nvPr/>
        </p:nvSpPr>
        <p:spPr>
          <a:xfrm>
            <a:off x="3035808" y="1627632"/>
            <a:ext cx="1737360" cy="813816"/>
          </a:xfrm>
          <a:prstGeom prst="rect">
            <a:avLst/>
          </a:prstGeom>
          <a:noFill/>
          <a:ln/>
        </p:spPr>
        <p:txBody>
          <a:bodyPr wrap="square" lIns="0" tIns="0" rIns="0" bIns="0" rtlCol="0" anchor="ctr"/>
          <a:lstStyle/>
          <a:p>
            <a:pPr indent="0" marL="0">
              <a:lnSpc>
                <a:spcPct val="112000"/>
              </a:lnSpc>
              <a:buNone/>
            </a:pPr>
            <a:r>
              <a:rPr lang="en-US" sz="850" dirty="0">
                <a:solidFill>
                  <a:srgbClr val="22332B"/>
                </a:solidFill>
                <a:latin typeface="Courier New" pitchFamily="34" charset="0"/>
                <a:ea typeface="Courier New" pitchFamily="34" charset="-122"/>
                <a:cs typeface="Courier New" pitchFamily="34" charset="-120"/>
              </a:rPr>
              <a:t>PK Id</a:t>
            </a:r>
            <a:endParaRPr lang="en-US" sz="850" dirty="0"/>
          </a:p>
          <a:p>
            <a:pPr indent="0" marL="0">
              <a:lnSpc>
                <a:spcPct val="112000"/>
              </a:lnSpc>
              <a:buNone/>
            </a:pPr>
            <a:r>
              <a:rPr lang="en-US" sz="850" dirty="0">
                <a:solidFill>
                  <a:srgbClr val="22332B"/>
                </a:solidFill>
                <a:latin typeface="Courier New" pitchFamily="34" charset="0"/>
                <a:ea typeface="Courier New" pitchFamily="34" charset="-122"/>
                <a:cs typeface="Courier New" pitchFamily="34" charset="-120"/>
              </a:rPr>
              <a:t>Name, Address</a:t>
            </a:r>
            <a:endParaRPr lang="en-US" sz="850" dirty="0"/>
          </a:p>
          <a:p>
            <a:pPr indent="0" marL="0">
              <a:lnSpc>
                <a:spcPct val="112000"/>
              </a:lnSpc>
              <a:buNone/>
            </a:pPr>
            <a:r>
              <a:rPr lang="en-US" sz="850" dirty="0">
                <a:solidFill>
                  <a:srgbClr val="22332B"/>
                </a:solidFill>
                <a:latin typeface="Courier New" pitchFamily="34" charset="0"/>
                <a:ea typeface="Courier New" pitchFamily="34" charset="-122"/>
                <a:cs typeface="Courier New" pitchFamily="34" charset="-120"/>
              </a:rPr>
              <a:t>Contact, Description</a:t>
            </a:r>
            <a:endParaRPr lang="en-US" sz="850" dirty="0"/>
          </a:p>
          <a:p>
            <a:pPr indent="0" marL="0">
              <a:lnSpc>
                <a:spcPct val="112000"/>
              </a:lnSpc>
              <a:buNone/>
            </a:pPr>
            <a:r>
              <a:rPr lang="en-US" sz="850" dirty="0">
                <a:solidFill>
                  <a:srgbClr val="22332B"/>
                </a:solidFill>
                <a:latin typeface="Courier New" pitchFamily="34" charset="0"/>
                <a:ea typeface="Courier New" pitchFamily="34" charset="-122"/>
                <a:cs typeface="Courier New" pitchFamily="34" charset="-120"/>
              </a:rPr>
              <a:t>FK BusinessTypeId</a:t>
            </a:r>
            <a:endParaRPr lang="en-US" sz="850" dirty="0"/>
          </a:p>
        </p:txBody>
      </p:sp>
      <p:sp>
        <p:nvSpPr>
          <p:cNvPr id="12" name="Shape 10"/>
          <p:cNvSpPr/>
          <p:nvPr/>
        </p:nvSpPr>
        <p:spPr>
          <a:xfrm>
            <a:off x="5577840" y="1188720"/>
            <a:ext cx="2011680" cy="1563624"/>
          </a:xfrm>
          <a:prstGeom prst="roundRect">
            <a:avLst>
              <a:gd name="adj" fmla="val 4094"/>
            </a:avLst>
          </a:prstGeom>
          <a:solidFill>
            <a:srgbClr val="FFFFFF"/>
          </a:solidFill>
          <a:ln w="12700">
            <a:solidFill>
              <a:srgbClr val="D8E6DE"/>
            </a:solidFill>
            <a:prstDash val="solid"/>
          </a:ln>
          <a:effectLst>
            <a:outerShdw sx="100000" sy="100000" kx="0" ky="0" algn="bl" rotWithShape="0" blurRad="88900" dist="25400" dir="2700000">
              <a:srgbClr val="1B2A23">
                <a:alpha val="14000"/>
              </a:srgbClr>
            </a:outerShdw>
          </a:effectLst>
        </p:spPr>
      </p:sp>
      <p:sp>
        <p:nvSpPr>
          <p:cNvPr id="13" name="Shape 11"/>
          <p:cNvSpPr/>
          <p:nvPr/>
        </p:nvSpPr>
        <p:spPr>
          <a:xfrm>
            <a:off x="5577840" y="1188720"/>
            <a:ext cx="2011680" cy="310896"/>
          </a:xfrm>
          <a:prstGeom prst="roundRect">
            <a:avLst>
              <a:gd name="adj" fmla="val 20588"/>
            </a:avLst>
          </a:prstGeom>
          <a:solidFill>
            <a:srgbClr val="2D6A4F"/>
          </a:solidFill>
          <a:ln/>
        </p:spPr>
      </p:sp>
      <p:sp>
        <p:nvSpPr>
          <p:cNvPr id="14" name="Text 12"/>
          <p:cNvSpPr/>
          <p:nvPr/>
        </p:nvSpPr>
        <p:spPr>
          <a:xfrm>
            <a:off x="5577840" y="1188720"/>
            <a:ext cx="2011680"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Package</a:t>
            </a:r>
            <a:endParaRPr lang="en-US" sz="1150" dirty="0"/>
          </a:p>
        </p:txBody>
      </p:sp>
      <p:sp>
        <p:nvSpPr>
          <p:cNvPr id="15" name="Text 13"/>
          <p:cNvSpPr/>
          <p:nvPr/>
        </p:nvSpPr>
        <p:spPr>
          <a:xfrm>
            <a:off x="5687568" y="1536192"/>
            <a:ext cx="1828800" cy="1197864"/>
          </a:xfrm>
          <a:prstGeom prst="rect">
            <a:avLst/>
          </a:prstGeom>
          <a:noFill/>
          <a:ln/>
        </p:spPr>
        <p:txBody>
          <a:bodyPr wrap="square" lIns="0" tIns="0" rIns="0" bIns="0" rtlCol="0" anchor="ctr"/>
          <a:lstStyle/>
          <a:p>
            <a:pPr indent="0" marL="0">
              <a:lnSpc>
                <a:spcPct val="112000"/>
              </a:lnSpc>
              <a:buNone/>
            </a:pPr>
            <a:r>
              <a:rPr lang="en-US" sz="850" dirty="0">
                <a:solidFill>
                  <a:srgbClr val="22332B"/>
                </a:solidFill>
                <a:latin typeface="Courier New" pitchFamily="34" charset="0"/>
                <a:ea typeface="Courier New" pitchFamily="34" charset="-122"/>
                <a:cs typeface="Courier New" pitchFamily="34" charset="-120"/>
              </a:rPr>
              <a:t>PK Id</a:t>
            </a:r>
            <a:endParaRPr lang="en-US" sz="850" dirty="0"/>
          </a:p>
          <a:p>
            <a:pPr indent="0" marL="0">
              <a:lnSpc>
                <a:spcPct val="112000"/>
              </a:lnSpc>
              <a:buNone/>
            </a:pPr>
            <a:r>
              <a:rPr lang="en-US" sz="850" dirty="0">
                <a:solidFill>
                  <a:srgbClr val="22332B"/>
                </a:solidFill>
                <a:latin typeface="Courier New" pitchFamily="34" charset="0"/>
                <a:ea typeface="Courier New" pitchFamily="34" charset="-122"/>
                <a:cs typeface="Courier New" pitchFamily="34" charset="-120"/>
              </a:rPr>
              <a:t>Name, Price</a:t>
            </a:r>
            <a:endParaRPr lang="en-US" sz="850" dirty="0"/>
          </a:p>
          <a:p>
            <a:pPr indent="0" marL="0">
              <a:lnSpc>
                <a:spcPct val="112000"/>
              </a:lnSpc>
              <a:buNone/>
            </a:pPr>
            <a:r>
              <a:rPr lang="en-US" sz="850" dirty="0">
                <a:solidFill>
                  <a:srgbClr val="22332B"/>
                </a:solidFill>
                <a:latin typeface="Courier New" pitchFamily="34" charset="0"/>
                <a:ea typeface="Courier New" pitchFamily="34" charset="-122"/>
                <a:cs typeface="Courier New" pitchFamily="34" charset="-120"/>
              </a:rPr>
              <a:t>NoPackage (qty)</a:t>
            </a:r>
            <a:endParaRPr lang="en-US" sz="850" dirty="0"/>
          </a:p>
          <a:p>
            <a:pPr indent="0" marL="0">
              <a:lnSpc>
                <a:spcPct val="112000"/>
              </a:lnSpc>
              <a:buNone/>
            </a:pPr>
            <a:r>
              <a:rPr lang="en-US" sz="850" dirty="0">
                <a:solidFill>
                  <a:srgbClr val="22332B"/>
                </a:solidFill>
                <a:latin typeface="Courier New" pitchFamily="34" charset="0"/>
                <a:ea typeface="Courier New" pitchFamily="34" charset="-122"/>
                <a:cs typeface="Courier New" pitchFamily="34" charset="-120"/>
              </a:rPr>
              <a:t>StartPickup, EndPickup</a:t>
            </a:r>
            <a:endParaRPr lang="en-US" sz="850" dirty="0"/>
          </a:p>
          <a:p>
            <a:pPr indent="0" marL="0">
              <a:lnSpc>
                <a:spcPct val="112000"/>
              </a:lnSpc>
              <a:buNone/>
            </a:pPr>
            <a:r>
              <a:rPr lang="en-US" sz="850" dirty="0">
                <a:solidFill>
                  <a:srgbClr val="22332B"/>
                </a:solidFill>
                <a:latin typeface="Courier New" pitchFamily="34" charset="0"/>
                <a:ea typeface="Courier New" pitchFamily="34" charset="-122"/>
                <a:cs typeface="Courier New" pitchFamily="34" charset="-120"/>
              </a:rPr>
              <a:t>FK BusinessId</a:t>
            </a:r>
            <a:endParaRPr lang="en-US" sz="850" dirty="0"/>
          </a:p>
          <a:p>
            <a:pPr indent="0" marL="0">
              <a:lnSpc>
                <a:spcPct val="112000"/>
              </a:lnSpc>
              <a:buNone/>
            </a:pPr>
            <a:r>
              <a:rPr lang="en-US" sz="850" dirty="0">
                <a:solidFill>
                  <a:srgbClr val="22332B"/>
                </a:solidFill>
                <a:latin typeface="Courier New" pitchFamily="34" charset="0"/>
                <a:ea typeface="Courier New" pitchFamily="34" charset="-122"/>
                <a:cs typeface="Courier New" pitchFamily="34" charset="-120"/>
              </a:rPr>
              <a:t>FK PackageTypeId</a:t>
            </a:r>
            <a:endParaRPr lang="en-US" sz="850" dirty="0"/>
          </a:p>
        </p:txBody>
      </p:sp>
      <p:sp>
        <p:nvSpPr>
          <p:cNvPr id="16" name="Shape 14"/>
          <p:cNvSpPr/>
          <p:nvPr/>
        </p:nvSpPr>
        <p:spPr>
          <a:xfrm>
            <a:off x="5806440" y="3291840"/>
            <a:ext cx="1691640" cy="795528"/>
          </a:xfrm>
          <a:prstGeom prst="roundRect">
            <a:avLst>
              <a:gd name="adj" fmla="val 8046"/>
            </a:avLst>
          </a:prstGeom>
          <a:solidFill>
            <a:srgbClr val="FFFFFF"/>
          </a:solidFill>
          <a:ln w="12700">
            <a:solidFill>
              <a:srgbClr val="D8E6DE"/>
            </a:solidFill>
            <a:prstDash val="solid"/>
          </a:ln>
          <a:effectLst>
            <a:outerShdw sx="100000" sy="100000" kx="0" ky="0" algn="bl" rotWithShape="0" blurRad="88900" dist="25400" dir="2700000">
              <a:srgbClr val="1B2A23">
                <a:alpha val="14000"/>
              </a:srgbClr>
            </a:outerShdw>
          </a:effectLst>
        </p:spPr>
      </p:sp>
      <p:sp>
        <p:nvSpPr>
          <p:cNvPr id="17" name="Shape 15"/>
          <p:cNvSpPr/>
          <p:nvPr/>
        </p:nvSpPr>
        <p:spPr>
          <a:xfrm>
            <a:off x="5806440" y="3291840"/>
            <a:ext cx="1691640" cy="310896"/>
          </a:xfrm>
          <a:prstGeom prst="roundRect">
            <a:avLst>
              <a:gd name="adj" fmla="val 20588"/>
            </a:avLst>
          </a:prstGeom>
          <a:solidFill>
            <a:srgbClr val="2D6A4F"/>
          </a:solidFill>
          <a:ln/>
        </p:spPr>
      </p:sp>
      <p:sp>
        <p:nvSpPr>
          <p:cNvPr id="18" name="Text 16"/>
          <p:cNvSpPr/>
          <p:nvPr/>
        </p:nvSpPr>
        <p:spPr>
          <a:xfrm>
            <a:off x="5806440" y="3291840"/>
            <a:ext cx="1691640"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PackageType</a:t>
            </a:r>
            <a:endParaRPr lang="en-US" sz="1150" dirty="0"/>
          </a:p>
        </p:txBody>
      </p:sp>
      <p:sp>
        <p:nvSpPr>
          <p:cNvPr id="19" name="Text 17"/>
          <p:cNvSpPr/>
          <p:nvPr/>
        </p:nvSpPr>
        <p:spPr>
          <a:xfrm>
            <a:off x="5916168" y="3639312"/>
            <a:ext cx="1508760" cy="429768"/>
          </a:xfrm>
          <a:prstGeom prst="rect">
            <a:avLst/>
          </a:prstGeom>
          <a:noFill/>
          <a:ln/>
        </p:spPr>
        <p:txBody>
          <a:bodyPr wrap="square" lIns="0" tIns="0" rIns="0" bIns="0" rtlCol="0" anchor="ctr"/>
          <a:lstStyle/>
          <a:p>
            <a:pPr indent="0" marL="0">
              <a:lnSpc>
                <a:spcPct val="112000"/>
              </a:lnSpc>
              <a:buNone/>
            </a:pPr>
            <a:r>
              <a:rPr lang="en-US" sz="850" dirty="0">
                <a:solidFill>
                  <a:srgbClr val="22332B"/>
                </a:solidFill>
                <a:latin typeface="Courier New" pitchFamily="34" charset="0"/>
                <a:ea typeface="Courier New" pitchFamily="34" charset="-122"/>
                <a:cs typeface="Courier New" pitchFamily="34" charset="-120"/>
              </a:rPr>
              <a:t>PK Id</a:t>
            </a:r>
            <a:endParaRPr lang="en-US" sz="850" dirty="0"/>
          </a:p>
          <a:p>
            <a:pPr indent="0" marL="0">
              <a:lnSpc>
                <a:spcPct val="112000"/>
              </a:lnSpc>
              <a:buNone/>
            </a:pPr>
            <a:r>
              <a:rPr lang="en-US" sz="850" dirty="0">
                <a:solidFill>
                  <a:srgbClr val="22332B"/>
                </a:solidFill>
                <a:latin typeface="Courier New" pitchFamily="34" charset="0"/>
                <a:ea typeface="Courier New" pitchFamily="34" charset="-122"/>
                <a:cs typeface="Courier New" pitchFamily="34" charset="-120"/>
              </a:rPr>
              <a:t>Name</a:t>
            </a:r>
            <a:endParaRPr lang="en-US" sz="850" dirty="0"/>
          </a:p>
        </p:txBody>
      </p:sp>
      <p:sp>
        <p:nvSpPr>
          <p:cNvPr id="20" name="Shape 18"/>
          <p:cNvSpPr/>
          <p:nvPr/>
        </p:nvSpPr>
        <p:spPr>
          <a:xfrm>
            <a:off x="548640" y="3337560"/>
            <a:ext cx="1691640" cy="987552"/>
          </a:xfrm>
          <a:prstGeom prst="roundRect">
            <a:avLst>
              <a:gd name="adj" fmla="val 6481"/>
            </a:avLst>
          </a:prstGeom>
          <a:solidFill>
            <a:srgbClr val="FFFFFF"/>
          </a:solidFill>
          <a:ln w="12700">
            <a:solidFill>
              <a:srgbClr val="D8E6DE"/>
            </a:solidFill>
            <a:prstDash val="solid"/>
          </a:ln>
          <a:effectLst>
            <a:outerShdw sx="100000" sy="100000" kx="0" ky="0" algn="bl" rotWithShape="0" blurRad="88900" dist="25400" dir="2700000">
              <a:srgbClr val="1B2A23">
                <a:alpha val="14000"/>
              </a:srgbClr>
            </a:outerShdw>
          </a:effectLst>
        </p:spPr>
      </p:sp>
      <p:sp>
        <p:nvSpPr>
          <p:cNvPr id="21" name="Shape 19"/>
          <p:cNvSpPr/>
          <p:nvPr/>
        </p:nvSpPr>
        <p:spPr>
          <a:xfrm>
            <a:off x="548640" y="3337560"/>
            <a:ext cx="1691640" cy="310896"/>
          </a:xfrm>
          <a:prstGeom prst="roundRect">
            <a:avLst>
              <a:gd name="adj" fmla="val 20588"/>
            </a:avLst>
          </a:prstGeom>
          <a:solidFill>
            <a:srgbClr val="2D6A4F"/>
          </a:solidFill>
          <a:ln/>
        </p:spPr>
      </p:sp>
      <p:sp>
        <p:nvSpPr>
          <p:cNvPr id="22" name="Text 20"/>
          <p:cNvSpPr/>
          <p:nvPr/>
        </p:nvSpPr>
        <p:spPr>
          <a:xfrm>
            <a:off x="548640" y="3337560"/>
            <a:ext cx="1691640"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User (Identity)</a:t>
            </a:r>
            <a:endParaRPr lang="en-US" sz="1150" dirty="0"/>
          </a:p>
        </p:txBody>
      </p:sp>
      <p:sp>
        <p:nvSpPr>
          <p:cNvPr id="23" name="Text 21"/>
          <p:cNvSpPr/>
          <p:nvPr/>
        </p:nvSpPr>
        <p:spPr>
          <a:xfrm>
            <a:off x="658368" y="3685032"/>
            <a:ext cx="1508760" cy="621792"/>
          </a:xfrm>
          <a:prstGeom prst="rect">
            <a:avLst/>
          </a:prstGeom>
          <a:noFill/>
          <a:ln/>
        </p:spPr>
        <p:txBody>
          <a:bodyPr wrap="square" lIns="0" tIns="0" rIns="0" bIns="0" rtlCol="0" anchor="ctr"/>
          <a:lstStyle/>
          <a:p>
            <a:pPr indent="0" marL="0">
              <a:lnSpc>
                <a:spcPct val="112000"/>
              </a:lnSpc>
              <a:buNone/>
            </a:pPr>
            <a:r>
              <a:rPr lang="en-US" sz="850" dirty="0">
                <a:solidFill>
                  <a:srgbClr val="22332B"/>
                </a:solidFill>
                <a:latin typeface="Courier New" pitchFamily="34" charset="0"/>
                <a:ea typeface="Courier New" pitchFamily="34" charset="-122"/>
                <a:cs typeface="Courier New" pitchFamily="34" charset="-120"/>
              </a:rPr>
              <a:t>PK Id</a:t>
            </a:r>
            <a:endParaRPr lang="en-US" sz="850" dirty="0"/>
          </a:p>
          <a:p>
            <a:pPr indent="0" marL="0">
              <a:lnSpc>
                <a:spcPct val="112000"/>
              </a:lnSpc>
              <a:buNone/>
            </a:pPr>
            <a:r>
              <a:rPr lang="en-US" sz="850" dirty="0">
                <a:solidFill>
                  <a:srgbClr val="22332B"/>
                </a:solidFill>
                <a:latin typeface="Courier New" pitchFamily="34" charset="0"/>
                <a:ea typeface="Courier New" pitchFamily="34" charset="-122"/>
                <a:cs typeface="Courier New" pitchFamily="34" charset="-120"/>
              </a:rPr>
              <a:t>Email, PasswordHash</a:t>
            </a:r>
            <a:endParaRPr lang="en-US" sz="850" dirty="0"/>
          </a:p>
          <a:p>
            <a:pPr indent="0" marL="0">
              <a:lnSpc>
                <a:spcPct val="112000"/>
              </a:lnSpc>
              <a:buNone/>
            </a:pPr>
            <a:r>
              <a:rPr lang="en-US" sz="850" dirty="0">
                <a:solidFill>
                  <a:srgbClr val="22332B"/>
                </a:solidFill>
                <a:latin typeface="Courier New" pitchFamily="34" charset="0"/>
                <a:ea typeface="Courier New" pitchFamily="34" charset="-122"/>
                <a:cs typeface="Courier New" pitchFamily="34" charset="-120"/>
              </a:rPr>
              <a:t>Name, Contact</a:t>
            </a:r>
            <a:endParaRPr lang="en-US" sz="850" dirty="0"/>
          </a:p>
        </p:txBody>
      </p:sp>
      <p:sp>
        <p:nvSpPr>
          <p:cNvPr id="24" name="Shape 22"/>
          <p:cNvSpPr/>
          <p:nvPr/>
        </p:nvSpPr>
        <p:spPr>
          <a:xfrm>
            <a:off x="2926080" y="3246120"/>
            <a:ext cx="1920240" cy="1179576"/>
          </a:xfrm>
          <a:prstGeom prst="roundRect">
            <a:avLst>
              <a:gd name="adj" fmla="val 5426"/>
            </a:avLst>
          </a:prstGeom>
          <a:solidFill>
            <a:srgbClr val="FFFFFF"/>
          </a:solidFill>
          <a:ln w="19050">
            <a:solidFill>
              <a:srgbClr val="2D6A4F"/>
            </a:solidFill>
            <a:prstDash val="solid"/>
          </a:ln>
          <a:effectLst>
            <a:outerShdw sx="100000" sy="100000" kx="0" ky="0" algn="bl" rotWithShape="0" blurRad="88900" dist="25400" dir="2700000">
              <a:srgbClr val="1B2A23">
                <a:alpha val="14000"/>
              </a:srgbClr>
            </a:outerShdw>
          </a:effectLst>
        </p:spPr>
      </p:sp>
      <p:sp>
        <p:nvSpPr>
          <p:cNvPr id="25" name="Shape 23"/>
          <p:cNvSpPr/>
          <p:nvPr/>
        </p:nvSpPr>
        <p:spPr>
          <a:xfrm>
            <a:off x="2926080" y="3246120"/>
            <a:ext cx="1920240" cy="310896"/>
          </a:xfrm>
          <a:prstGeom prst="roundRect">
            <a:avLst>
              <a:gd name="adj" fmla="val 20588"/>
            </a:avLst>
          </a:prstGeom>
          <a:solidFill>
            <a:srgbClr val="163A2C"/>
          </a:solidFill>
          <a:ln/>
        </p:spPr>
      </p:sp>
      <p:sp>
        <p:nvSpPr>
          <p:cNvPr id="26" name="Text 24"/>
          <p:cNvSpPr/>
          <p:nvPr/>
        </p:nvSpPr>
        <p:spPr>
          <a:xfrm>
            <a:off x="2926080" y="3246120"/>
            <a:ext cx="1920240"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Order</a:t>
            </a:r>
            <a:endParaRPr lang="en-US" sz="1150" dirty="0"/>
          </a:p>
        </p:txBody>
      </p:sp>
      <p:sp>
        <p:nvSpPr>
          <p:cNvPr id="27" name="Text 25"/>
          <p:cNvSpPr/>
          <p:nvPr/>
        </p:nvSpPr>
        <p:spPr>
          <a:xfrm>
            <a:off x="3035808" y="3593592"/>
            <a:ext cx="1737360" cy="813816"/>
          </a:xfrm>
          <a:prstGeom prst="rect">
            <a:avLst/>
          </a:prstGeom>
          <a:noFill/>
          <a:ln/>
        </p:spPr>
        <p:txBody>
          <a:bodyPr wrap="square" lIns="0" tIns="0" rIns="0" bIns="0" rtlCol="0" anchor="ctr"/>
          <a:lstStyle/>
          <a:p>
            <a:pPr indent="0" marL="0">
              <a:lnSpc>
                <a:spcPct val="112000"/>
              </a:lnSpc>
              <a:buNone/>
            </a:pPr>
            <a:r>
              <a:rPr lang="en-US" sz="850" dirty="0">
                <a:solidFill>
                  <a:srgbClr val="22332B"/>
                </a:solidFill>
                <a:latin typeface="Courier New" pitchFamily="34" charset="0"/>
                <a:ea typeface="Courier New" pitchFamily="34" charset="-122"/>
                <a:cs typeface="Courier New" pitchFamily="34" charset="-120"/>
              </a:rPr>
              <a:t>PK Id</a:t>
            </a:r>
            <a:endParaRPr lang="en-US" sz="850" dirty="0"/>
          </a:p>
          <a:p>
            <a:pPr indent="0" marL="0">
              <a:lnSpc>
                <a:spcPct val="112000"/>
              </a:lnSpc>
              <a:buNone/>
            </a:pPr>
            <a:r>
              <a:rPr lang="en-US" sz="850" dirty="0">
                <a:solidFill>
                  <a:srgbClr val="22332B"/>
                </a:solidFill>
                <a:latin typeface="Courier New" pitchFamily="34" charset="0"/>
                <a:ea typeface="Courier New" pitchFamily="34" charset="-122"/>
                <a:cs typeface="Courier New" pitchFamily="34" charset="-120"/>
              </a:rPr>
              <a:t>FK UserId</a:t>
            </a:r>
            <a:endParaRPr lang="en-US" sz="850" dirty="0"/>
          </a:p>
          <a:p>
            <a:pPr indent="0" marL="0">
              <a:lnSpc>
                <a:spcPct val="112000"/>
              </a:lnSpc>
              <a:buNone/>
            </a:pPr>
            <a:r>
              <a:rPr lang="en-US" sz="850" dirty="0">
                <a:solidFill>
                  <a:srgbClr val="22332B"/>
                </a:solidFill>
                <a:latin typeface="Courier New" pitchFamily="34" charset="0"/>
                <a:ea typeface="Courier New" pitchFamily="34" charset="-122"/>
                <a:cs typeface="Courier New" pitchFamily="34" charset="-120"/>
              </a:rPr>
              <a:t>FK PackageId</a:t>
            </a:r>
            <a:endParaRPr lang="en-US" sz="850" dirty="0"/>
          </a:p>
          <a:p>
            <a:pPr indent="0" marL="0">
              <a:lnSpc>
                <a:spcPct val="112000"/>
              </a:lnSpc>
              <a:buNone/>
            </a:pPr>
            <a:r>
              <a:rPr lang="en-US" sz="850" dirty="0">
                <a:solidFill>
                  <a:srgbClr val="22332B"/>
                </a:solidFill>
                <a:latin typeface="Courier New" pitchFamily="34" charset="0"/>
                <a:ea typeface="Courier New" pitchFamily="34" charset="-122"/>
                <a:cs typeface="Courier New" pitchFamily="34" charset="-120"/>
              </a:rPr>
              <a:t>Status, PlacedAt</a:t>
            </a:r>
            <a:endParaRPr lang="en-US" sz="850" dirty="0"/>
          </a:p>
        </p:txBody>
      </p:sp>
      <p:sp>
        <p:nvSpPr>
          <p:cNvPr id="28" name="Shape 26"/>
          <p:cNvSpPr/>
          <p:nvPr/>
        </p:nvSpPr>
        <p:spPr>
          <a:xfrm>
            <a:off x="2240280" y="1783080"/>
            <a:ext cx="685800" cy="0"/>
          </a:xfrm>
          <a:prstGeom prst="line">
            <a:avLst/>
          </a:prstGeom>
          <a:noFill/>
          <a:ln w="19050">
            <a:solidFill>
              <a:srgbClr val="2D6A4F"/>
            </a:solidFill>
            <a:prstDash val="solid"/>
          </a:ln>
        </p:spPr>
      </p:sp>
      <p:sp>
        <p:nvSpPr>
          <p:cNvPr id="29" name="Text 27"/>
          <p:cNvSpPr/>
          <p:nvPr/>
        </p:nvSpPr>
        <p:spPr>
          <a:xfrm>
            <a:off x="2267712" y="1554480"/>
            <a:ext cx="201168" cy="182880"/>
          </a:xfrm>
          <a:prstGeom prst="rect">
            <a:avLst/>
          </a:prstGeom>
          <a:noFill/>
          <a:ln/>
        </p:spPr>
        <p:txBody>
          <a:bodyPr wrap="square" lIns="0" tIns="0" rIns="0" bIns="0" rtlCol="0" anchor="t"/>
          <a:lstStyle/>
          <a:p>
            <a:pPr algn="ctr" indent="0" marL="0">
              <a:buNone/>
            </a:pPr>
            <a:r>
              <a:rPr lang="en-US" sz="950" b="1" dirty="0">
                <a:solidFill>
                  <a:srgbClr val="E76F51"/>
                </a:solidFill>
                <a:latin typeface="Calibri" pitchFamily="34" charset="0"/>
                <a:ea typeface="Calibri" pitchFamily="34" charset="-122"/>
                <a:cs typeface="Calibri" pitchFamily="34" charset="-120"/>
              </a:rPr>
              <a:t>1</a:t>
            </a:r>
            <a:endParaRPr lang="en-US" sz="950" dirty="0"/>
          </a:p>
        </p:txBody>
      </p:sp>
      <p:sp>
        <p:nvSpPr>
          <p:cNvPr id="30" name="Text 28"/>
          <p:cNvSpPr/>
          <p:nvPr/>
        </p:nvSpPr>
        <p:spPr>
          <a:xfrm>
            <a:off x="2651760" y="1554480"/>
            <a:ext cx="201168" cy="182880"/>
          </a:xfrm>
          <a:prstGeom prst="rect">
            <a:avLst/>
          </a:prstGeom>
          <a:noFill/>
          <a:ln/>
        </p:spPr>
        <p:txBody>
          <a:bodyPr wrap="square" lIns="0" tIns="0" rIns="0" bIns="0" rtlCol="0" anchor="t"/>
          <a:lstStyle/>
          <a:p>
            <a:pPr algn="ctr" indent="0" marL="0">
              <a:buNone/>
            </a:pPr>
            <a:r>
              <a:rPr lang="en-US" sz="950" b="1" dirty="0">
                <a:solidFill>
                  <a:srgbClr val="E76F51"/>
                </a:solidFill>
                <a:latin typeface="Calibri" pitchFamily="34" charset="0"/>
                <a:ea typeface="Calibri" pitchFamily="34" charset="-122"/>
                <a:cs typeface="Calibri" pitchFamily="34" charset="-120"/>
              </a:rPr>
              <a:t>*</a:t>
            </a:r>
            <a:endParaRPr lang="en-US" sz="950" dirty="0"/>
          </a:p>
        </p:txBody>
      </p:sp>
      <p:sp>
        <p:nvSpPr>
          <p:cNvPr id="31" name="Shape 29"/>
          <p:cNvSpPr/>
          <p:nvPr/>
        </p:nvSpPr>
        <p:spPr>
          <a:xfrm>
            <a:off x="4846320" y="1783080"/>
            <a:ext cx="731520" cy="0"/>
          </a:xfrm>
          <a:prstGeom prst="line">
            <a:avLst/>
          </a:prstGeom>
          <a:noFill/>
          <a:ln w="19050">
            <a:solidFill>
              <a:srgbClr val="2D6A4F"/>
            </a:solidFill>
            <a:prstDash val="solid"/>
          </a:ln>
        </p:spPr>
      </p:sp>
      <p:sp>
        <p:nvSpPr>
          <p:cNvPr id="32" name="Text 30"/>
          <p:cNvSpPr/>
          <p:nvPr/>
        </p:nvSpPr>
        <p:spPr>
          <a:xfrm>
            <a:off x="4901184" y="1554480"/>
            <a:ext cx="201168" cy="182880"/>
          </a:xfrm>
          <a:prstGeom prst="rect">
            <a:avLst/>
          </a:prstGeom>
          <a:noFill/>
          <a:ln/>
        </p:spPr>
        <p:txBody>
          <a:bodyPr wrap="square" lIns="0" tIns="0" rIns="0" bIns="0" rtlCol="0" anchor="t"/>
          <a:lstStyle/>
          <a:p>
            <a:pPr algn="ctr" indent="0" marL="0">
              <a:buNone/>
            </a:pPr>
            <a:r>
              <a:rPr lang="en-US" sz="950" b="1" dirty="0">
                <a:solidFill>
                  <a:srgbClr val="E76F51"/>
                </a:solidFill>
                <a:latin typeface="Calibri" pitchFamily="34" charset="0"/>
                <a:ea typeface="Calibri" pitchFamily="34" charset="-122"/>
                <a:cs typeface="Calibri" pitchFamily="34" charset="-120"/>
              </a:rPr>
              <a:t>1</a:t>
            </a:r>
            <a:endParaRPr lang="en-US" sz="950" dirty="0"/>
          </a:p>
        </p:txBody>
      </p:sp>
      <p:sp>
        <p:nvSpPr>
          <p:cNvPr id="33" name="Text 31"/>
          <p:cNvSpPr/>
          <p:nvPr/>
        </p:nvSpPr>
        <p:spPr>
          <a:xfrm>
            <a:off x="5321808" y="1554480"/>
            <a:ext cx="201168" cy="182880"/>
          </a:xfrm>
          <a:prstGeom prst="rect">
            <a:avLst/>
          </a:prstGeom>
          <a:noFill/>
          <a:ln/>
        </p:spPr>
        <p:txBody>
          <a:bodyPr wrap="square" lIns="0" tIns="0" rIns="0" bIns="0" rtlCol="0" anchor="t"/>
          <a:lstStyle/>
          <a:p>
            <a:pPr algn="ctr" indent="0" marL="0">
              <a:buNone/>
            </a:pPr>
            <a:r>
              <a:rPr lang="en-US" sz="950" b="1" dirty="0">
                <a:solidFill>
                  <a:srgbClr val="E76F51"/>
                </a:solidFill>
                <a:latin typeface="Calibri" pitchFamily="34" charset="0"/>
                <a:ea typeface="Calibri" pitchFamily="34" charset="-122"/>
                <a:cs typeface="Calibri" pitchFamily="34" charset="-120"/>
              </a:rPr>
              <a:t>*</a:t>
            </a:r>
            <a:endParaRPr lang="en-US" sz="950" dirty="0"/>
          </a:p>
        </p:txBody>
      </p:sp>
      <p:sp>
        <p:nvSpPr>
          <p:cNvPr id="34" name="Shape 32"/>
          <p:cNvSpPr/>
          <p:nvPr/>
        </p:nvSpPr>
        <p:spPr>
          <a:xfrm>
            <a:off x="6949440" y="2752344"/>
            <a:ext cx="0" cy="539496"/>
          </a:xfrm>
          <a:prstGeom prst="line">
            <a:avLst/>
          </a:prstGeom>
          <a:noFill/>
          <a:ln w="19050">
            <a:solidFill>
              <a:srgbClr val="2D6A4F"/>
            </a:solidFill>
            <a:prstDash val="solid"/>
          </a:ln>
        </p:spPr>
      </p:sp>
      <p:sp>
        <p:nvSpPr>
          <p:cNvPr id="35" name="Text 33"/>
          <p:cNvSpPr/>
          <p:nvPr/>
        </p:nvSpPr>
        <p:spPr>
          <a:xfrm>
            <a:off x="7040880" y="2788920"/>
            <a:ext cx="201168" cy="182880"/>
          </a:xfrm>
          <a:prstGeom prst="rect">
            <a:avLst/>
          </a:prstGeom>
          <a:noFill/>
          <a:ln/>
        </p:spPr>
        <p:txBody>
          <a:bodyPr wrap="square" lIns="0" tIns="0" rIns="0" bIns="0" rtlCol="0" anchor="t"/>
          <a:lstStyle/>
          <a:p>
            <a:pPr algn="ctr" indent="0" marL="0">
              <a:buNone/>
            </a:pPr>
            <a:r>
              <a:rPr lang="en-US" sz="950" b="1" dirty="0">
                <a:solidFill>
                  <a:srgbClr val="E76F51"/>
                </a:solidFill>
                <a:latin typeface="Calibri" pitchFamily="34" charset="0"/>
                <a:ea typeface="Calibri" pitchFamily="34" charset="-122"/>
                <a:cs typeface="Calibri" pitchFamily="34" charset="-120"/>
              </a:rPr>
              <a:t>*</a:t>
            </a:r>
            <a:endParaRPr lang="en-US" sz="950" dirty="0"/>
          </a:p>
        </p:txBody>
      </p:sp>
      <p:sp>
        <p:nvSpPr>
          <p:cNvPr id="36" name="Text 34"/>
          <p:cNvSpPr/>
          <p:nvPr/>
        </p:nvSpPr>
        <p:spPr>
          <a:xfrm>
            <a:off x="7040880" y="3072384"/>
            <a:ext cx="201168" cy="182880"/>
          </a:xfrm>
          <a:prstGeom prst="rect">
            <a:avLst/>
          </a:prstGeom>
          <a:noFill/>
          <a:ln/>
        </p:spPr>
        <p:txBody>
          <a:bodyPr wrap="square" lIns="0" tIns="0" rIns="0" bIns="0" rtlCol="0" anchor="t"/>
          <a:lstStyle/>
          <a:p>
            <a:pPr algn="ctr" indent="0" marL="0">
              <a:buNone/>
            </a:pPr>
            <a:r>
              <a:rPr lang="en-US" sz="950" b="1" dirty="0">
                <a:solidFill>
                  <a:srgbClr val="E76F51"/>
                </a:solidFill>
                <a:latin typeface="Calibri" pitchFamily="34" charset="0"/>
                <a:ea typeface="Calibri" pitchFamily="34" charset="-122"/>
                <a:cs typeface="Calibri" pitchFamily="34" charset="-120"/>
              </a:rPr>
              <a:t>1</a:t>
            </a:r>
            <a:endParaRPr lang="en-US" sz="950" dirty="0"/>
          </a:p>
        </p:txBody>
      </p:sp>
      <p:sp>
        <p:nvSpPr>
          <p:cNvPr id="37" name="Shape 35"/>
          <p:cNvSpPr/>
          <p:nvPr/>
        </p:nvSpPr>
        <p:spPr>
          <a:xfrm>
            <a:off x="2240280" y="3794760"/>
            <a:ext cx="685800" cy="0"/>
          </a:xfrm>
          <a:prstGeom prst="line">
            <a:avLst/>
          </a:prstGeom>
          <a:noFill/>
          <a:ln w="19050">
            <a:solidFill>
              <a:srgbClr val="2D6A4F"/>
            </a:solidFill>
            <a:prstDash val="solid"/>
          </a:ln>
        </p:spPr>
      </p:sp>
      <p:sp>
        <p:nvSpPr>
          <p:cNvPr id="38" name="Text 36"/>
          <p:cNvSpPr/>
          <p:nvPr/>
        </p:nvSpPr>
        <p:spPr>
          <a:xfrm>
            <a:off x="2267712" y="3566160"/>
            <a:ext cx="201168" cy="182880"/>
          </a:xfrm>
          <a:prstGeom prst="rect">
            <a:avLst/>
          </a:prstGeom>
          <a:noFill/>
          <a:ln/>
        </p:spPr>
        <p:txBody>
          <a:bodyPr wrap="square" lIns="0" tIns="0" rIns="0" bIns="0" rtlCol="0" anchor="t"/>
          <a:lstStyle/>
          <a:p>
            <a:pPr algn="ctr" indent="0" marL="0">
              <a:buNone/>
            </a:pPr>
            <a:r>
              <a:rPr lang="en-US" sz="950" b="1" dirty="0">
                <a:solidFill>
                  <a:srgbClr val="E76F51"/>
                </a:solidFill>
                <a:latin typeface="Calibri" pitchFamily="34" charset="0"/>
                <a:ea typeface="Calibri" pitchFamily="34" charset="-122"/>
                <a:cs typeface="Calibri" pitchFamily="34" charset="-120"/>
              </a:rPr>
              <a:t>1</a:t>
            </a:r>
            <a:endParaRPr lang="en-US" sz="950" dirty="0"/>
          </a:p>
        </p:txBody>
      </p:sp>
      <p:sp>
        <p:nvSpPr>
          <p:cNvPr id="39" name="Text 37"/>
          <p:cNvSpPr/>
          <p:nvPr/>
        </p:nvSpPr>
        <p:spPr>
          <a:xfrm>
            <a:off x="2651760" y="3566160"/>
            <a:ext cx="201168" cy="182880"/>
          </a:xfrm>
          <a:prstGeom prst="rect">
            <a:avLst/>
          </a:prstGeom>
          <a:noFill/>
          <a:ln/>
        </p:spPr>
        <p:txBody>
          <a:bodyPr wrap="square" lIns="0" tIns="0" rIns="0" bIns="0" rtlCol="0" anchor="t"/>
          <a:lstStyle/>
          <a:p>
            <a:pPr algn="ctr" indent="0" marL="0">
              <a:buNone/>
            </a:pPr>
            <a:r>
              <a:rPr lang="en-US" sz="950" b="1" dirty="0">
                <a:solidFill>
                  <a:srgbClr val="E76F51"/>
                </a:solidFill>
                <a:latin typeface="Calibri" pitchFamily="34" charset="0"/>
                <a:ea typeface="Calibri" pitchFamily="34" charset="-122"/>
                <a:cs typeface="Calibri" pitchFamily="34" charset="-120"/>
              </a:rPr>
              <a:t>*</a:t>
            </a:r>
            <a:endParaRPr lang="en-US" sz="950" dirty="0"/>
          </a:p>
        </p:txBody>
      </p:sp>
      <p:sp>
        <p:nvSpPr>
          <p:cNvPr id="40" name="Shape 38"/>
          <p:cNvSpPr/>
          <p:nvPr/>
        </p:nvSpPr>
        <p:spPr>
          <a:xfrm flipV="1">
            <a:off x="4846320" y="2788920"/>
            <a:ext cx="1097280" cy="1005840"/>
          </a:xfrm>
          <a:prstGeom prst="line">
            <a:avLst/>
          </a:prstGeom>
          <a:noFill/>
          <a:ln w="19050">
            <a:solidFill>
              <a:srgbClr val="2D6A4F"/>
            </a:solidFill>
            <a:prstDash val="solid"/>
          </a:ln>
        </p:spPr>
      </p:sp>
      <p:sp>
        <p:nvSpPr>
          <p:cNvPr id="41" name="Text 39"/>
          <p:cNvSpPr/>
          <p:nvPr/>
        </p:nvSpPr>
        <p:spPr>
          <a:xfrm>
            <a:off x="4901184" y="3566160"/>
            <a:ext cx="201168" cy="182880"/>
          </a:xfrm>
          <a:prstGeom prst="rect">
            <a:avLst/>
          </a:prstGeom>
          <a:noFill/>
          <a:ln/>
        </p:spPr>
        <p:txBody>
          <a:bodyPr wrap="square" lIns="0" tIns="0" rIns="0" bIns="0" rtlCol="0" anchor="t"/>
          <a:lstStyle/>
          <a:p>
            <a:pPr algn="ctr" indent="0" marL="0">
              <a:buNone/>
            </a:pPr>
            <a:r>
              <a:rPr lang="en-US" sz="950" b="1" dirty="0">
                <a:solidFill>
                  <a:srgbClr val="E76F51"/>
                </a:solidFill>
                <a:latin typeface="Calibri" pitchFamily="34" charset="0"/>
                <a:ea typeface="Calibri" pitchFamily="34" charset="-122"/>
                <a:cs typeface="Calibri" pitchFamily="34" charset="-120"/>
              </a:rPr>
              <a:t>*</a:t>
            </a:r>
            <a:endParaRPr lang="en-US" sz="950" dirty="0"/>
          </a:p>
        </p:txBody>
      </p:sp>
      <p:sp>
        <p:nvSpPr>
          <p:cNvPr id="42" name="Text 40"/>
          <p:cNvSpPr/>
          <p:nvPr/>
        </p:nvSpPr>
        <p:spPr>
          <a:xfrm>
            <a:off x="5989320" y="2816352"/>
            <a:ext cx="201168" cy="182880"/>
          </a:xfrm>
          <a:prstGeom prst="rect">
            <a:avLst/>
          </a:prstGeom>
          <a:noFill/>
          <a:ln/>
        </p:spPr>
        <p:txBody>
          <a:bodyPr wrap="square" lIns="0" tIns="0" rIns="0" bIns="0" rtlCol="0" anchor="t"/>
          <a:lstStyle/>
          <a:p>
            <a:pPr algn="ctr" indent="0" marL="0">
              <a:buNone/>
            </a:pPr>
            <a:r>
              <a:rPr lang="en-US" sz="950" b="1" dirty="0">
                <a:solidFill>
                  <a:srgbClr val="E76F51"/>
                </a:solidFill>
                <a:latin typeface="Calibri" pitchFamily="34" charset="0"/>
                <a:ea typeface="Calibri" pitchFamily="34" charset="-122"/>
                <a:cs typeface="Calibri" pitchFamily="34" charset="-120"/>
              </a:rPr>
              <a:t>1</a:t>
            </a:r>
            <a:endParaRPr lang="en-US" sz="950" dirty="0"/>
          </a:p>
        </p:txBody>
      </p:sp>
      <p:sp>
        <p:nvSpPr>
          <p:cNvPr id="43" name="Shape 41"/>
          <p:cNvSpPr/>
          <p:nvPr/>
        </p:nvSpPr>
        <p:spPr>
          <a:xfrm>
            <a:off x="548640" y="4617720"/>
            <a:ext cx="8046720" cy="384048"/>
          </a:xfrm>
          <a:prstGeom prst="roundRect">
            <a:avLst>
              <a:gd name="adj" fmla="val 19048"/>
            </a:avLst>
          </a:prstGeom>
          <a:solidFill>
            <a:srgbClr val="FBEAE3"/>
          </a:solidFill>
          <a:ln/>
        </p:spPr>
      </p:sp>
      <p:sp>
        <p:nvSpPr>
          <p:cNvPr id="44" name="Text 42"/>
          <p:cNvSpPr/>
          <p:nvPr/>
        </p:nvSpPr>
        <p:spPr>
          <a:xfrm>
            <a:off x="777240" y="4617720"/>
            <a:ext cx="7680960" cy="384048"/>
          </a:xfrm>
          <a:prstGeom prst="rect">
            <a:avLst/>
          </a:prstGeom>
          <a:noFill/>
          <a:ln/>
        </p:spPr>
        <p:txBody>
          <a:bodyPr wrap="square" lIns="0" tIns="0" rIns="0" bIns="0" rtlCol="0" anchor="ctr"/>
          <a:lstStyle/>
          <a:p>
            <a:pPr indent="0" marL="0">
              <a:buNone/>
            </a:pPr>
            <a:r>
              <a:rPr lang="en-US" sz="1000" b="1" dirty="0">
                <a:solidFill>
                  <a:srgbClr val="E76F51"/>
                </a:solidFill>
                <a:latin typeface="Calibri" pitchFamily="34" charset="0"/>
                <a:ea typeface="Calibri" pitchFamily="34" charset="-122"/>
                <a:cs typeface="Calibri" pitchFamily="34" charset="-120"/>
              </a:rPr>
              <a:t>Order — modelled, not yet in the UI:  </a:t>
            </a:r>
            <a:pPr indent="0" marL="0">
              <a:buNone/>
            </a:pPr>
            <a:r>
              <a:rPr lang="en-US" sz="1000" dirty="0">
                <a:solidFill>
                  <a:srgbClr val="22332B"/>
                </a:solidFill>
                <a:latin typeface="Calibri" pitchFamily="34" charset="0"/>
                <a:ea typeface="Calibri" pitchFamily="34" charset="-122"/>
                <a:cs typeface="Calibri" pitchFamily="34" charset="-120"/>
              </a:rPr>
              <a:t>status lifecycle (pending · accepted · rejected · finished · cancelled) prepares the reservation workflow.</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8046720" cy="274320"/>
          </a:xfrm>
          <a:prstGeom prst="rect">
            <a:avLst/>
          </a:prstGeom>
          <a:noFill/>
          <a:ln/>
        </p:spPr>
        <p:txBody>
          <a:bodyPr wrap="square" lIns="0" tIns="0" rIns="0" bIns="0" rtlCol="0" anchor="ctr"/>
          <a:lstStyle/>
          <a:p>
            <a:pPr indent="0" marL="0">
              <a:buNone/>
            </a:pPr>
            <a:r>
              <a:rPr lang="en-US" sz="1100" b="1" spc="200" kern="0" dirty="0">
                <a:solidFill>
                  <a:srgbClr val="E76F51"/>
                </a:solidFill>
                <a:latin typeface="Calibri" pitchFamily="34" charset="0"/>
                <a:ea typeface="Calibri" pitchFamily="34" charset="-122"/>
                <a:cs typeface="Calibri" pitchFamily="34" charset="-120"/>
              </a:rPr>
              <a:t>UNDER ACTIVE DEVELOPMENT</a:t>
            </a:r>
            <a:endParaRPr lang="en-US" sz="1100" dirty="0"/>
          </a:p>
        </p:txBody>
      </p:sp>
      <p:sp>
        <p:nvSpPr>
          <p:cNvPr id="3" name="Text 1"/>
          <p:cNvSpPr/>
          <p:nvPr/>
        </p:nvSpPr>
        <p:spPr>
          <a:xfrm>
            <a:off x="548640" y="493776"/>
            <a:ext cx="8046720" cy="566928"/>
          </a:xfrm>
          <a:prstGeom prst="rect">
            <a:avLst/>
          </a:prstGeom>
          <a:noFill/>
          <a:ln/>
        </p:spPr>
        <p:txBody>
          <a:bodyPr wrap="square" lIns="0" tIns="0" rIns="0" bIns="0" rtlCol="0" anchor="ctr"/>
          <a:lstStyle/>
          <a:p>
            <a:pPr indent="0" marL="0">
              <a:buNone/>
            </a:pPr>
            <a:r>
              <a:rPr lang="en-US" sz="3000" b="1" dirty="0">
                <a:solidFill>
                  <a:srgbClr val="163A2C"/>
                </a:solidFill>
                <a:latin typeface="Calibri" pitchFamily="34" charset="0"/>
                <a:ea typeface="Calibri" pitchFamily="34" charset="-122"/>
                <a:cs typeface="Calibri" pitchFamily="34" charset="-120"/>
              </a:rPr>
              <a:t>Current Limitations &amp; Future Development</a:t>
            </a:r>
            <a:endParaRPr lang="en-US" sz="3000" dirty="0"/>
          </a:p>
        </p:txBody>
      </p:sp>
      <p:sp>
        <p:nvSpPr>
          <p:cNvPr id="4" name="Shape 2"/>
          <p:cNvSpPr/>
          <p:nvPr/>
        </p:nvSpPr>
        <p:spPr>
          <a:xfrm>
            <a:off x="548640" y="1417320"/>
            <a:ext cx="2624328" cy="1463040"/>
          </a:xfrm>
          <a:prstGeom prst="roundRect">
            <a:avLst>
              <a:gd name="adj" fmla="val 6250"/>
            </a:avLst>
          </a:prstGeom>
          <a:solidFill>
            <a:srgbClr val="FFFFFF"/>
          </a:solidFill>
          <a:ln w="15875">
            <a:solidFill>
              <a:srgbClr val="F0C9BC"/>
            </a:solidFill>
            <a:prstDash val="dash"/>
          </a:ln>
        </p:spPr>
      </p:sp>
      <p:sp>
        <p:nvSpPr>
          <p:cNvPr id="5" name="Shape 3"/>
          <p:cNvSpPr/>
          <p:nvPr/>
        </p:nvSpPr>
        <p:spPr>
          <a:xfrm>
            <a:off x="713232" y="1563624"/>
            <a:ext cx="384048" cy="384048"/>
          </a:xfrm>
          <a:prstGeom prst="ellipse">
            <a:avLst/>
          </a:prstGeom>
          <a:solidFill>
            <a:srgbClr val="FBEAE3"/>
          </a:solidFill>
          <a:ln/>
        </p:spPr>
      </p:sp>
      <p:pic>
        <p:nvPicPr>
          <p:cNvPr id="6" name="Image 0" descr="preencoded.png">    </p:cNvPr>
          <p:cNvPicPr>
            <a:picLocks noChangeAspect="1"/>
          </p:cNvPicPr>
          <p:nvPr/>
        </p:nvPicPr>
        <p:blipFill>
          <a:blip r:embed="rId1"/>
          <a:stretch>
            <a:fillRect/>
          </a:stretch>
        </p:blipFill>
        <p:spPr>
          <a:xfrm>
            <a:off x="805404" y="1655796"/>
            <a:ext cx="199705" cy="199705"/>
          </a:xfrm>
          <a:prstGeom prst="rect">
            <a:avLst/>
          </a:prstGeom>
        </p:spPr>
      </p:pic>
      <p:sp>
        <p:nvSpPr>
          <p:cNvPr id="7" name="Text 4"/>
          <p:cNvSpPr/>
          <p:nvPr/>
        </p:nvSpPr>
        <p:spPr>
          <a:xfrm>
            <a:off x="1207008" y="1600200"/>
            <a:ext cx="1874520" cy="310896"/>
          </a:xfrm>
          <a:prstGeom prst="rect">
            <a:avLst/>
          </a:prstGeom>
          <a:noFill/>
          <a:ln/>
        </p:spPr>
        <p:txBody>
          <a:bodyPr wrap="square" lIns="0" tIns="0" rIns="0" bIns="0" rtlCol="0" anchor="ctr"/>
          <a:lstStyle/>
          <a:p>
            <a:pPr indent="0" marL="0">
              <a:buNone/>
            </a:pPr>
            <a:r>
              <a:rPr lang="en-US" sz="1200" b="1" dirty="0">
                <a:solidFill>
                  <a:srgbClr val="163A2C"/>
                </a:solidFill>
                <a:latin typeface="Calibri" pitchFamily="34" charset="0"/>
                <a:ea typeface="Calibri" pitchFamily="34" charset="-122"/>
                <a:cs typeface="Calibri" pitchFamily="34" charset="-120"/>
              </a:rPr>
              <a:t>Accounts — next steps</a:t>
            </a:r>
            <a:endParaRPr lang="en-US" sz="1200" dirty="0"/>
          </a:p>
        </p:txBody>
      </p:sp>
      <p:sp>
        <p:nvSpPr>
          <p:cNvPr id="8" name="Text 5"/>
          <p:cNvSpPr/>
          <p:nvPr/>
        </p:nvSpPr>
        <p:spPr>
          <a:xfrm>
            <a:off x="731520" y="2039112"/>
            <a:ext cx="2286000" cy="786384"/>
          </a:xfrm>
          <a:prstGeom prst="rect">
            <a:avLst/>
          </a:prstGeom>
          <a:noFill/>
          <a:ln/>
        </p:spPr>
        <p:txBody>
          <a:bodyPr wrap="square" lIns="0" tIns="0" rIns="0" bIns="0" rtlCol="0" anchor="t"/>
          <a:lstStyle/>
          <a:p>
            <a:pPr indent="0" marL="0">
              <a:buNone/>
            </a:pPr>
            <a:r>
              <a:rPr lang="en-US" sz="950" dirty="0">
                <a:solidFill>
                  <a:srgbClr val="6B7F74"/>
                </a:solidFill>
                <a:latin typeface="Calibri" pitchFamily="34" charset="0"/>
                <a:ea typeface="Calibri" pitchFamily="34" charset="-122"/>
                <a:cs typeface="Calibri" pitchFamily="34" charset="-120"/>
              </a:rPr>
              <a:t>business-owner accounts · profile management · email confirmation · password reset</a:t>
            </a:r>
            <a:endParaRPr lang="en-US" sz="950" dirty="0"/>
          </a:p>
        </p:txBody>
      </p:sp>
      <p:sp>
        <p:nvSpPr>
          <p:cNvPr id="9" name="Shape 6"/>
          <p:cNvSpPr/>
          <p:nvPr/>
        </p:nvSpPr>
        <p:spPr>
          <a:xfrm>
            <a:off x="3355848" y="1417320"/>
            <a:ext cx="2624328" cy="1463040"/>
          </a:xfrm>
          <a:prstGeom prst="roundRect">
            <a:avLst>
              <a:gd name="adj" fmla="val 6250"/>
            </a:avLst>
          </a:prstGeom>
          <a:solidFill>
            <a:srgbClr val="FFFFFF"/>
          </a:solidFill>
          <a:ln w="15875">
            <a:solidFill>
              <a:srgbClr val="F0C9BC"/>
            </a:solidFill>
            <a:prstDash val="dash"/>
          </a:ln>
        </p:spPr>
      </p:sp>
      <p:sp>
        <p:nvSpPr>
          <p:cNvPr id="10" name="Shape 7"/>
          <p:cNvSpPr/>
          <p:nvPr/>
        </p:nvSpPr>
        <p:spPr>
          <a:xfrm>
            <a:off x="3520440" y="1563624"/>
            <a:ext cx="384048" cy="384048"/>
          </a:xfrm>
          <a:prstGeom prst="ellipse">
            <a:avLst/>
          </a:prstGeom>
          <a:solidFill>
            <a:srgbClr val="FBEAE3"/>
          </a:solidFill>
          <a:ln/>
        </p:spPr>
      </p:sp>
      <p:pic>
        <p:nvPicPr>
          <p:cNvPr id="11" name="Image 1" descr="preencoded.png">    </p:cNvPr>
          <p:cNvPicPr>
            <a:picLocks noChangeAspect="1"/>
          </p:cNvPicPr>
          <p:nvPr/>
        </p:nvPicPr>
        <p:blipFill>
          <a:blip r:embed="rId2"/>
          <a:stretch>
            <a:fillRect/>
          </a:stretch>
        </p:blipFill>
        <p:spPr>
          <a:xfrm>
            <a:off x="3612612" y="1655796"/>
            <a:ext cx="199705" cy="199705"/>
          </a:xfrm>
          <a:prstGeom prst="rect">
            <a:avLst/>
          </a:prstGeom>
        </p:spPr>
      </p:pic>
      <p:sp>
        <p:nvSpPr>
          <p:cNvPr id="12" name="Text 8"/>
          <p:cNvSpPr/>
          <p:nvPr/>
        </p:nvSpPr>
        <p:spPr>
          <a:xfrm>
            <a:off x="4014216" y="1600200"/>
            <a:ext cx="1874520" cy="310896"/>
          </a:xfrm>
          <a:prstGeom prst="rect">
            <a:avLst/>
          </a:prstGeom>
          <a:noFill/>
          <a:ln/>
        </p:spPr>
        <p:txBody>
          <a:bodyPr wrap="square" lIns="0" tIns="0" rIns="0" bIns="0" rtlCol="0" anchor="ctr"/>
          <a:lstStyle/>
          <a:p>
            <a:pPr indent="0" marL="0">
              <a:buNone/>
            </a:pPr>
            <a:r>
              <a:rPr lang="en-US" sz="1200" b="1" dirty="0">
                <a:solidFill>
                  <a:srgbClr val="163A2C"/>
                </a:solidFill>
                <a:latin typeface="Calibri" pitchFamily="34" charset="0"/>
                <a:ea typeface="Calibri" pitchFamily="34" charset="-122"/>
                <a:cs typeface="Calibri" pitchFamily="34" charset="-120"/>
              </a:rPr>
              <a:t>Ordering</a:t>
            </a:r>
            <a:endParaRPr lang="en-US" sz="1200" dirty="0"/>
          </a:p>
        </p:txBody>
      </p:sp>
      <p:sp>
        <p:nvSpPr>
          <p:cNvPr id="13" name="Text 9"/>
          <p:cNvSpPr/>
          <p:nvPr/>
        </p:nvSpPr>
        <p:spPr>
          <a:xfrm>
            <a:off x="3538728" y="2039112"/>
            <a:ext cx="2286000" cy="786384"/>
          </a:xfrm>
          <a:prstGeom prst="rect">
            <a:avLst/>
          </a:prstGeom>
          <a:noFill/>
          <a:ln/>
        </p:spPr>
        <p:txBody>
          <a:bodyPr wrap="square" lIns="0" tIns="0" rIns="0" bIns="0" rtlCol="0" anchor="t"/>
          <a:lstStyle/>
          <a:p>
            <a:pPr indent="0" marL="0">
              <a:buNone/>
            </a:pPr>
            <a:r>
              <a:rPr lang="en-US" sz="950" dirty="0">
                <a:solidFill>
                  <a:srgbClr val="6B7F74"/>
                </a:solidFill>
                <a:latin typeface="Calibri" pitchFamily="34" charset="0"/>
                <a:ea typeface="Calibri" pitchFamily="34" charset="-122"/>
                <a:cs typeface="Calibri" pitchFamily="34" charset="-120"/>
              </a:rPr>
              <a:t>complete reservation workflow · quantity &amp; real-time availability</a:t>
            </a:r>
            <a:endParaRPr lang="en-US" sz="950" dirty="0"/>
          </a:p>
        </p:txBody>
      </p:sp>
      <p:sp>
        <p:nvSpPr>
          <p:cNvPr id="14" name="Shape 10"/>
          <p:cNvSpPr/>
          <p:nvPr/>
        </p:nvSpPr>
        <p:spPr>
          <a:xfrm>
            <a:off x="6163056" y="1417320"/>
            <a:ext cx="2624328" cy="1463040"/>
          </a:xfrm>
          <a:prstGeom prst="roundRect">
            <a:avLst>
              <a:gd name="adj" fmla="val 6250"/>
            </a:avLst>
          </a:prstGeom>
          <a:solidFill>
            <a:srgbClr val="FFFFFF"/>
          </a:solidFill>
          <a:ln w="15875">
            <a:solidFill>
              <a:srgbClr val="F0C9BC"/>
            </a:solidFill>
            <a:prstDash val="dash"/>
          </a:ln>
        </p:spPr>
      </p:sp>
      <p:sp>
        <p:nvSpPr>
          <p:cNvPr id="15" name="Shape 11"/>
          <p:cNvSpPr/>
          <p:nvPr/>
        </p:nvSpPr>
        <p:spPr>
          <a:xfrm>
            <a:off x="6327648" y="1563624"/>
            <a:ext cx="384048" cy="384048"/>
          </a:xfrm>
          <a:prstGeom prst="ellipse">
            <a:avLst/>
          </a:prstGeom>
          <a:solidFill>
            <a:srgbClr val="FBEAE3"/>
          </a:solidFill>
          <a:ln/>
        </p:spPr>
      </p:sp>
      <p:pic>
        <p:nvPicPr>
          <p:cNvPr id="16" name="Image 2" descr="preencoded.png">    </p:cNvPr>
          <p:cNvPicPr>
            <a:picLocks noChangeAspect="1"/>
          </p:cNvPicPr>
          <p:nvPr/>
        </p:nvPicPr>
        <p:blipFill>
          <a:blip r:embed="rId3"/>
          <a:stretch>
            <a:fillRect/>
          </a:stretch>
        </p:blipFill>
        <p:spPr>
          <a:xfrm>
            <a:off x="6419820" y="1655796"/>
            <a:ext cx="199705" cy="199705"/>
          </a:xfrm>
          <a:prstGeom prst="rect">
            <a:avLst/>
          </a:prstGeom>
        </p:spPr>
      </p:pic>
      <p:sp>
        <p:nvSpPr>
          <p:cNvPr id="17" name="Text 12"/>
          <p:cNvSpPr/>
          <p:nvPr/>
        </p:nvSpPr>
        <p:spPr>
          <a:xfrm>
            <a:off x="6821424" y="1600200"/>
            <a:ext cx="1874520" cy="310896"/>
          </a:xfrm>
          <a:prstGeom prst="rect">
            <a:avLst/>
          </a:prstGeom>
          <a:noFill/>
          <a:ln/>
        </p:spPr>
        <p:txBody>
          <a:bodyPr wrap="square" lIns="0" tIns="0" rIns="0" bIns="0" rtlCol="0" anchor="ctr"/>
          <a:lstStyle/>
          <a:p>
            <a:pPr indent="0" marL="0">
              <a:buNone/>
            </a:pPr>
            <a:r>
              <a:rPr lang="en-US" sz="1200" b="1" dirty="0">
                <a:solidFill>
                  <a:srgbClr val="163A2C"/>
                </a:solidFill>
                <a:latin typeface="Calibri" pitchFamily="34" charset="0"/>
                <a:ea typeface="Calibri" pitchFamily="34" charset="-122"/>
                <a:cs typeface="Calibri" pitchFamily="34" charset="-120"/>
              </a:rPr>
              <a:t>Payments</a:t>
            </a:r>
            <a:endParaRPr lang="en-US" sz="1200" dirty="0"/>
          </a:p>
        </p:txBody>
      </p:sp>
      <p:sp>
        <p:nvSpPr>
          <p:cNvPr id="18" name="Text 13"/>
          <p:cNvSpPr/>
          <p:nvPr/>
        </p:nvSpPr>
        <p:spPr>
          <a:xfrm>
            <a:off x="6345936" y="2039112"/>
            <a:ext cx="2286000" cy="786384"/>
          </a:xfrm>
          <a:prstGeom prst="rect">
            <a:avLst/>
          </a:prstGeom>
          <a:noFill/>
          <a:ln/>
        </p:spPr>
        <p:txBody>
          <a:bodyPr wrap="square" lIns="0" tIns="0" rIns="0" bIns="0" rtlCol="0" anchor="t"/>
          <a:lstStyle/>
          <a:p>
            <a:pPr indent="0" marL="0">
              <a:buNone/>
            </a:pPr>
            <a:r>
              <a:rPr lang="en-US" sz="950" dirty="0">
                <a:solidFill>
                  <a:srgbClr val="6B7F74"/>
                </a:solidFill>
                <a:latin typeface="Calibri" pitchFamily="34" charset="0"/>
                <a:ea typeface="Calibri" pitchFamily="34" charset="-122"/>
                <a:cs typeface="Calibri" pitchFamily="34" charset="-120"/>
              </a:rPr>
              <a:t>online / in-app payment for reserved packages</a:t>
            </a:r>
            <a:endParaRPr lang="en-US" sz="950" dirty="0"/>
          </a:p>
        </p:txBody>
      </p:sp>
      <p:sp>
        <p:nvSpPr>
          <p:cNvPr id="19" name="Shape 14"/>
          <p:cNvSpPr/>
          <p:nvPr/>
        </p:nvSpPr>
        <p:spPr>
          <a:xfrm>
            <a:off x="548640" y="3063240"/>
            <a:ext cx="2624328" cy="1463040"/>
          </a:xfrm>
          <a:prstGeom prst="roundRect">
            <a:avLst>
              <a:gd name="adj" fmla="val 6250"/>
            </a:avLst>
          </a:prstGeom>
          <a:solidFill>
            <a:srgbClr val="FFFFFF"/>
          </a:solidFill>
          <a:ln w="15875">
            <a:solidFill>
              <a:srgbClr val="F0C9BC"/>
            </a:solidFill>
            <a:prstDash val="dash"/>
          </a:ln>
        </p:spPr>
      </p:sp>
      <p:sp>
        <p:nvSpPr>
          <p:cNvPr id="20" name="Shape 15"/>
          <p:cNvSpPr/>
          <p:nvPr/>
        </p:nvSpPr>
        <p:spPr>
          <a:xfrm>
            <a:off x="713232" y="3209544"/>
            <a:ext cx="384048" cy="384048"/>
          </a:xfrm>
          <a:prstGeom prst="ellipse">
            <a:avLst/>
          </a:prstGeom>
          <a:solidFill>
            <a:srgbClr val="FBEAE3"/>
          </a:solidFill>
          <a:ln/>
        </p:spPr>
      </p:sp>
      <p:pic>
        <p:nvPicPr>
          <p:cNvPr id="21" name="Image 3" descr="preencoded.png">    </p:cNvPr>
          <p:cNvPicPr>
            <a:picLocks noChangeAspect="1"/>
          </p:cNvPicPr>
          <p:nvPr/>
        </p:nvPicPr>
        <p:blipFill>
          <a:blip r:embed="rId4"/>
          <a:stretch>
            <a:fillRect/>
          </a:stretch>
        </p:blipFill>
        <p:spPr>
          <a:xfrm>
            <a:off x="805404" y="3301716"/>
            <a:ext cx="199705" cy="199705"/>
          </a:xfrm>
          <a:prstGeom prst="rect">
            <a:avLst/>
          </a:prstGeom>
        </p:spPr>
      </p:pic>
      <p:sp>
        <p:nvSpPr>
          <p:cNvPr id="22" name="Text 16"/>
          <p:cNvSpPr/>
          <p:nvPr/>
        </p:nvSpPr>
        <p:spPr>
          <a:xfrm>
            <a:off x="1207008" y="3246120"/>
            <a:ext cx="1874520" cy="310896"/>
          </a:xfrm>
          <a:prstGeom prst="rect">
            <a:avLst/>
          </a:prstGeom>
          <a:noFill/>
          <a:ln/>
        </p:spPr>
        <p:txBody>
          <a:bodyPr wrap="square" lIns="0" tIns="0" rIns="0" bIns="0" rtlCol="0" anchor="ctr"/>
          <a:lstStyle/>
          <a:p>
            <a:pPr indent="0" marL="0">
              <a:buNone/>
            </a:pPr>
            <a:r>
              <a:rPr lang="en-US" sz="1200" b="1" dirty="0">
                <a:solidFill>
                  <a:srgbClr val="163A2C"/>
                </a:solidFill>
                <a:latin typeface="Calibri" pitchFamily="34" charset="0"/>
                <a:ea typeface="Calibri" pitchFamily="34" charset="-122"/>
                <a:cs typeface="Calibri" pitchFamily="34" charset="-120"/>
              </a:rPr>
              <a:t>Discovery &amp; engagement</a:t>
            </a:r>
            <a:endParaRPr lang="en-US" sz="1200" dirty="0"/>
          </a:p>
        </p:txBody>
      </p:sp>
      <p:sp>
        <p:nvSpPr>
          <p:cNvPr id="23" name="Text 17"/>
          <p:cNvSpPr/>
          <p:nvPr/>
        </p:nvSpPr>
        <p:spPr>
          <a:xfrm>
            <a:off x="731520" y="3685032"/>
            <a:ext cx="2286000" cy="786384"/>
          </a:xfrm>
          <a:prstGeom prst="rect">
            <a:avLst/>
          </a:prstGeom>
          <a:noFill/>
          <a:ln/>
        </p:spPr>
        <p:txBody>
          <a:bodyPr wrap="square" lIns="0" tIns="0" rIns="0" bIns="0" rtlCol="0" anchor="t"/>
          <a:lstStyle/>
          <a:p>
            <a:pPr indent="0" marL="0">
              <a:buNone/>
            </a:pPr>
            <a:r>
              <a:rPr lang="en-US" sz="950" dirty="0">
                <a:solidFill>
                  <a:srgbClr val="6B7F74"/>
                </a:solidFill>
                <a:latin typeface="Calibri" pitchFamily="34" charset="0"/>
                <a:ea typeface="Calibri" pitchFamily="34" charset="-122"/>
                <a:cs typeface="Calibri" pitchFamily="34" charset="-120"/>
              </a:rPr>
              <a:t>maps &amp; geolocation · notifications · ratings &amp; reviews · image upload</a:t>
            </a:r>
            <a:endParaRPr lang="en-US" sz="950" dirty="0"/>
          </a:p>
        </p:txBody>
      </p:sp>
      <p:sp>
        <p:nvSpPr>
          <p:cNvPr id="24" name="Shape 18"/>
          <p:cNvSpPr/>
          <p:nvPr/>
        </p:nvSpPr>
        <p:spPr>
          <a:xfrm>
            <a:off x="3355848" y="3063240"/>
            <a:ext cx="2624328" cy="1463040"/>
          </a:xfrm>
          <a:prstGeom prst="roundRect">
            <a:avLst>
              <a:gd name="adj" fmla="val 6250"/>
            </a:avLst>
          </a:prstGeom>
          <a:solidFill>
            <a:srgbClr val="FFFFFF"/>
          </a:solidFill>
          <a:ln w="15875">
            <a:solidFill>
              <a:srgbClr val="F0C9BC"/>
            </a:solidFill>
            <a:prstDash val="dash"/>
          </a:ln>
        </p:spPr>
      </p:sp>
      <p:sp>
        <p:nvSpPr>
          <p:cNvPr id="25" name="Shape 19"/>
          <p:cNvSpPr/>
          <p:nvPr/>
        </p:nvSpPr>
        <p:spPr>
          <a:xfrm>
            <a:off x="3520440" y="3209544"/>
            <a:ext cx="384048" cy="384048"/>
          </a:xfrm>
          <a:prstGeom prst="ellipse">
            <a:avLst/>
          </a:prstGeom>
          <a:solidFill>
            <a:srgbClr val="FBEAE3"/>
          </a:solidFill>
          <a:ln/>
        </p:spPr>
      </p:sp>
      <p:pic>
        <p:nvPicPr>
          <p:cNvPr id="26" name="Image 4" descr="preencoded.png">    </p:cNvPr>
          <p:cNvPicPr>
            <a:picLocks noChangeAspect="1"/>
          </p:cNvPicPr>
          <p:nvPr/>
        </p:nvPicPr>
        <p:blipFill>
          <a:blip r:embed="rId5"/>
          <a:stretch>
            <a:fillRect/>
          </a:stretch>
        </p:blipFill>
        <p:spPr>
          <a:xfrm>
            <a:off x="3612612" y="3301716"/>
            <a:ext cx="199705" cy="199705"/>
          </a:xfrm>
          <a:prstGeom prst="rect">
            <a:avLst/>
          </a:prstGeom>
        </p:spPr>
      </p:pic>
      <p:sp>
        <p:nvSpPr>
          <p:cNvPr id="27" name="Text 20"/>
          <p:cNvSpPr/>
          <p:nvPr/>
        </p:nvSpPr>
        <p:spPr>
          <a:xfrm>
            <a:off x="4014216" y="3246120"/>
            <a:ext cx="1874520" cy="310896"/>
          </a:xfrm>
          <a:prstGeom prst="rect">
            <a:avLst/>
          </a:prstGeom>
          <a:noFill/>
          <a:ln/>
        </p:spPr>
        <p:txBody>
          <a:bodyPr wrap="square" lIns="0" tIns="0" rIns="0" bIns="0" rtlCol="0" anchor="ctr"/>
          <a:lstStyle/>
          <a:p>
            <a:pPr indent="0" marL="0">
              <a:buNone/>
            </a:pPr>
            <a:r>
              <a:rPr lang="en-US" sz="1200" b="1" dirty="0">
                <a:solidFill>
                  <a:srgbClr val="163A2C"/>
                </a:solidFill>
                <a:latin typeface="Calibri" pitchFamily="34" charset="0"/>
                <a:ea typeface="Calibri" pitchFamily="34" charset="-122"/>
                <a:cs typeface="Calibri" pitchFamily="34" charset="-120"/>
              </a:rPr>
              <a:t>Robustness</a:t>
            </a:r>
            <a:endParaRPr lang="en-US" sz="1200" dirty="0"/>
          </a:p>
        </p:txBody>
      </p:sp>
      <p:sp>
        <p:nvSpPr>
          <p:cNvPr id="28" name="Text 21"/>
          <p:cNvSpPr/>
          <p:nvPr/>
        </p:nvSpPr>
        <p:spPr>
          <a:xfrm>
            <a:off x="3538728" y="3685032"/>
            <a:ext cx="2286000" cy="786384"/>
          </a:xfrm>
          <a:prstGeom prst="rect">
            <a:avLst/>
          </a:prstGeom>
          <a:noFill/>
          <a:ln/>
        </p:spPr>
        <p:txBody>
          <a:bodyPr wrap="square" lIns="0" tIns="0" rIns="0" bIns="0" rtlCol="0" anchor="t"/>
          <a:lstStyle/>
          <a:p>
            <a:pPr indent="0" marL="0">
              <a:buNone/>
            </a:pPr>
            <a:r>
              <a:rPr lang="en-US" sz="950" dirty="0">
                <a:solidFill>
                  <a:srgbClr val="6B7F74"/>
                </a:solidFill>
                <a:latin typeface="Calibri" pitchFamily="34" charset="0"/>
                <a:ea typeface="Calibri" pitchFamily="34" charset="-122"/>
                <a:cs typeface="Calibri" pitchFamily="34" charset="-120"/>
              </a:rPr>
              <a:t>stronger server-side validation · global error handling · automated tests</a:t>
            </a:r>
            <a:endParaRPr lang="en-US" sz="950" dirty="0"/>
          </a:p>
        </p:txBody>
      </p:sp>
      <p:sp>
        <p:nvSpPr>
          <p:cNvPr id="29" name="Shape 22"/>
          <p:cNvSpPr/>
          <p:nvPr/>
        </p:nvSpPr>
        <p:spPr>
          <a:xfrm>
            <a:off x="6163056" y="3063240"/>
            <a:ext cx="2624328" cy="1463040"/>
          </a:xfrm>
          <a:prstGeom prst="roundRect">
            <a:avLst>
              <a:gd name="adj" fmla="val 6250"/>
            </a:avLst>
          </a:prstGeom>
          <a:solidFill>
            <a:srgbClr val="FFFFFF"/>
          </a:solidFill>
          <a:ln w="15875">
            <a:solidFill>
              <a:srgbClr val="F0C9BC"/>
            </a:solidFill>
            <a:prstDash val="dash"/>
          </a:ln>
        </p:spPr>
      </p:sp>
      <p:sp>
        <p:nvSpPr>
          <p:cNvPr id="30" name="Shape 23"/>
          <p:cNvSpPr/>
          <p:nvPr/>
        </p:nvSpPr>
        <p:spPr>
          <a:xfrm>
            <a:off x="6327648" y="3209544"/>
            <a:ext cx="384048" cy="384048"/>
          </a:xfrm>
          <a:prstGeom prst="ellipse">
            <a:avLst/>
          </a:prstGeom>
          <a:solidFill>
            <a:srgbClr val="FBEAE3"/>
          </a:solidFill>
          <a:ln/>
        </p:spPr>
      </p:sp>
      <p:pic>
        <p:nvPicPr>
          <p:cNvPr id="31" name="Image 5" descr="preencoded.png">    </p:cNvPr>
          <p:cNvPicPr>
            <a:picLocks noChangeAspect="1"/>
          </p:cNvPicPr>
          <p:nvPr/>
        </p:nvPicPr>
        <p:blipFill>
          <a:blip r:embed="rId6"/>
          <a:stretch>
            <a:fillRect/>
          </a:stretch>
        </p:blipFill>
        <p:spPr>
          <a:xfrm>
            <a:off x="6419820" y="3301716"/>
            <a:ext cx="199705" cy="199705"/>
          </a:xfrm>
          <a:prstGeom prst="rect">
            <a:avLst/>
          </a:prstGeom>
        </p:spPr>
      </p:pic>
      <p:sp>
        <p:nvSpPr>
          <p:cNvPr id="32" name="Text 24"/>
          <p:cNvSpPr/>
          <p:nvPr/>
        </p:nvSpPr>
        <p:spPr>
          <a:xfrm>
            <a:off x="6821424" y="3246120"/>
            <a:ext cx="1874520" cy="310896"/>
          </a:xfrm>
          <a:prstGeom prst="rect">
            <a:avLst/>
          </a:prstGeom>
          <a:noFill/>
          <a:ln/>
        </p:spPr>
        <p:txBody>
          <a:bodyPr wrap="square" lIns="0" tIns="0" rIns="0" bIns="0" rtlCol="0" anchor="ctr"/>
          <a:lstStyle/>
          <a:p>
            <a:pPr indent="0" marL="0">
              <a:buNone/>
            </a:pPr>
            <a:r>
              <a:rPr lang="en-US" sz="1200" b="1" dirty="0">
                <a:solidFill>
                  <a:srgbClr val="163A2C"/>
                </a:solidFill>
                <a:latin typeface="Calibri" pitchFamily="34" charset="0"/>
                <a:ea typeface="Calibri" pitchFamily="34" charset="-122"/>
                <a:cs typeface="Calibri" pitchFamily="34" charset="-120"/>
              </a:rPr>
              <a:t>Operations &amp; impact</a:t>
            </a:r>
            <a:endParaRPr lang="en-US" sz="1200" dirty="0"/>
          </a:p>
        </p:txBody>
      </p:sp>
      <p:sp>
        <p:nvSpPr>
          <p:cNvPr id="33" name="Text 25"/>
          <p:cNvSpPr/>
          <p:nvPr/>
        </p:nvSpPr>
        <p:spPr>
          <a:xfrm>
            <a:off x="6345936" y="3685032"/>
            <a:ext cx="2286000" cy="786384"/>
          </a:xfrm>
          <a:prstGeom prst="rect">
            <a:avLst/>
          </a:prstGeom>
          <a:noFill/>
          <a:ln/>
        </p:spPr>
        <p:txBody>
          <a:bodyPr wrap="square" lIns="0" tIns="0" rIns="0" bIns="0" rtlCol="0" anchor="t"/>
          <a:lstStyle/>
          <a:p>
            <a:pPr indent="0" marL="0">
              <a:buNone/>
            </a:pPr>
            <a:r>
              <a:rPr lang="en-US" sz="950" dirty="0">
                <a:solidFill>
                  <a:srgbClr val="6B7F74"/>
                </a:solidFill>
                <a:latin typeface="Calibri" pitchFamily="34" charset="0"/>
                <a:ea typeface="Calibri" pitchFamily="34" charset="-122"/>
                <a:cs typeface="Calibri" pitchFamily="34" charset="-120"/>
              </a:rPr>
              <a:t>deployment &amp; production configuration · analytics: meals saved, waste prevented</a:t>
            </a:r>
            <a:endParaRPr lang="en-US" sz="950" dirty="0"/>
          </a:p>
        </p:txBody>
      </p:sp>
      <p:sp>
        <p:nvSpPr>
          <p:cNvPr id="34" name="Text 26"/>
          <p:cNvSpPr/>
          <p:nvPr/>
        </p:nvSpPr>
        <p:spPr>
          <a:xfrm>
            <a:off x="548640" y="4736592"/>
            <a:ext cx="8046720" cy="274320"/>
          </a:xfrm>
          <a:prstGeom prst="rect">
            <a:avLst/>
          </a:prstGeom>
          <a:noFill/>
          <a:ln/>
        </p:spPr>
        <p:txBody>
          <a:bodyPr wrap="square" lIns="0" tIns="0" rIns="0" bIns="0" rtlCol="0" anchor="ctr"/>
          <a:lstStyle/>
          <a:p>
            <a:pPr indent="0" marL="0">
              <a:buNone/>
            </a:pPr>
            <a:r>
              <a:rPr lang="en-US" sz="1050" i="1" dirty="0">
                <a:solidFill>
                  <a:srgbClr val="E76F51"/>
                </a:solidFill>
                <a:latin typeface="Calibri" pitchFamily="34" charset="0"/>
                <a:ea typeface="Calibri" pitchFamily="34" charset="-122"/>
                <a:cs typeface="Calibri" pitchFamily="34" charset="-120"/>
              </a:rPr>
              <a:t>Register, login and Admin roles are already done — everything on this slide is still ahead of us.</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63A2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14000"/>
          </a:blip>
          <a:stretch>
            <a:fillRect/>
          </a:stretch>
        </p:blipFill>
        <p:spPr>
          <a:xfrm>
            <a:off x="6766560" y="3017520"/>
            <a:ext cx="2377440" cy="2377440"/>
          </a:xfrm>
          <a:prstGeom prst="rect">
            <a:avLst/>
          </a:prstGeom>
        </p:spPr>
      </p:pic>
      <p:sp>
        <p:nvSpPr>
          <p:cNvPr id="3" name="Text 0"/>
          <p:cNvSpPr/>
          <p:nvPr/>
        </p:nvSpPr>
        <p:spPr>
          <a:xfrm>
            <a:off x="640080" y="457200"/>
            <a:ext cx="7315200" cy="54864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Conclusion</a:t>
            </a:r>
            <a:endParaRPr lang="en-US" sz="3200" dirty="0"/>
          </a:p>
        </p:txBody>
      </p:sp>
      <p:pic>
        <p:nvPicPr>
          <p:cNvPr id="4" name="Image 1" descr="preencoded.png">    </p:cNvPr>
          <p:cNvPicPr>
            <a:picLocks noChangeAspect="1"/>
          </p:cNvPicPr>
          <p:nvPr/>
        </p:nvPicPr>
        <p:blipFill>
          <a:blip r:embed="rId2"/>
          <a:stretch>
            <a:fillRect/>
          </a:stretch>
        </p:blipFill>
        <p:spPr>
          <a:xfrm>
            <a:off x="658368" y="1225296"/>
            <a:ext cx="219456" cy="219456"/>
          </a:xfrm>
          <a:prstGeom prst="rect">
            <a:avLst/>
          </a:prstGeom>
        </p:spPr>
      </p:pic>
      <p:sp>
        <p:nvSpPr>
          <p:cNvPr id="5" name="Text 1"/>
          <p:cNvSpPr/>
          <p:nvPr/>
        </p:nvSpPr>
        <p:spPr>
          <a:xfrm>
            <a:off x="1005840" y="1207008"/>
            <a:ext cx="7223760" cy="292608"/>
          </a:xfrm>
          <a:prstGeom prst="rect">
            <a:avLst/>
          </a:prstGeom>
          <a:noFill/>
          <a:ln/>
        </p:spPr>
        <p:txBody>
          <a:bodyPr wrap="square" lIns="0" tIns="0" rIns="0" bIns="0" rtlCol="0" anchor="t"/>
          <a:lstStyle/>
          <a:p>
            <a:pPr indent="0" marL="0">
              <a:buNone/>
            </a:pPr>
            <a:r>
              <a:rPr lang="en-US" sz="1350" dirty="0">
                <a:solidFill>
                  <a:srgbClr val="FFFFFF"/>
                </a:solidFill>
                <a:latin typeface="Calibri" pitchFamily="34" charset="0"/>
                <a:ea typeface="Calibri" pitchFamily="34" charset="-122"/>
                <a:cs typeface="Calibri" pitchFamily="34" charset="-120"/>
              </a:rPr>
              <a:t>EcoMeal addresses a real food-waste problem with a practical mechanism</a:t>
            </a:r>
            <a:endParaRPr lang="en-US" sz="1350" dirty="0"/>
          </a:p>
        </p:txBody>
      </p:sp>
      <p:pic>
        <p:nvPicPr>
          <p:cNvPr id="6" name="Image 2" descr="preencoded.png">    </p:cNvPr>
          <p:cNvPicPr>
            <a:picLocks noChangeAspect="1"/>
          </p:cNvPicPr>
          <p:nvPr/>
        </p:nvPicPr>
        <p:blipFill>
          <a:blip r:embed="rId3"/>
          <a:stretch>
            <a:fillRect/>
          </a:stretch>
        </p:blipFill>
        <p:spPr>
          <a:xfrm>
            <a:off x="658368" y="1728216"/>
            <a:ext cx="219456" cy="219456"/>
          </a:xfrm>
          <a:prstGeom prst="rect">
            <a:avLst/>
          </a:prstGeom>
        </p:spPr>
      </p:pic>
      <p:sp>
        <p:nvSpPr>
          <p:cNvPr id="7" name="Text 2"/>
          <p:cNvSpPr/>
          <p:nvPr/>
        </p:nvSpPr>
        <p:spPr>
          <a:xfrm>
            <a:off x="1005840" y="1709928"/>
            <a:ext cx="7223760" cy="292608"/>
          </a:xfrm>
          <a:prstGeom prst="rect">
            <a:avLst/>
          </a:prstGeom>
          <a:noFill/>
          <a:ln/>
        </p:spPr>
        <p:txBody>
          <a:bodyPr wrap="square" lIns="0" tIns="0" rIns="0" bIns="0" rtlCol="0" anchor="t"/>
          <a:lstStyle/>
          <a:p>
            <a:pPr indent="0" marL="0">
              <a:buNone/>
            </a:pPr>
            <a:r>
              <a:rPr lang="en-US" sz="1350" dirty="0">
                <a:solidFill>
                  <a:srgbClr val="FFFFFF"/>
                </a:solidFill>
                <a:latin typeface="Calibri" pitchFamily="34" charset="0"/>
                <a:ea typeface="Calibri" pitchFamily="34" charset="-122"/>
                <a:cs typeface="Calibri" pitchFamily="34" charset="-120"/>
              </a:rPr>
              <a:t>It creates value for businesses, customers and the environment at once</a:t>
            </a:r>
            <a:endParaRPr lang="en-US" sz="1350" dirty="0"/>
          </a:p>
        </p:txBody>
      </p:sp>
      <p:pic>
        <p:nvPicPr>
          <p:cNvPr id="8" name="Image 3" descr="preencoded.png">    </p:cNvPr>
          <p:cNvPicPr>
            <a:picLocks noChangeAspect="1"/>
          </p:cNvPicPr>
          <p:nvPr/>
        </p:nvPicPr>
        <p:blipFill>
          <a:blip r:embed="rId4"/>
          <a:stretch>
            <a:fillRect/>
          </a:stretch>
        </p:blipFill>
        <p:spPr>
          <a:xfrm>
            <a:off x="658368" y="2231136"/>
            <a:ext cx="219456" cy="219456"/>
          </a:xfrm>
          <a:prstGeom prst="rect">
            <a:avLst/>
          </a:prstGeom>
        </p:spPr>
      </p:pic>
      <p:sp>
        <p:nvSpPr>
          <p:cNvPr id="9" name="Text 3"/>
          <p:cNvSpPr/>
          <p:nvPr/>
        </p:nvSpPr>
        <p:spPr>
          <a:xfrm>
            <a:off x="1005840" y="2212848"/>
            <a:ext cx="7223760" cy="292608"/>
          </a:xfrm>
          <a:prstGeom prst="rect">
            <a:avLst/>
          </a:prstGeom>
          <a:noFill/>
          <a:ln/>
        </p:spPr>
        <p:txBody>
          <a:bodyPr wrap="square" lIns="0" tIns="0" rIns="0" bIns="0" rtlCol="0" anchor="t"/>
          <a:lstStyle/>
          <a:p>
            <a:pPr indent="0" marL="0">
              <a:buNone/>
            </a:pPr>
            <a:r>
              <a:rPr lang="en-US" sz="1350" dirty="0">
                <a:solidFill>
                  <a:srgbClr val="FFFFFF"/>
                </a:solidFill>
                <a:latin typeface="Calibri" pitchFamily="34" charset="0"/>
                <a:ea typeface="Calibri" pitchFamily="34" charset="-122"/>
                <a:cs typeface="Calibri" pitchFamily="34" charset="-120"/>
              </a:rPr>
              <a:t>Current version: business &amp; package management + secure register / login with roles</a:t>
            </a:r>
            <a:endParaRPr lang="en-US" sz="1350" dirty="0"/>
          </a:p>
        </p:txBody>
      </p:sp>
      <p:pic>
        <p:nvPicPr>
          <p:cNvPr id="10" name="Image 4" descr="preencoded.png">    </p:cNvPr>
          <p:cNvPicPr>
            <a:picLocks noChangeAspect="1"/>
          </p:cNvPicPr>
          <p:nvPr/>
        </p:nvPicPr>
        <p:blipFill>
          <a:blip r:embed="rId5"/>
          <a:stretch>
            <a:fillRect/>
          </a:stretch>
        </p:blipFill>
        <p:spPr>
          <a:xfrm>
            <a:off x="658368" y="2734056"/>
            <a:ext cx="219456" cy="219456"/>
          </a:xfrm>
          <a:prstGeom prst="rect">
            <a:avLst/>
          </a:prstGeom>
        </p:spPr>
      </p:pic>
      <p:sp>
        <p:nvSpPr>
          <p:cNvPr id="11" name="Text 4"/>
          <p:cNvSpPr/>
          <p:nvPr/>
        </p:nvSpPr>
        <p:spPr>
          <a:xfrm>
            <a:off x="1005840" y="2715768"/>
            <a:ext cx="7223760" cy="292608"/>
          </a:xfrm>
          <a:prstGeom prst="rect">
            <a:avLst/>
          </a:prstGeom>
          <a:noFill/>
          <a:ln/>
        </p:spPr>
        <p:txBody>
          <a:bodyPr wrap="square" lIns="0" tIns="0" rIns="0" bIns="0" rtlCol="0" anchor="t"/>
          <a:lstStyle/>
          <a:p>
            <a:pPr indent="0" marL="0">
              <a:buNone/>
            </a:pPr>
            <a:r>
              <a:rPr lang="en-US" sz="1350" dirty="0">
                <a:solidFill>
                  <a:srgbClr val="FFFFFF"/>
                </a:solidFill>
                <a:latin typeface="Calibri" pitchFamily="34" charset="0"/>
                <a:ea typeface="Calibri" pitchFamily="34" charset="-122"/>
                <a:cs typeface="Calibri" pitchFamily="34" charset="-120"/>
              </a:rPr>
              <a:t>Blazor, ASP.NET Core, Identity, EF Core and SQL Server form a strong base</a:t>
            </a:r>
            <a:endParaRPr lang="en-US" sz="1350" dirty="0"/>
          </a:p>
        </p:txBody>
      </p:sp>
      <p:sp>
        <p:nvSpPr>
          <p:cNvPr id="12" name="Shape 5"/>
          <p:cNvSpPr/>
          <p:nvPr/>
        </p:nvSpPr>
        <p:spPr>
          <a:xfrm>
            <a:off x="640080" y="3401568"/>
            <a:ext cx="7863840" cy="713232"/>
          </a:xfrm>
          <a:prstGeom prst="roundRect">
            <a:avLst>
              <a:gd name="adj" fmla="val 12821"/>
            </a:avLst>
          </a:prstGeom>
          <a:solidFill>
            <a:srgbClr val="224D3B"/>
          </a:solidFill>
          <a:ln/>
        </p:spPr>
      </p:sp>
      <p:sp>
        <p:nvSpPr>
          <p:cNvPr id="13" name="Text 6"/>
          <p:cNvSpPr/>
          <p:nvPr/>
        </p:nvSpPr>
        <p:spPr>
          <a:xfrm>
            <a:off x="868680" y="3401568"/>
            <a:ext cx="7406640" cy="713232"/>
          </a:xfrm>
          <a:prstGeom prst="rect">
            <a:avLst/>
          </a:prstGeom>
          <a:noFill/>
          <a:ln/>
        </p:spPr>
        <p:txBody>
          <a:bodyPr wrap="square" lIns="0" tIns="0" rIns="0" bIns="0" rtlCol="0" anchor="ctr"/>
          <a:lstStyle/>
          <a:p>
            <a:pPr indent="0" marL="0">
              <a:buNone/>
            </a:pPr>
            <a:r>
              <a:rPr lang="en-US" sz="1500" b="1" i="1" dirty="0">
                <a:solidFill>
                  <a:srgbClr val="A7E8C4"/>
                </a:solidFill>
                <a:latin typeface="Calibri" pitchFamily="34" charset="0"/>
                <a:ea typeface="Calibri" pitchFamily="34" charset="-122"/>
                <a:cs typeface="Calibri" pitchFamily="34" charset="-120"/>
              </a:rPr>
              <a:t>“EcoMeal transforms end-of-day surplus into an opportunity rather than waste.”</a:t>
            </a:r>
            <a:endParaRPr lang="en-US" sz="1500" dirty="0"/>
          </a:p>
        </p:txBody>
      </p:sp>
      <p:sp>
        <p:nvSpPr>
          <p:cNvPr id="14" name="Text 7"/>
          <p:cNvSpPr/>
          <p:nvPr/>
        </p:nvSpPr>
        <p:spPr>
          <a:xfrm>
            <a:off x="640080" y="4343400"/>
            <a:ext cx="3108960" cy="41148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Thank you!</a:t>
            </a:r>
            <a:endParaRPr lang="en-US" sz="2200" dirty="0"/>
          </a:p>
        </p:txBody>
      </p:sp>
      <p:sp>
        <p:nvSpPr>
          <p:cNvPr id="15" name="Text 8"/>
          <p:cNvSpPr/>
          <p:nvPr/>
        </p:nvSpPr>
        <p:spPr>
          <a:xfrm>
            <a:off x="640080" y="4718304"/>
            <a:ext cx="3108960" cy="256032"/>
          </a:xfrm>
          <a:prstGeom prst="rect">
            <a:avLst/>
          </a:prstGeom>
          <a:noFill/>
          <a:ln/>
        </p:spPr>
        <p:txBody>
          <a:bodyPr wrap="square" lIns="0" tIns="0" rIns="0" bIns="0" rtlCol="0" anchor="ctr"/>
          <a:lstStyle/>
          <a:p>
            <a:pPr indent="0" marL="0">
              <a:buNone/>
            </a:pPr>
            <a:r>
              <a:rPr lang="en-US" sz="1200" dirty="0">
                <a:solidFill>
                  <a:srgbClr val="BFE3CF"/>
                </a:solidFill>
                <a:latin typeface="Calibri" pitchFamily="34" charset="0"/>
                <a:ea typeface="Calibri" pitchFamily="34" charset="-122"/>
                <a:cs typeface="Calibri" pitchFamily="34" charset="-120"/>
              </a:rPr>
              <a:t>Questions?</a:t>
            </a:r>
            <a:endParaRPr lang="en-US" sz="1200" dirty="0"/>
          </a:p>
        </p:txBody>
      </p:sp>
      <p:sp>
        <p:nvSpPr>
          <p:cNvPr id="16" name="Text 9"/>
          <p:cNvSpPr/>
          <p:nvPr/>
        </p:nvSpPr>
        <p:spPr>
          <a:xfrm>
            <a:off x="5577840" y="4663440"/>
            <a:ext cx="2926080" cy="274320"/>
          </a:xfrm>
          <a:prstGeom prst="rect">
            <a:avLst/>
          </a:prstGeom>
          <a:noFill/>
          <a:ln/>
        </p:spPr>
        <p:txBody>
          <a:bodyPr wrap="square" lIns="0" tIns="0" rIns="0" bIns="0" rtlCol="0" anchor="ctr"/>
          <a:lstStyle/>
          <a:p>
            <a:pPr algn="r" indent="0" marL="0">
              <a:buNone/>
            </a:pPr>
            <a:r>
              <a:rPr lang="en-US" sz="1100" dirty="0">
                <a:solidFill>
                  <a:srgbClr val="BFE3CF"/>
                </a:solidFill>
                <a:latin typeface="Calibri" pitchFamily="34" charset="0"/>
                <a:ea typeface="Calibri" pitchFamily="34" charset="-122"/>
                <a:cs typeface="Calibri" pitchFamily="34" charset="-120"/>
              </a:rPr>
              <a:t>github.com/lucajianu/EcoMeal</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EcoMeal — Reducing Food Waste Through a Digital Surplus-Food Marketplace</dc:title>
  <dc:subject>PptxGenJS Presentation</dc:subject>
  <dc:creator>EcoMeal Team</dc:creator>
  <cp:lastModifiedBy>EcoMeal Team</cp:lastModifiedBy>
  <cp:revision>1</cp:revision>
  <dcterms:created xsi:type="dcterms:W3CDTF">2026-07-13T04:55:03Z</dcterms:created>
  <dcterms:modified xsi:type="dcterms:W3CDTF">2026-07-13T04:55:03Z</dcterms:modified>
</cp:coreProperties>
</file>